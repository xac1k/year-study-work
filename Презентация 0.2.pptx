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56" r:id="rId2"/>
    <p:sldId id="259" r:id="rId3"/>
    <p:sldId id="262" r:id="rId4"/>
    <p:sldId id="291" r:id="rId5"/>
    <p:sldId id="293" r:id="rId6"/>
    <p:sldId id="371" r:id="rId7"/>
    <p:sldId id="277" r:id="rId8"/>
    <p:sldId id="361" r:id="rId9"/>
    <p:sldId id="372" r:id="rId10"/>
    <p:sldId id="364" r:id="rId11"/>
    <p:sldId id="362" r:id="rId12"/>
    <p:sldId id="365" r:id="rId13"/>
    <p:sldId id="380" r:id="rId14"/>
    <p:sldId id="360" r:id="rId15"/>
    <p:sldId id="373" r:id="rId16"/>
    <p:sldId id="275" r:id="rId17"/>
    <p:sldId id="369" r:id="rId18"/>
    <p:sldId id="368" r:id="rId19"/>
    <p:sldId id="385" r:id="rId20"/>
    <p:sldId id="376" r:id="rId21"/>
    <p:sldId id="378" r:id="rId22"/>
    <p:sldId id="377" r:id="rId23"/>
    <p:sldId id="382" r:id="rId24"/>
    <p:sldId id="366" r:id="rId25"/>
    <p:sldId id="370" r:id="rId26"/>
    <p:sldId id="384" r:id="rId27"/>
    <p:sldId id="383" r:id="rId28"/>
    <p:sldId id="375" r:id="rId29"/>
    <p:sldId id="381" r:id="rId30"/>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46AF3"/>
    <a:srgbClr val="F36324"/>
    <a:srgbClr val="1C777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Средний стиль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Нет стиля, нет сетки">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Стиль из темы 1 - акцент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Стиль из темы 1 - акцент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6554" autoAdjust="0"/>
  </p:normalViewPr>
  <p:slideViewPr>
    <p:cSldViewPr snapToGrid="0">
      <p:cViewPr varScale="1">
        <p:scale>
          <a:sx n="68" d="100"/>
          <a:sy n="68" d="100"/>
        </p:scale>
        <p:origin x="119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3A986FF-C254-4F4D-970E-EBA5E0147EDB}" type="datetimeFigureOut">
              <a:rPr lang="en-US" smtClean="0"/>
              <a:t>6/11/2026</a:t>
            </a:fld>
            <a:endParaRPr lang="en-US"/>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122E3D-766E-4CE8-99C1-DB828FEDFC03}" type="slidenum">
              <a:rPr lang="en-US" smtClean="0"/>
              <a:t>‹#›</a:t>
            </a:fld>
            <a:endParaRPr lang="en-US"/>
          </a:p>
        </p:txBody>
      </p:sp>
    </p:spTree>
    <p:extLst>
      <p:ext uri="{BB962C8B-B14F-4D97-AF65-F5344CB8AC3E}">
        <p14:creationId xmlns:p14="http://schemas.microsoft.com/office/powerpoint/2010/main" val="12051170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Уважаемые участники конференции вашему вниманию представляется доклад </a:t>
            </a:r>
            <a:r>
              <a:rPr lang="en-US" dirty="0"/>
              <a:t>“</a:t>
            </a:r>
            <a:r>
              <a:rPr lang="ru-RU" dirty="0"/>
              <a:t>Планирование траекторий полётов БПЛА в пространстве с ограничениями</a:t>
            </a:r>
            <a:r>
              <a:rPr lang="en-US" dirty="0"/>
              <a:t>”</a:t>
            </a:r>
            <a:r>
              <a:rPr lang="ru-RU" dirty="0"/>
              <a:t> студента 2 курса института</a:t>
            </a:r>
            <a:r>
              <a:rPr lang="en-US" dirty="0"/>
              <a:t> </a:t>
            </a:r>
            <a:r>
              <a:rPr lang="en-US" dirty="0" err="1"/>
              <a:t>iSpring</a:t>
            </a:r>
            <a:r>
              <a:rPr lang="en-US" dirty="0"/>
              <a:t> </a:t>
            </a:r>
            <a:r>
              <a:rPr lang="ru-RU" dirty="0"/>
              <a:t>Жукова Максима Игоревича</a:t>
            </a:r>
            <a:endParaRPr lang="en-US" dirty="0"/>
          </a:p>
        </p:txBody>
      </p:sp>
      <p:sp>
        <p:nvSpPr>
          <p:cNvPr id="4" name="Номер слайда 3"/>
          <p:cNvSpPr>
            <a:spLocks noGrp="1"/>
          </p:cNvSpPr>
          <p:nvPr>
            <p:ph type="sldNum" sz="quarter" idx="5"/>
          </p:nvPr>
        </p:nvSpPr>
        <p:spPr/>
        <p:txBody>
          <a:bodyPr/>
          <a:lstStyle/>
          <a:p>
            <a:fld id="{63122E3D-766E-4CE8-99C1-DB828FEDFC03}" type="slidenum">
              <a:rPr lang="en-US" smtClean="0"/>
              <a:t>1</a:t>
            </a:fld>
            <a:endParaRPr lang="en-US"/>
          </a:p>
        </p:txBody>
      </p:sp>
    </p:spTree>
    <p:extLst>
      <p:ext uri="{BB962C8B-B14F-4D97-AF65-F5344CB8AC3E}">
        <p14:creationId xmlns:p14="http://schemas.microsoft.com/office/powerpoint/2010/main" val="619932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200" kern="1200" dirty="0">
                <a:solidFill>
                  <a:schemeClr val="tx1"/>
                </a:solidFill>
                <a:effectLst/>
                <a:latin typeface="+mn-lt"/>
                <a:ea typeface="+mn-ea"/>
                <a:cs typeface="+mn-cs"/>
              </a:rPr>
              <a:t>В тактической авиации ставятся задачи, в которых группе дронов необходимо одновременно прибыть в назначенный район для выполнения совместной задачи. </a:t>
            </a: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ru-RU" sz="1200" kern="1200" dirty="0">
                <a:solidFill>
                  <a:schemeClr val="tx1"/>
                </a:solidFill>
                <a:effectLst/>
                <a:latin typeface="+mn-lt"/>
                <a:ea typeface="+mn-ea"/>
                <a:cs typeface="+mn-cs"/>
              </a:rPr>
              <a:t>Маршруты дронов должны минимизировать видимость для радаров, столкновения, расход топлива и обеспечивать управляемость за счёт плавности траекторий, а также избегать ПВО.</a:t>
            </a:r>
            <a:r>
              <a:rPr lang="en-US" sz="1200" kern="1200" dirty="0">
                <a:solidFill>
                  <a:schemeClr val="tx1"/>
                </a:solidFill>
                <a:effectLst/>
                <a:latin typeface="+mn-lt"/>
                <a:ea typeface="+mn-ea"/>
                <a:cs typeface="+mn-cs"/>
              </a:rPr>
              <a:t> </a:t>
            </a:r>
          </a:p>
        </p:txBody>
      </p:sp>
      <p:sp>
        <p:nvSpPr>
          <p:cNvPr id="4" name="Номер слайда 3"/>
          <p:cNvSpPr>
            <a:spLocks noGrp="1"/>
          </p:cNvSpPr>
          <p:nvPr>
            <p:ph type="sldNum" sz="quarter" idx="5"/>
          </p:nvPr>
        </p:nvSpPr>
        <p:spPr/>
        <p:txBody>
          <a:bodyPr/>
          <a:lstStyle/>
          <a:p>
            <a:fld id="{63122E3D-766E-4CE8-99C1-DB828FEDFC03}" type="slidenum">
              <a:rPr lang="en-US" smtClean="0"/>
              <a:t>2</a:t>
            </a:fld>
            <a:endParaRPr lang="en-US"/>
          </a:p>
        </p:txBody>
      </p:sp>
    </p:spTree>
    <p:extLst>
      <p:ext uri="{BB962C8B-B14F-4D97-AF65-F5344CB8AC3E}">
        <p14:creationId xmlns:p14="http://schemas.microsoft.com/office/powerpoint/2010/main" val="28264869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dirty="0"/>
              <a:t>1. </a:t>
            </a:r>
            <a:r>
              <a:rPr lang="ru-RU" sz="1200" dirty="0"/>
              <a:t>Выполнению миссии могут помешать ПВО и радары</a:t>
            </a:r>
            <a:r>
              <a:rPr lang="en-US" sz="1200" dirty="0"/>
              <a:t>.</a:t>
            </a:r>
            <a:endParaRPr lang="ru-RU" sz="1200" dirty="0"/>
          </a:p>
          <a:p>
            <a:r>
              <a:rPr lang="ru-RU" dirty="0"/>
              <a:t>2. У дронов есть ограничения на скорость и максимальным углом подъёма и поворота</a:t>
            </a:r>
            <a:r>
              <a:rPr lang="en-US" dirty="0"/>
              <a:t> </a:t>
            </a:r>
            <a:r>
              <a:rPr lang="ru-RU" dirty="0"/>
              <a:t>в силу конструкционных особенностей</a:t>
            </a:r>
          </a:p>
          <a:p>
            <a:r>
              <a:rPr lang="en-US" dirty="0"/>
              <a:t>3</a:t>
            </a:r>
            <a:r>
              <a:rPr lang="ru-RU" dirty="0"/>
              <a:t>. Суммарная длина всех сегментов не должна быть больше некоторого числа.</a:t>
            </a:r>
          </a:p>
          <a:p>
            <a:r>
              <a:rPr lang="en-US" dirty="0"/>
              <a:t>4</a:t>
            </a:r>
            <a:r>
              <a:rPr lang="ru-RU" dirty="0"/>
              <a:t>. Цель – минимизировать длину пути, резкость смены высоты, гладкость и угрозы от ПВО и радаров.</a:t>
            </a:r>
            <a:endParaRPr lang="en-US" dirty="0"/>
          </a:p>
          <a:p>
            <a:endParaRPr lang="en-US" dirty="0"/>
          </a:p>
        </p:txBody>
      </p:sp>
      <p:sp>
        <p:nvSpPr>
          <p:cNvPr id="4" name="Номер слайда 3"/>
          <p:cNvSpPr>
            <a:spLocks noGrp="1"/>
          </p:cNvSpPr>
          <p:nvPr>
            <p:ph type="sldNum" sz="quarter" idx="5"/>
          </p:nvPr>
        </p:nvSpPr>
        <p:spPr/>
        <p:txBody>
          <a:bodyPr/>
          <a:lstStyle/>
          <a:p>
            <a:fld id="{63122E3D-766E-4CE8-99C1-DB828FEDFC03}" type="slidenum">
              <a:rPr lang="en-US" smtClean="0"/>
              <a:t>3</a:t>
            </a:fld>
            <a:endParaRPr lang="en-US"/>
          </a:p>
        </p:txBody>
      </p:sp>
    </p:spTree>
    <p:extLst>
      <p:ext uri="{BB962C8B-B14F-4D97-AF65-F5344CB8AC3E}">
        <p14:creationId xmlns:p14="http://schemas.microsoft.com/office/powerpoint/2010/main" val="20961643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Моей целью стало написание программного модуля реализующего работу алгоритма находящего оптимальную траекторию движения в кластере БПЛА с учётом наличия ограничений.</a:t>
            </a:r>
          </a:p>
        </p:txBody>
      </p:sp>
      <p:sp>
        <p:nvSpPr>
          <p:cNvPr id="4" name="Номер слайда 3"/>
          <p:cNvSpPr>
            <a:spLocks noGrp="1"/>
          </p:cNvSpPr>
          <p:nvPr>
            <p:ph type="sldNum" sz="quarter" idx="5"/>
          </p:nvPr>
        </p:nvSpPr>
        <p:spPr/>
        <p:txBody>
          <a:bodyPr/>
          <a:lstStyle/>
          <a:p>
            <a:fld id="{63122E3D-766E-4CE8-99C1-DB828FEDFC03}" type="slidenum">
              <a:rPr lang="en-US" smtClean="0"/>
              <a:t>4</a:t>
            </a:fld>
            <a:endParaRPr lang="en-US"/>
          </a:p>
        </p:txBody>
      </p:sp>
    </p:spTree>
    <p:extLst>
      <p:ext uri="{BB962C8B-B14F-4D97-AF65-F5344CB8AC3E}">
        <p14:creationId xmlns:p14="http://schemas.microsoft.com/office/powerpoint/2010/main" val="23124432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Для выполнения поставленной цели, я выделили следующие задачи</a:t>
            </a:r>
            <a:r>
              <a:rPr lang="en-US" dirty="0"/>
              <a:t>:</a:t>
            </a:r>
          </a:p>
          <a:p>
            <a:pPr marL="228600" indent="-228600">
              <a:buAutoNum type="arabicPeriod"/>
            </a:pPr>
            <a:r>
              <a:rPr lang="ru-RU" dirty="0"/>
              <a:t>Анализ существующих алгоритмов.</a:t>
            </a:r>
          </a:p>
          <a:p>
            <a:pPr marL="228600" indent="-228600">
              <a:buAutoNum type="arabicPeriod"/>
            </a:pPr>
            <a:r>
              <a:rPr lang="ru-RU" dirty="0"/>
              <a:t>Оценка сложности выбранного и обоснование его применимости.</a:t>
            </a:r>
          </a:p>
          <a:p>
            <a:pPr marL="228600" indent="-228600">
              <a:buAutoNum type="arabicPeriod"/>
            </a:pPr>
            <a:r>
              <a:rPr lang="ru-RU" dirty="0"/>
              <a:t>Разработка программы.</a:t>
            </a:r>
          </a:p>
          <a:p>
            <a:pPr marL="228600" indent="-228600">
              <a:buAutoNum type="arabicPeriod"/>
            </a:pPr>
            <a:r>
              <a:rPr lang="ru-RU" dirty="0"/>
              <a:t>Тестирование программного модуля на реальных данных.</a:t>
            </a:r>
            <a:endParaRPr lang="en-US" dirty="0"/>
          </a:p>
        </p:txBody>
      </p:sp>
      <p:sp>
        <p:nvSpPr>
          <p:cNvPr id="4" name="Номер слайда 3"/>
          <p:cNvSpPr>
            <a:spLocks noGrp="1"/>
          </p:cNvSpPr>
          <p:nvPr>
            <p:ph type="sldNum" sz="quarter" idx="5"/>
          </p:nvPr>
        </p:nvSpPr>
        <p:spPr/>
        <p:txBody>
          <a:bodyPr/>
          <a:lstStyle/>
          <a:p>
            <a:fld id="{63122E3D-766E-4CE8-99C1-DB828FEDFC03}" type="slidenum">
              <a:rPr lang="en-US" smtClean="0"/>
              <a:t>5</a:t>
            </a:fld>
            <a:endParaRPr lang="en-US"/>
          </a:p>
        </p:txBody>
      </p:sp>
    </p:spTree>
    <p:extLst>
      <p:ext uri="{BB962C8B-B14F-4D97-AF65-F5344CB8AC3E}">
        <p14:creationId xmlns:p14="http://schemas.microsoft.com/office/powerpoint/2010/main" val="8820217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Задача планирования траектории с ограничениями является </a:t>
            </a:r>
            <a:r>
              <a:rPr lang="en-US" dirty="0"/>
              <a:t>NP –</a:t>
            </a:r>
            <a:r>
              <a:rPr lang="ru-RU" dirty="0"/>
              <a:t> трудной задачей, точным подходом она будет решаться дольше чем жизнь вселенной.</a:t>
            </a:r>
            <a:endParaRPr lang="en-US" dirty="0"/>
          </a:p>
        </p:txBody>
      </p:sp>
      <p:sp>
        <p:nvSpPr>
          <p:cNvPr id="4" name="Номер слайда 3"/>
          <p:cNvSpPr>
            <a:spLocks noGrp="1"/>
          </p:cNvSpPr>
          <p:nvPr>
            <p:ph type="sldNum" sz="quarter" idx="5"/>
          </p:nvPr>
        </p:nvSpPr>
        <p:spPr/>
        <p:txBody>
          <a:bodyPr/>
          <a:lstStyle/>
          <a:p>
            <a:fld id="{63122E3D-766E-4CE8-99C1-DB828FEDFC03}" type="slidenum">
              <a:rPr lang="en-US" smtClean="0"/>
              <a:t>6</a:t>
            </a:fld>
            <a:endParaRPr lang="en-US"/>
          </a:p>
        </p:txBody>
      </p:sp>
    </p:spTree>
    <p:extLst>
      <p:ext uri="{BB962C8B-B14F-4D97-AF65-F5344CB8AC3E}">
        <p14:creationId xmlns:p14="http://schemas.microsoft.com/office/powerpoint/2010/main" val="2856455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В нашей мат модели мы будем представлять траекторию как последовательность точек, которые должен посетить дрон. Начальные и конечные точки задаются пользователем.</a:t>
            </a:r>
            <a:r>
              <a:rPr lang="en-US" dirty="0"/>
              <a:t> </a:t>
            </a:r>
            <a:r>
              <a:rPr lang="ru-RU" dirty="0"/>
              <a:t>Нам лишь нужно определить правильный набор промежуточных точек.</a:t>
            </a:r>
            <a:endParaRPr lang="en-US" dirty="0"/>
          </a:p>
        </p:txBody>
      </p:sp>
      <p:sp>
        <p:nvSpPr>
          <p:cNvPr id="4" name="Номер слайда 3"/>
          <p:cNvSpPr>
            <a:spLocks noGrp="1"/>
          </p:cNvSpPr>
          <p:nvPr>
            <p:ph type="sldNum" sz="quarter" idx="5"/>
          </p:nvPr>
        </p:nvSpPr>
        <p:spPr/>
        <p:txBody>
          <a:bodyPr/>
          <a:lstStyle/>
          <a:p>
            <a:fld id="{63122E3D-766E-4CE8-99C1-DB828FEDFC03}" type="slidenum">
              <a:rPr lang="en-US" smtClean="0"/>
              <a:t>7</a:t>
            </a:fld>
            <a:endParaRPr lang="en-US"/>
          </a:p>
        </p:txBody>
      </p:sp>
    </p:spTree>
    <p:extLst>
      <p:ext uri="{BB962C8B-B14F-4D97-AF65-F5344CB8AC3E}">
        <p14:creationId xmlns:p14="http://schemas.microsoft.com/office/powerpoint/2010/main" val="6866039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200" kern="1200" dirty="0">
                    <a:solidFill>
                      <a:schemeClr val="tx1"/>
                    </a:solidFill>
                    <a:effectLst/>
                    <a:latin typeface="+mn-lt"/>
                    <a:ea typeface="+mn-ea"/>
                    <a:cs typeface="+mn-cs"/>
                  </a:rPr>
                  <a:t>Функция ограничений учитывает предельные углы подъёма </a:t>
                </a:r>
                <a14:m>
                  <m:oMath xmlns:m="http://schemas.openxmlformats.org/officeDocument/2006/math">
                    <m:sSub>
                      <m:sSubPr>
                        <m:ctrlPr>
                          <a:rPr lang="en-US" sz="1200" i="1" kern="1200">
                            <a:solidFill>
                              <a:schemeClr val="tx1"/>
                            </a:solidFill>
                            <a:effectLst/>
                            <a:latin typeface="Cambria Math" panose="02040503050406030204" pitchFamily="18" charset="0"/>
                            <a:ea typeface="+mn-ea"/>
                            <a:cs typeface="+mn-cs"/>
                          </a:rPr>
                        </m:ctrlPr>
                      </m:sSubPr>
                      <m:e>
                        <m:r>
                          <a:rPr lang="ru-RU" sz="1200" i="1" kern="1200">
                            <a:solidFill>
                              <a:schemeClr val="tx1"/>
                            </a:solidFill>
                            <a:effectLst/>
                            <a:latin typeface="Cambria Math" panose="02040503050406030204" pitchFamily="18" charset="0"/>
                            <a:ea typeface="+mn-ea"/>
                            <a:cs typeface="+mn-cs"/>
                          </a:rPr>
                          <m:t>𝜑</m:t>
                        </m:r>
                      </m:e>
                      <m:sub>
                        <m:r>
                          <a:rPr lang="ru-RU" sz="1200" i="1" kern="1200">
                            <a:solidFill>
                              <a:schemeClr val="tx1"/>
                            </a:solidFill>
                            <a:effectLst/>
                            <a:latin typeface="Cambria Math" panose="02040503050406030204" pitchFamily="18" charset="0"/>
                            <a:ea typeface="+mn-ea"/>
                            <a:cs typeface="+mn-cs"/>
                          </a:rPr>
                          <m:t>𝑚𝑎𝑥</m:t>
                        </m:r>
                      </m:sub>
                    </m:sSub>
                  </m:oMath>
                </a14:m>
                <a:r>
                  <a:rPr lang="ru-RU" sz="1200" kern="1200" dirty="0">
                    <a:solidFill>
                      <a:schemeClr val="tx1"/>
                    </a:solidFill>
                    <a:effectLst/>
                    <a:latin typeface="+mn-lt"/>
                    <a:ea typeface="+mn-ea"/>
                    <a:cs typeface="+mn-cs"/>
                  </a:rPr>
                  <a:t> и поворота </a:t>
                </a:r>
                <a14:m>
                  <m:oMath xmlns:m="http://schemas.openxmlformats.org/officeDocument/2006/math">
                    <m:sSub>
                      <m:sSubPr>
                        <m:ctrlPr>
                          <a:rPr lang="en-US" sz="1200" i="1" kern="1200">
                            <a:solidFill>
                              <a:schemeClr val="tx1"/>
                            </a:solidFill>
                            <a:effectLst/>
                            <a:latin typeface="Cambria Math" panose="02040503050406030204" pitchFamily="18" charset="0"/>
                            <a:ea typeface="+mn-ea"/>
                            <a:cs typeface="+mn-cs"/>
                          </a:rPr>
                        </m:ctrlPr>
                      </m:sSubPr>
                      <m:e>
                        <m:r>
                          <a:rPr lang="ru-RU" sz="1200" i="1" kern="1200">
                            <a:solidFill>
                              <a:schemeClr val="tx1"/>
                            </a:solidFill>
                            <a:effectLst/>
                            <a:latin typeface="Cambria Math" panose="02040503050406030204" pitchFamily="18" charset="0"/>
                            <a:ea typeface="+mn-ea"/>
                            <a:cs typeface="+mn-cs"/>
                          </a:rPr>
                          <m:t>𝜃</m:t>
                        </m:r>
                      </m:e>
                      <m:sub>
                        <m:r>
                          <a:rPr lang="ru-RU" sz="1200" i="1" kern="1200">
                            <a:solidFill>
                              <a:schemeClr val="tx1"/>
                            </a:solidFill>
                            <a:effectLst/>
                            <a:latin typeface="Cambria Math" panose="02040503050406030204" pitchFamily="18" charset="0"/>
                            <a:ea typeface="+mn-ea"/>
                            <a:cs typeface="+mn-cs"/>
                          </a:rPr>
                          <m:t>𝑚𝑎𝑥</m:t>
                        </m:r>
                      </m:sub>
                    </m:sSub>
                  </m:oMath>
                </a14:m>
                <a:r>
                  <a:rPr lang="ru-RU" dirty="0"/>
                  <a:t> Дрон не может</a:t>
                </a:r>
                <a:r>
                  <a:rPr lang="ru-RU" baseline="0" dirty="0"/>
                  <a:t> резко повернуться на 90 градусов. Это приведёт к потери управление и крушению. Это жесткое ограничения угла подъема и поворота.</a:t>
                </a:r>
                <a:endParaRPr lang="en-US" dirty="0"/>
              </a:p>
            </p:txBody>
          </p:sp>
        </mc:Choice>
        <mc:Fallback xmlns="">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200" kern="1200" dirty="0">
                    <a:solidFill>
                      <a:schemeClr val="tx1"/>
                    </a:solidFill>
                    <a:effectLst/>
                    <a:latin typeface="+mn-lt"/>
                    <a:ea typeface="+mn-ea"/>
                    <a:cs typeface="+mn-cs"/>
                  </a:rPr>
                  <a:t>Функция ограничений учитывает предельные углы подъёма </a:t>
                </a:r>
                <a:r>
                  <a:rPr lang="ru-RU" sz="1200" i="0" kern="1200">
                    <a:solidFill>
                      <a:schemeClr val="tx1"/>
                    </a:solidFill>
                    <a:effectLst/>
                    <a:latin typeface="+mn-lt"/>
                    <a:ea typeface="+mn-ea"/>
                    <a:cs typeface="+mn-cs"/>
                  </a:rPr>
                  <a:t>𝜑</a:t>
                </a:r>
                <a:r>
                  <a:rPr lang="en-US" sz="1200" i="0" kern="1200">
                    <a:solidFill>
                      <a:schemeClr val="tx1"/>
                    </a:solidFill>
                    <a:effectLst/>
                    <a:latin typeface="+mn-lt"/>
                    <a:ea typeface="+mn-ea"/>
                    <a:cs typeface="+mn-cs"/>
                  </a:rPr>
                  <a:t>_</a:t>
                </a:r>
                <a:r>
                  <a:rPr lang="ru-RU" sz="1200" i="0" kern="1200">
                    <a:solidFill>
                      <a:schemeClr val="tx1"/>
                    </a:solidFill>
                    <a:effectLst/>
                    <a:latin typeface="+mn-lt"/>
                    <a:ea typeface="+mn-ea"/>
                    <a:cs typeface="+mn-cs"/>
                  </a:rPr>
                  <a:t>𝑚𝑎𝑥</a:t>
                </a:r>
                <a:r>
                  <a:rPr lang="ru-RU" sz="1200" kern="1200" dirty="0">
                    <a:solidFill>
                      <a:schemeClr val="tx1"/>
                    </a:solidFill>
                    <a:effectLst/>
                    <a:latin typeface="+mn-lt"/>
                    <a:ea typeface="+mn-ea"/>
                    <a:cs typeface="+mn-cs"/>
                  </a:rPr>
                  <a:t> и поворота </a:t>
                </a:r>
                <a:r>
                  <a:rPr lang="ru-RU" sz="1200" i="0" kern="1200">
                    <a:solidFill>
                      <a:schemeClr val="tx1"/>
                    </a:solidFill>
                    <a:effectLst/>
                    <a:latin typeface="+mn-lt"/>
                    <a:ea typeface="+mn-ea"/>
                    <a:cs typeface="+mn-cs"/>
                  </a:rPr>
                  <a:t>𝜃</a:t>
                </a:r>
                <a:r>
                  <a:rPr lang="en-US" sz="1200" i="0" kern="1200">
                    <a:solidFill>
                      <a:schemeClr val="tx1"/>
                    </a:solidFill>
                    <a:effectLst/>
                    <a:latin typeface="+mn-lt"/>
                    <a:ea typeface="+mn-ea"/>
                    <a:cs typeface="+mn-cs"/>
                  </a:rPr>
                  <a:t>_</a:t>
                </a:r>
                <a:r>
                  <a:rPr lang="ru-RU" sz="1200" i="0" kern="1200">
                    <a:solidFill>
                      <a:schemeClr val="tx1"/>
                    </a:solidFill>
                    <a:effectLst/>
                    <a:latin typeface="+mn-lt"/>
                    <a:ea typeface="+mn-ea"/>
                    <a:cs typeface="+mn-cs"/>
                  </a:rPr>
                  <a:t>𝑚𝑎𝑥</a:t>
                </a:r>
                <a:r>
                  <a:rPr lang="ru-RU" dirty="0"/>
                  <a:t> Дрон не может</a:t>
                </a:r>
                <a:r>
                  <a:rPr lang="ru-RU" baseline="0" dirty="0"/>
                  <a:t> резко повернуться на 90 градусов. Это приведёт к потери управление и крушению. Это жесткое ограничения угла подъема и поворота.</a:t>
                </a:r>
                <a:endParaRPr lang="en-US" dirty="0"/>
              </a:p>
            </p:txBody>
          </p:sp>
        </mc:Fallback>
      </mc:AlternateContent>
      <p:sp>
        <p:nvSpPr>
          <p:cNvPr id="4" name="Номер слайда 3"/>
          <p:cNvSpPr>
            <a:spLocks noGrp="1"/>
          </p:cNvSpPr>
          <p:nvPr>
            <p:ph type="sldNum" sz="quarter" idx="5"/>
          </p:nvPr>
        </p:nvSpPr>
        <p:spPr/>
        <p:txBody>
          <a:bodyPr/>
          <a:lstStyle/>
          <a:p>
            <a:fld id="{63122E3D-766E-4CE8-99C1-DB828FEDFC03}" type="slidenum">
              <a:rPr lang="en-US" smtClean="0"/>
              <a:t>8</a:t>
            </a:fld>
            <a:endParaRPr lang="en-US"/>
          </a:p>
        </p:txBody>
      </p:sp>
    </p:spTree>
    <p:extLst>
      <p:ext uri="{BB962C8B-B14F-4D97-AF65-F5344CB8AC3E}">
        <p14:creationId xmlns:p14="http://schemas.microsoft.com/office/powerpoint/2010/main" val="7467195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kern="1200" dirty="0">
                <a:solidFill>
                  <a:schemeClr val="tx1"/>
                </a:solidFill>
                <a:effectLst/>
                <a:latin typeface="+mn-lt"/>
                <a:ea typeface="+mn-ea"/>
                <a:cs typeface="+mn-cs"/>
              </a:rPr>
              <a:t>Чтобы избежать случайного столкновения с горами или ландшафтом, БПЛА в полете должен многократно выполнять манёвры подъёма и снижения, однако для БПЛА выполнение многократных взлётов и спусков является более сложной задачей, чем обычный полёт поэтому мы будем учитывать дисперсию высоты путевых точек.</a:t>
            </a:r>
            <a:endParaRPr lang="en-US" dirty="0"/>
          </a:p>
        </p:txBody>
      </p:sp>
      <p:sp>
        <p:nvSpPr>
          <p:cNvPr id="4" name="Номер слайда 3"/>
          <p:cNvSpPr>
            <a:spLocks noGrp="1"/>
          </p:cNvSpPr>
          <p:nvPr>
            <p:ph type="sldNum" sz="quarter" idx="5"/>
          </p:nvPr>
        </p:nvSpPr>
        <p:spPr/>
        <p:txBody>
          <a:bodyPr/>
          <a:lstStyle/>
          <a:p>
            <a:fld id="{63122E3D-766E-4CE8-99C1-DB828FEDFC03}" type="slidenum">
              <a:rPr lang="en-US" smtClean="0"/>
              <a:t>9</a:t>
            </a:fld>
            <a:endParaRPr lang="en-US"/>
          </a:p>
        </p:txBody>
      </p:sp>
    </p:spTree>
    <p:extLst>
      <p:ext uri="{BB962C8B-B14F-4D97-AF65-F5344CB8AC3E}">
        <p14:creationId xmlns:p14="http://schemas.microsoft.com/office/powerpoint/2010/main" val="20114637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kern="1200" dirty="0">
                <a:solidFill>
                  <a:schemeClr val="tx1"/>
                </a:solidFill>
                <a:effectLst/>
                <a:latin typeface="+mn-lt"/>
                <a:ea typeface="+mn-ea"/>
                <a:cs typeface="+mn-cs"/>
              </a:rPr>
              <a:t>Будем штрафуется резкое изменение угла отклонения от точки к точке для обеспечение гладкости. Таким образом если мы будем двигаться по дуге с постоянным углом отклонения, наш штраф не будет высоким</a:t>
            </a:r>
            <a:r>
              <a:rPr lang="en-US" sz="1200" kern="1200" dirty="0">
                <a:solidFill>
                  <a:schemeClr val="tx1"/>
                </a:solidFill>
                <a:effectLst/>
                <a:latin typeface="+mn-lt"/>
                <a:ea typeface="+mn-ea"/>
                <a:cs typeface="+mn-cs"/>
              </a:rPr>
              <a:t>, </a:t>
            </a:r>
            <a:r>
              <a:rPr lang="ru-RU" sz="1200" kern="1200" dirty="0">
                <a:solidFill>
                  <a:schemeClr val="tx1"/>
                </a:solidFill>
                <a:effectLst/>
                <a:latin typeface="+mn-lt"/>
                <a:ea typeface="+mn-ea"/>
                <a:cs typeface="+mn-cs"/>
              </a:rPr>
              <a:t>однако в случае резких поворотов штраф стремительно возрастает. </a:t>
            </a:r>
            <a:endParaRPr lang="en-US" dirty="0"/>
          </a:p>
        </p:txBody>
      </p:sp>
      <p:sp>
        <p:nvSpPr>
          <p:cNvPr id="4" name="Номер слайда 3"/>
          <p:cNvSpPr>
            <a:spLocks noGrp="1"/>
          </p:cNvSpPr>
          <p:nvPr>
            <p:ph type="sldNum" sz="quarter" idx="5"/>
          </p:nvPr>
        </p:nvSpPr>
        <p:spPr/>
        <p:txBody>
          <a:bodyPr/>
          <a:lstStyle/>
          <a:p>
            <a:fld id="{63122E3D-766E-4CE8-99C1-DB828FEDFC03}" type="slidenum">
              <a:rPr lang="en-US" smtClean="0"/>
              <a:t>10</a:t>
            </a:fld>
            <a:endParaRPr lang="en-US"/>
          </a:p>
        </p:txBody>
      </p:sp>
    </p:spTree>
    <p:extLst>
      <p:ext uri="{BB962C8B-B14F-4D97-AF65-F5344CB8AC3E}">
        <p14:creationId xmlns:p14="http://schemas.microsoft.com/office/powerpoint/2010/main" val="514015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kern="1200" dirty="0">
                <a:solidFill>
                  <a:schemeClr val="tx1"/>
                </a:solidFill>
                <a:effectLst/>
                <a:latin typeface="+mn-lt"/>
                <a:ea typeface="+mn-ea"/>
                <a:cs typeface="+mn-cs"/>
              </a:rPr>
              <a:t>Во время выполнения боевых задач БПЛА часто сталкиваются с внешними угрозами поэтому мы будем считать опасность маршрута как удалённость сегмента траектории от всех зон опасности.</a:t>
            </a:r>
            <a:endParaRPr lang="en-US" dirty="0"/>
          </a:p>
        </p:txBody>
      </p:sp>
      <p:sp>
        <p:nvSpPr>
          <p:cNvPr id="4" name="Номер слайда 3"/>
          <p:cNvSpPr>
            <a:spLocks noGrp="1"/>
          </p:cNvSpPr>
          <p:nvPr>
            <p:ph type="sldNum" sz="quarter" idx="5"/>
          </p:nvPr>
        </p:nvSpPr>
        <p:spPr/>
        <p:txBody>
          <a:bodyPr/>
          <a:lstStyle/>
          <a:p>
            <a:fld id="{63122E3D-766E-4CE8-99C1-DB828FEDFC03}" type="slidenum">
              <a:rPr lang="en-US" smtClean="0"/>
              <a:t>11</a:t>
            </a:fld>
            <a:endParaRPr lang="en-US"/>
          </a:p>
        </p:txBody>
      </p:sp>
    </p:spTree>
    <p:extLst>
      <p:ext uri="{BB962C8B-B14F-4D97-AF65-F5344CB8AC3E}">
        <p14:creationId xmlns:p14="http://schemas.microsoft.com/office/powerpoint/2010/main" val="3329543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Таким образом выглядит функции угроз. Заметим, что она растёт постепенно, то есть маршрут может проходить через зону опасности если до центра зоны расстояние значительное.</a:t>
            </a:r>
            <a:endParaRPr lang="en-US" dirty="0"/>
          </a:p>
        </p:txBody>
      </p:sp>
      <p:sp>
        <p:nvSpPr>
          <p:cNvPr id="4" name="Номер слайда 3"/>
          <p:cNvSpPr>
            <a:spLocks noGrp="1"/>
          </p:cNvSpPr>
          <p:nvPr>
            <p:ph type="sldNum" sz="quarter" idx="5"/>
          </p:nvPr>
        </p:nvSpPr>
        <p:spPr/>
        <p:txBody>
          <a:bodyPr/>
          <a:lstStyle/>
          <a:p>
            <a:fld id="{63122E3D-766E-4CE8-99C1-DB828FEDFC03}" type="slidenum">
              <a:rPr lang="en-US" smtClean="0"/>
              <a:t>12</a:t>
            </a:fld>
            <a:endParaRPr lang="en-US"/>
          </a:p>
        </p:txBody>
      </p:sp>
    </p:spTree>
    <p:extLst>
      <p:ext uri="{BB962C8B-B14F-4D97-AF65-F5344CB8AC3E}">
        <p14:creationId xmlns:p14="http://schemas.microsoft.com/office/powerpoint/2010/main" val="2030341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Так как в постановке мы выделили требование одновременного прибытия всех дронов, мы будем штрафовать решения за выход из диапазона совместного времени прибытия. Так же для кооперирования дронов будем учитывать минимальное безопасное расстояние между ними, для предотвращения столкновений друг с другом.</a:t>
            </a:r>
            <a:endParaRPr lang="en-US" dirty="0"/>
          </a:p>
        </p:txBody>
      </p:sp>
      <p:sp>
        <p:nvSpPr>
          <p:cNvPr id="4" name="Номер слайда 3"/>
          <p:cNvSpPr>
            <a:spLocks noGrp="1"/>
          </p:cNvSpPr>
          <p:nvPr>
            <p:ph type="sldNum" sz="quarter" idx="5"/>
          </p:nvPr>
        </p:nvSpPr>
        <p:spPr/>
        <p:txBody>
          <a:bodyPr/>
          <a:lstStyle/>
          <a:p>
            <a:fld id="{63122E3D-766E-4CE8-99C1-DB828FEDFC03}" type="slidenum">
              <a:rPr lang="en-US" smtClean="0"/>
              <a:t>13</a:t>
            </a:fld>
            <a:endParaRPr lang="en-US"/>
          </a:p>
        </p:txBody>
      </p:sp>
    </p:spTree>
    <p:extLst>
      <p:ext uri="{BB962C8B-B14F-4D97-AF65-F5344CB8AC3E}">
        <p14:creationId xmlns:p14="http://schemas.microsoft.com/office/powerpoint/2010/main" val="3627784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До этого мы говорили с вами о траектории как о ломаной кривой. Но если дрон будет двигаться по ней, его управляемость будет низкой а нагрузки больше, поэтому после получения решения мы будем её сглаживать с помощью </a:t>
            </a:r>
            <a:r>
              <a:rPr lang="en-US" dirty="0"/>
              <a:t>B-spline </a:t>
            </a:r>
            <a:r>
              <a:rPr lang="ru-RU" dirty="0"/>
              <a:t>интерполяции, что повысит управляемость и уменьшить нагрузки.</a:t>
            </a:r>
            <a:endParaRPr lang="en-US" dirty="0"/>
          </a:p>
        </p:txBody>
      </p:sp>
      <p:sp>
        <p:nvSpPr>
          <p:cNvPr id="4" name="Номер слайда 3"/>
          <p:cNvSpPr>
            <a:spLocks noGrp="1"/>
          </p:cNvSpPr>
          <p:nvPr>
            <p:ph type="sldNum" sz="quarter" idx="5"/>
          </p:nvPr>
        </p:nvSpPr>
        <p:spPr/>
        <p:txBody>
          <a:bodyPr/>
          <a:lstStyle/>
          <a:p>
            <a:fld id="{63122E3D-766E-4CE8-99C1-DB828FEDFC03}" type="slidenum">
              <a:rPr lang="en-US" smtClean="0"/>
              <a:t>14</a:t>
            </a:fld>
            <a:endParaRPr lang="en-US"/>
          </a:p>
        </p:txBody>
      </p:sp>
    </p:spTree>
    <p:extLst>
      <p:ext uri="{BB962C8B-B14F-4D97-AF65-F5344CB8AC3E}">
        <p14:creationId xmlns:p14="http://schemas.microsoft.com/office/powerpoint/2010/main" val="15101054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На данном слайде представлены рассмотренные в ходе работ алгоритмы. Это алгоритмы </a:t>
            </a:r>
            <a:r>
              <a:rPr lang="en-US" dirty="0"/>
              <a:t>A star Particle Swarm Optimization </a:t>
            </a:r>
            <a:r>
              <a:rPr lang="ru-RU" dirty="0"/>
              <a:t>и </a:t>
            </a:r>
            <a:r>
              <a:rPr lang="en-US" dirty="0"/>
              <a:t>Golden Jackal Optimization. </a:t>
            </a:r>
            <a:r>
              <a:rPr lang="ru-RU" dirty="0"/>
              <a:t>Мы выбрали </a:t>
            </a:r>
            <a:r>
              <a:rPr lang="en-US" dirty="0"/>
              <a:t>GJO </a:t>
            </a:r>
            <a:r>
              <a:rPr lang="ru-RU" dirty="0"/>
              <a:t>благодаря его быстроте схождения и точности, а так же глобальному поиску.</a:t>
            </a:r>
            <a:endParaRPr lang="en-US" dirty="0"/>
          </a:p>
        </p:txBody>
      </p:sp>
      <p:sp>
        <p:nvSpPr>
          <p:cNvPr id="4" name="Номер слайда 3"/>
          <p:cNvSpPr>
            <a:spLocks noGrp="1"/>
          </p:cNvSpPr>
          <p:nvPr>
            <p:ph type="sldNum" sz="quarter" idx="5"/>
          </p:nvPr>
        </p:nvSpPr>
        <p:spPr/>
        <p:txBody>
          <a:bodyPr/>
          <a:lstStyle/>
          <a:p>
            <a:fld id="{63122E3D-766E-4CE8-99C1-DB828FEDFC03}" type="slidenum">
              <a:rPr lang="en-US" smtClean="0"/>
              <a:t>15</a:t>
            </a:fld>
            <a:endParaRPr lang="en-US"/>
          </a:p>
        </p:txBody>
      </p:sp>
    </p:spTree>
    <p:extLst>
      <p:ext uri="{BB962C8B-B14F-4D97-AF65-F5344CB8AC3E}">
        <p14:creationId xmlns:p14="http://schemas.microsoft.com/office/powerpoint/2010/main" val="31594686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Давайте рассмотрим принцип работы алгоритма в общих чертах. Алгоритм </a:t>
            </a:r>
            <a:r>
              <a:rPr lang="en-US" dirty="0"/>
              <a:t>GJO </a:t>
            </a:r>
            <a:r>
              <a:rPr lang="ru-RU" dirty="0"/>
              <a:t>является мета эвристическим эволюционным алгоритмом вдохновленный парным поведением золотистых шакалов в природе. В этом алгоритме особью будем считать вектор путевых точек траектории. </a:t>
            </a:r>
            <a:endParaRPr lang="en-US" dirty="0"/>
          </a:p>
        </p:txBody>
      </p:sp>
      <p:sp>
        <p:nvSpPr>
          <p:cNvPr id="4" name="Номер слайда 3"/>
          <p:cNvSpPr>
            <a:spLocks noGrp="1"/>
          </p:cNvSpPr>
          <p:nvPr>
            <p:ph type="sldNum" sz="quarter" idx="5"/>
          </p:nvPr>
        </p:nvSpPr>
        <p:spPr/>
        <p:txBody>
          <a:bodyPr/>
          <a:lstStyle/>
          <a:p>
            <a:fld id="{63122E3D-766E-4CE8-99C1-DB828FEDFC03}" type="slidenum">
              <a:rPr lang="en-US" smtClean="0"/>
              <a:t>16</a:t>
            </a:fld>
            <a:endParaRPr lang="en-US"/>
          </a:p>
        </p:txBody>
      </p:sp>
    </p:spTree>
    <p:extLst>
      <p:ext uri="{BB962C8B-B14F-4D97-AF65-F5344CB8AC3E}">
        <p14:creationId xmlns:p14="http://schemas.microsoft.com/office/powerpoint/2010/main" val="41218417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kern="1200" dirty="0">
                <a:solidFill>
                  <a:schemeClr val="tx1"/>
                </a:solidFill>
                <a:effectLst/>
                <a:latin typeface="+mn-lt"/>
                <a:ea typeface="+mn-ea"/>
                <a:cs typeface="+mn-cs"/>
              </a:rPr>
              <a:t>Наивный подход к инициализации популяции часто приводит к субоптимальным результатам, из−за неравномерного покрытия пространства поиска. В отличие от наивного подхода, подход, основанный на хаотичном картографировании, показывает хаотичность, закономерность и эргодичность, что значительно увеличивает разнообразие популяции и улучшает способность к глобальному поиску.</a:t>
            </a:r>
            <a:endParaRPr lang="en-US" dirty="0"/>
          </a:p>
        </p:txBody>
      </p:sp>
      <p:sp>
        <p:nvSpPr>
          <p:cNvPr id="4" name="Номер слайда 3"/>
          <p:cNvSpPr>
            <a:spLocks noGrp="1"/>
          </p:cNvSpPr>
          <p:nvPr>
            <p:ph type="sldNum" sz="quarter" idx="5"/>
          </p:nvPr>
        </p:nvSpPr>
        <p:spPr/>
        <p:txBody>
          <a:bodyPr/>
          <a:lstStyle/>
          <a:p>
            <a:fld id="{63122E3D-766E-4CE8-99C1-DB828FEDFC03}" type="slidenum">
              <a:rPr lang="en-US" smtClean="0"/>
              <a:t>17</a:t>
            </a:fld>
            <a:endParaRPr lang="en-US"/>
          </a:p>
        </p:txBody>
      </p:sp>
    </p:spTree>
    <p:extLst>
      <p:ext uri="{BB962C8B-B14F-4D97-AF65-F5344CB8AC3E}">
        <p14:creationId xmlns:p14="http://schemas.microsoft.com/office/powerpoint/2010/main" val="14301507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200" dirty="0"/>
                  <a:t>Алгоритм поиска</a:t>
                </a:r>
                <a:r>
                  <a:rPr lang="ru-RU" sz="1200" baseline="0" dirty="0"/>
                  <a:t> пути строится на итерационном улучшении решений. Всё начинается с поиска двух наилучших особей, после для каждой особи считается энергия системы, </a:t>
                </a:r>
                <a:r>
                  <a:rPr lang="ru-RU" sz="1200" kern="1200" dirty="0">
                    <a:solidFill>
                      <a:schemeClr val="tx1"/>
                    </a:solidFill>
                    <a:effectLst/>
                    <a:latin typeface="+mn-lt"/>
                    <a:ea typeface="+mn-ea"/>
                    <a:cs typeface="+mn-cs"/>
                  </a:rPr>
                  <a:t>обозначающую, то насколько быстро добыча убегает от шакалов</a:t>
                </a:r>
                <a:r>
                  <a:rPr lang="ru-RU" sz="1200" baseline="0" dirty="0"/>
                  <a:t>. </a:t>
                </a:r>
                <a:r>
                  <a:rPr lang="ru-RU" sz="1200" dirty="0"/>
                  <a:t>При </a:t>
                </a:r>
                <a14:m>
                  <m:oMath xmlns:m="http://schemas.openxmlformats.org/officeDocument/2006/math">
                    <m:d>
                      <m:dPr>
                        <m:begChr m:val="|"/>
                        <m:endChr m:val="|"/>
                        <m:ctrlPr>
                          <a:rPr lang="en-US" sz="1200" i="1">
                            <a:latin typeface="Cambria Math" panose="02040503050406030204" pitchFamily="18" charset="0"/>
                          </a:rPr>
                        </m:ctrlPr>
                      </m:dPr>
                      <m:e>
                        <m:r>
                          <a:rPr lang="ru-RU" sz="1200">
                            <a:latin typeface="Cambria Math" panose="02040503050406030204" pitchFamily="18" charset="0"/>
                          </a:rPr>
                          <m:t>𝐸</m:t>
                        </m:r>
                      </m:e>
                    </m:d>
                    <m:r>
                      <a:rPr lang="ru-RU" sz="1200">
                        <a:latin typeface="Cambria Math" panose="02040503050406030204" pitchFamily="18" charset="0"/>
                      </a:rPr>
                      <m:t>≥1</m:t>
                    </m:r>
                  </m:oMath>
                </a14:m>
                <a:r>
                  <a:rPr lang="ru-RU" sz="1200" dirty="0"/>
                  <a:t> особи разлетаются по всему пространству поиска не концентрируясь вблизи текущего лучшего решения. Это позволяет обнаружить перспективные области, которые далеки от начального положения популяции и избежать преждевременной сходимости к локальному оптимуму. При </a:t>
                </a:r>
                <a14:m>
                  <m:oMath xmlns:m="http://schemas.openxmlformats.org/officeDocument/2006/math">
                    <m:d>
                      <m:dPr>
                        <m:begChr m:val="|"/>
                        <m:endChr m:val="|"/>
                        <m:ctrlPr>
                          <a:rPr lang="en-US" sz="1200" i="1">
                            <a:latin typeface="Cambria Math" panose="02040503050406030204" pitchFamily="18" charset="0"/>
                          </a:rPr>
                        </m:ctrlPr>
                      </m:dPr>
                      <m:e>
                        <m:r>
                          <a:rPr lang="ru-RU" sz="1200">
                            <a:latin typeface="Cambria Math" panose="02040503050406030204" pitchFamily="18" charset="0"/>
                          </a:rPr>
                          <m:t>𝐸</m:t>
                        </m:r>
                      </m:e>
                    </m:d>
                    <m:r>
                      <a:rPr lang="en-US" sz="1200" b="0" i="0" smtClean="0">
                        <a:latin typeface="Cambria Math" panose="02040503050406030204" pitchFamily="18" charset="0"/>
                      </a:rPr>
                      <m:t>&lt;</m:t>
                    </m:r>
                    <m:r>
                      <a:rPr lang="ru-RU" sz="1200">
                        <a:latin typeface="Cambria Math" panose="02040503050406030204" pitchFamily="18" charset="0"/>
                      </a:rPr>
                      <m:t>1</m:t>
                    </m:r>
                  </m:oMath>
                </a14:m>
                <a:r>
                  <a:rPr lang="ru-RU" sz="1200" dirty="0"/>
                  <a:t>  особи концентрируются вблизи лучшего найденного решения </a:t>
                </a:r>
                <a14:m>
                  <m:oMath xmlns:m="http://schemas.openxmlformats.org/officeDocument/2006/math">
                    <m:sSub>
                      <m:sSubPr>
                        <m:ctrlPr>
                          <a:rPr lang="en-US" sz="1200" i="1">
                            <a:latin typeface="Cambria Math" panose="02040503050406030204" pitchFamily="18" charset="0"/>
                          </a:rPr>
                        </m:ctrlPr>
                      </m:sSubPr>
                      <m:e>
                        <m:r>
                          <a:rPr lang="ru-RU" sz="1200">
                            <a:latin typeface="Cambria Math" panose="02040503050406030204" pitchFamily="18" charset="0"/>
                          </a:rPr>
                          <m:t>𝑋</m:t>
                        </m:r>
                      </m:e>
                      <m:sub>
                        <m:r>
                          <a:rPr lang="ru-RU" sz="1200">
                            <a:latin typeface="Cambria Math" panose="02040503050406030204" pitchFamily="18" charset="0"/>
                          </a:rPr>
                          <m:t>𝑀</m:t>
                        </m:r>
                      </m:sub>
                    </m:sSub>
                    <m:r>
                      <a:rPr lang="ru-RU" sz="1200">
                        <a:latin typeface="Cambria Math" panose="02040503050406030204" pitchFamily="18" charset="0"/>
                      </a:rPr>
                      <m:t>, </m:t>
                    </m:r>
                    <m:sSub>
                      <m:sSubPr>
                        <m:ctrlPr>
                          <a:rPr lang="en-US" sz="1200" i="1">
                            <a:latin typeface="Cambria Math" panose="02040503050406030204" pitchFamily="18" charset="0"/>
                          </a:rPr>
                        </m:ctrlPr>
                      </m:sSubPr>
                      <m:e>
                        <m:r>
                          <a:rPr lang="ru-RU" sz="1200">
                            <a:latin typeface="Cambria Math" panose="02040503050406030204" pitchFamily="18" charset="0"/>
                          </a:rPr>
                          <m:t>𝑋</m:t>
                        </m:r>
                      </m:e>
                      <m:sub>
                        <m:r>
                          <a:rPr lang="ru-RU" sz="1200">
                            <a:latin typeface="Cambria Math" panose="02040503050406030204" pitchFamily="18" charset="0"/>
                          </a:rPr>
                          <m:t>𝐹𝑀</m:t>
                        </m:r>
                      </m:sub>
                    </m:sSub>
                  </m:oMath>
                </a14:m>
                <a:r>
                  <a:rPr lang="ru-RU" sz="1200" dirty="0"/>
                  <a:t> и уточняют его с высокой точностью. Локальное уточнение позволяет найти точное положение оптимума в той области, которую обнаружила стадия исследования.</a:t>
                </a:r>
                <a:endParaRPr lang="en-US" sz="1200" dirty="0"/>
              </a:p>
              <a:p>
                <a:endParaRPr lang="en-US" dirty="0"/>
              </a:p>
            </p:txBody>
          </p:sp>
        </mc:Choice>
        <mc:Fallback xmlns="">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200" dirty="0"/>
                  <a:t>При </a:t>
                </a:r>
                <a:r>
                  <a:rPr lang="en-US" sz="1200" i="0">
                    <a:latin typeface="Cambria Math" panose="02040503050406030204" pitchFamily="18" charset="0"/>
                  </a:rPr>
                  <a:t>|</a:t>
                </a:r>
                <a:r>
                  <a:rPr lang="ru-RU" sz="1200" i="0">
                    <a:latin typeface="Cambria Math" panose="02040503050406030204" pitchFamily="18" charset="0"/>
                  </a:rPr>
                  <a:t>𝐸|≥1</a:t>
                </a:r>
                <a:r>
                  <a:rPr lang="ru-RU" sz="1200" dirty="0"/>
                  <a:t> особи разлетаются по всему пространству поиска </a:t>
                </a:r>
                <a:r>
                  <a:rPr lang="ru-RU" sz="1200" dirty="0">
                    <a:solidFill>
                      <a:srgbClr val="F36324"/>
                    </a:solidFill>
                  </a:rPr>
                  <a:t>Почему? Должны смочь объяснить</a:t>
                </a:r>
                <a:r>
                  <a:rPr lang="ru-RU" sz="1200" dirty="0"/>
                  <a:t>, не концентрируясь вблизи текущего лучшего решения. Это позволяет обнаружить перспективные области, которые далеки от начального положения популяции и избежать преждевременной сходимости к локальному оптимуму. Иначе особи концентрируются вблизи лучшего найденного решения </a:t>
                </a:r>
                <a:r>
                  <a:rPr lang="ru-RU" sz="1200" i="0">
                    <a:latin typeface="Cambria Math" panose="02040503050406030204" pitchFamily="18" charset="0"/>
                  </a:rPr>
                  <a:t>𝑋</a:t>
                </a:r>
                <a:r>
                  <a:rPr lang="en-US" sz="1200" i="0">
                    <a:latin typeface="Cambria Math" panose="02040503050406030204" pitchFamily="18" charset="0"/>
                  </a:rPr>
                  <a:t>_</a:t>
                </a:r>
                <a:r>
                  <a:rPr lang="ru-RU" sz="1200" i="0">
                    <a:latin typeface="Cambria Math" panose="02040503050406030204" pitchFamily="18" charset="0"/>
                  </a:rPr>
                  <a:t>𝑀, 𝑋</a:t>
                </a:r>
                <a:r>
                  <a:rPr lang="en-US" sz="1200" i="0">
                    <a:latin typeface="Cambria Math" panose="02040503050406030204" pitchFamily="18" charset="0"/>
                  </a:rPr>
                  <a:t>_</a:t>
                </a:r>
                <a:r>
                  <a:rPr lang="ru-RU" sz="1200" i="0">
                    <a:latin typeface="Cambria Math" panose="02040503050406030204" pitchFamily="18" charset="0"/>
                  </a:rPr>
                  <a:t>𝐹𝑀</a:t>
                </a:r>
                <a:r>
                  <a:rPr lang="ru-RU" sz="1200" dirty="0"/>
                  <a:t> и уточняют его с высокой точностью. Локальное уточнение позволяет найти точное положение оптимума в той области, которую обнаружила стадия исследования.</a:t>
                </a:r>
                <a:endParaRPr lang="en-US" sz="1200" dirty="0"/>
              </a:p>
              <a:p>
                <a:endParaRPr lang="en-US" dirty="0"/>
              </a:p>
            </p:txBody>
          </p:sp>
        </mc:Fallback>
      </mc:AlternateContent>
      <p:sp>
        <p:nvSpPr>
          <p:cNvPr id="4" name="Номер слайда 3"/>
          <p:cNvSpPr>
            <a:spLocks noGrp="1"/>
          </p:cNvSpPr>
          <p:nvPr>
            <p:ph type="sldNum" sz="quarter" idx="5"/>
          </p:nvPr>
        </p:nvSpPr>
        <p:spPr/>
        <p:txBody>
          <a:bodyPr/>
          <a:lstStyle/>
          <a:p>
            <a:fld id="{63122E3D-766E-4CE8-99C1-DB828FEDFC03}" type="slidenum">
              <a:rPr lang="en-US" smtClean="0"/>
              <a:t>18</a:t>
            </a:fld>
            <a:endParaRPr lang="en-US"/>
          </a:p>
        </p:txBody>
      </p:sp>
    </p:spTree>
    <p:extLst>
      <p:ext uri="{BB962C8B-B14F-4D97-AF65-F5344CB8AC3E}">
        <p14:creationId xmlns:p14="http://schemas.microsoft.com/office/powerpoint/2010/main" val="42673297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420B7F-3068-B946-6606-104E642E2D79}"/>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60247554-4CD6-3F26-90B9-1D2ED27D4463}"/>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94A10A04-C949-E452-BCB5-D0BA33F7A37F}"/>
              </a:ext>
            </a:extLst>
          </p:cNvPr>
          <p:cNvSpPr>
            <a:spLocks noGrp="1"/>
          </p:cNvSpPr>
          <p:nvPr>
            <p:ph type="body" idx="1"/>
          </p:nvPr>
        </p:nvSpPr>
        <p:spPr/>
        <p:txBody>
          <a:bodyPr/>
          <a:lstStyle/>
          <a:p>
            <a:endParaRPr lang="en-US" dirty="0"/>
          </a:p>
        </p:txBody>
      </p:sp>
      <p:sp>
        <p:nvSpPr>
          <p:cNvPr id="4" name="Номер слайда 3">
            <a:extLst>
              <a:ext uri="{FF2B5EF4-FFF2-40B4-BE49-F238E27FC236}">
                <a16:creationId xmlns:a16="http://schemas.microsoft.com/office/drawing/2014/main" id="{228E3DBC-F91C-3D0A-4387-5BD283E116B4}"/>
              </a:ext>
            </a:extLst>
          </p:cNvPr>
          <p:cNvSpPr>
            <a:spLocks noGrp="1"/>
          </p:cNvSpPr>
          <p:nvPr>
            <p:ph type="sldNum" sz="quarter" idx="5"/>
          </p:nvPr>
        </p:nvSpPr>
        <p:spPr/>
        <p:txBody>
          <a:bodyPr/>
          <a:lstStyle/>
          <a:p>
            <a:fld id="{63122E3D-766E-4CE8-99C1-DB828FEDFC03}" type="slidenum">
              <a:rPr lang="en-US" smtClean="0"/>
              <a:t>19</a:t>
            </a:fld>
            <a:endParaRPr lang="en-US"/>
          </a:p>
        </p:txBody>
      </p:sp>
    </p:spTree>
    <p:extLst>
      <p:ext uri="{BB962C8B-B14F-4D97-AF65-F5344CB8AC3E}">
        <p14:creationId xmlns:p14="http://schemas.microsoft.com/office/powerpoint/2010/main" val="15119839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3D2A7-C4EB-06C0-52A1-C73F48660E6B}"/>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285CAF40-5C06-5D62-0C62-81C682A6717E}"/>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FACDCEE7-FDDF-6423-FA0C-DC5B64B0696D}"/>
              </a:ext>
            </a:extLst>
          </p:cNvPr>
          <p:cNvSpPr>
            <a:spLocks noGrp="1"/>
          </p:cNvSpPr>
          <p:nvPr>
            <p:ph type="body" idx="1"/>
          </p:nvPr>
        </p:nvSpPr>
        <p:spPr/>
        <p:txBody>
          <a:bodyPr/>
          <a:lstStyle/>
          <a:p>
            <a:r>
              <a:rPr lang="ru-RU" dirty="0"/>
              <a:t>Перед вами представлена блок схема алгоритма </a:t>
            </a:r>
            <a:r>
              <a:rPr lang="en-US" dirty="0"/>
              <a:t>GJO</a:t>
            </a:r>
          </a:p>
        </p:txBody>
      </p:sp>
      <p:sp>
        <p:nvSpPr>
          <p:cNvPr id="4" name="Номер слайда 3">
            <a:extLst>
              <a:ext uri="{FF2B5EF4-FFF2-40B4-BE49-F238E27FC236}">
                <a16:creationId xmlns:a16="http://schemas.microsoft.com/office/drawing/2014/main" id="{C57E7C1C-4B18-DE4F-764B-A954A4F9028A}"/>
              </a:ext>
            </a:extLst>
          </p:cNvPr>
          <p:cNvSpPr>
            <a:spLocks noGrp="1"/>
          </p:cNvSpPr>
          <p:nvPr>
            <p:ph type="sldNum" sz="quarter" idx="5"/>
          </p:nvPr>
        </p:nvSpPr>
        <p:spPr/>
        <p:txBody>
          <a:bodyPr/>
          <a:lstStyle/>
          <a:p>
            <a:fld id="{63122E3D-766E-4CE8-99C1-DB828FEDFC03}" type="slidenum">
              <a:rPr lang="en-US" smtClean="0"/>
              <a:t>20</a:t>
            </a:fld>
            <a:endParaRPr lang="en-US"/>
          </a:p>
        </p:txBody>
      </p:sp>
    </p:spTree>
    <p:extLst>
      <p:ext uri="{BB962C8B-B14F-4D97-AF65-F5344CB8AC3E}">
        <p14:creationId xmlns:p14="http://schemas.microsoft.com/office/powerpoint/2010/main" val="3839305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A82C8F-34FB-8F7F-2D82-8BB25A90086F}"/>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A647E80D-C3AE-03DB-CE79-1C9EC7E87B9E}"/>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BA62BB59-5DEF-BEB3-4563-9AAEE7F35726}"/>
              </a:ext>
            </a:extLst>
          </p:cNvPr>
          <p:cNvSpPr>
            <a:spLocks noGrp="1"/>
          </p:cNvSpPr>
          <p:nvPr>
            <p:ph type="body" idx="1"/>
          </p:nvPr>
        </p:nvSpPr>
        <p:spPr/>
        <p:txBody>
          <a:bodyPr/>
          <a:lstStyle/>
          <a:p>
            <a:r>
              <a:rPr lang="ru-RU" dirty="0"/>
              <a:t>Первым делом инициализация с помощью хаотичного картографирования, далее цикличное улучшение и условный расчёт </a:t>
            </a:r>
            <a:r>
              <a:rPr lang="en-US" dirty="0"/>
              <a:t>fitness </a:t>
            </a:r>
            <a:r>
              <a:rPr lang="ru-RU" dirty="0"/>
              <a:t>функции. Нахождение наилучшей пары</a:t>
            </a:r>
            <a:r>
              <a:rPr lang="en-US" dirty="0"/>
              <a:t> </a:t>
            </a:r>
            <a:r>
              <a:rPr lang="ru-RU" dirty="0"/>
              <a:t>решений.</a:t>
            </a:r>
            <a:endParaRPr lang="en-US" dirty="0"/>
          </a:p>
        </p:txBody>
      </p:sp>
      <p:sp>
        <p:nvSpPr>
          <p:cNvPr id="4" name="Номер слайда 3">
            <a:extLst>
              <a:ext uri="{FF2B5EF4-FFF2-40B4-BE49-F238E27FC236}">
                <a16:creationId xmlns:a16="http://schemas.microsoft.com/office/drawing/2014/main" id="{C22C177A-67F7-DF4F-ACDA-4273DC77913B}"/>
              </a:ext>
            </a:extLst>
          </p:cNvPr>
          <p:cNvSpPr>
            <a:spLocks noGrp="1"/>
          </p:cNvSpPr>
          <p:nvPr>
            <p:ph type="sldNum" sz="quarter" idx="5"/>
          </p:nvPr>
        </p:nvSpPr>
        <p:spPr/>
        <p:txBody>
          <a:bodyPr/>
          <a:lstStyle/>
          <a:p>
            <a:fld id="{63122E3D-766E-4CE8-99C1-DB828FEDFC03}" type="slidenum">
              <a:rPr lang="en-US" smtClean="0"/>
              <a:t>21</a:t>
            </a:fld>
            <a:endParaRPr lang="en-US"/>
          </a:p>
        </p:txBody>
      </p:sp>
    </p:spTree>
    <p:extLst>
      <p:ext uri="{BB962C8B-B14F-4D97-AF65-F5344CB8AC3E}">
        <p14:creationId xmlns:p14="http://schemas.microsoft.com/office/powerpoint/2010/main" val="40487212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F233C3-9EAA-7099-103C-2877219E1851}"/>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C4228A7D-B70F-1C0C-C008-B215C2A72C72}"/>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7FD07768-D86D-4D33-559C-D0DA25672B08}"/>
              </a:ext>
            </a:extLst>
          </p:cNvPr>
          <p:cNvSpPr>
            <a:spLocks noGrp="1"/>
          </p:cNvSpPr>
          <p:nvPr>
            <p:ph type="body" idx="1"/>
          </p:nvPr>
        </p:nvSpPr>
        <p:spPr/>
        <p:txBody>
          <a:bodyPr/>
          <a:lstStyle/>
          <a:p>
            <a:r>
              <a:rPr lang="ru-RU" dirty="0"/>
              <a:t>Затем вычисление коэффициента снижения </a:t>
            </a:r>
            <a:r>
              <a:rPr lang="en-US" dirty="0"/>
              <a:t>E</a:t>
            </a:r>
            <a:r>
              <a:rPr lang="ru-RU" dirty="0"/>
              <a:t>_1 который убывает по увеличению количества прошедших итераций. Для каждой особи считается энергия системы равная произведению </a:t>
            </a:r>
            <a:r>
              <a:rPr lang="en-US" dirty="0"/>
              <a:t>E_1 </a:t>
            </a:r>
            <a:r>
              <a:rPr lang="ru-RU" dirty="0"/>
              <a:t>и </a:t>
            </a:r>
            <a:r>
              <a:rPr lang="ru-RU" sz="1200" kern="1200" dirty="0">
                <a:solidFill>
                  <a:schemeClr val="tx1"/>
                </a:solidFill>
                <a:effectLst/>
                <a:latin typeface="+mn-lt"/>
                <a:ea typeface="+mn-ea"/>
                <a:cs typeface="+mn-cs"/>
              </a:rPr>
              <a:t>начальной энергии системы</a:t>
            </a:r>
            <a:r>
              <a:rPr lang="ru-RU" dirty="0"/>
              <a:t>. После условное обновление позиции и увеличение счётчика итераций.</a:t>
            </a:r>
            <a:endParaRPr lang="en-US" dirty="0"/>
          </a:p>
        </p:txBody>
      </p:sp>
      <p:sp>
        <p:nvSpPr>
          <p:cNvPr id="4" name="Номер слайда 3">
            <a:extLst>
              <a:ext uri="{FF2B5EF4-FFF2-40B4-BE49-F238E27FC236}">
                <a16:creationId xmlns:a16="http://schemas.microsoft.com/office/drawing/2014/main" id="{F0DE2D14-F3EA-C652-9900-B94573D9879B}"/>
              </a:ext>
            </a:extLst>
          </p:cNvPr>
          <p:cNvSpPr>
            <a:spLocks noGrp="1"/>
          </p:cNvSpPr>
          <p:nvPr>
            <p:ph type="sldNum" sz="quarter" idx="5"/>
          </p:nvPr>
        </p:nvSpPr>
        <p:spPr/>
        <p:txBody>
          <a:bodyPr/>
          <a:lstStyle/>
          <a:p>
            <a:fld id="{63122E3D-766E-4CE8-99C1-DB828FEDFC03}" type="slidenum">
              <a:rPr lang="en-US" smtClean="0"/>
              <a:t>22</a:t>
            </a:fld>
            <a:endParaRPr lang="en-US"/>
          </a:p>
        </p:txBody>
      </p:sp>
    </p:spTree>
    <p:extLst>
      <p:ext uri="{BB962C8B-B14F-4D97-AF65-F5344CB8AC3E}">
        <p14:creationId xmlns:p14="http://schemas.microsoft.com/office/powerpoint/2010/main" val="289184289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DEC85-C615-5E4E-F195-2D08FF75CC9E}"/>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D68EFCF2-DB76-7C1D-4937-8CDAC623F3DE}"/>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8A05DFAE-BC94-F4F6-0D70-169B7A54B6C9}"/>
              </a:ext>
            </a:extLst>
          </p:cNvPr>
          <p:cNvSpPr>
            <a:spLocks noGrp="1"/>
          </p:cNvSpPr>
          <p:nvPr>
            <p:ph type="body" idx="1"/>
          </p:nvPr>
        </p:nvSpPr>
        <p:spPr/>
        <p:txBody>
          <a:bodyPr/>
          <a:lstStyle/>
          <a:p>
            <a:r>
              <a:rPr lang="ru-RU" dirty="0"/>
              <a:t>В конце находим наилучшую особь и выводим её как результат.</a:t>
            </a:r>
            <a:endParaRPr lang="en-US" dirty="0"/>
          </a:p>
        </p:txBody>
      </p:sp>
      <p:sp>
        <p:nvSpPr>
          <p:cNvPr id="4" name="Номер слайда 3">
            <a:extLst>
              <a:ext uri="{FF2B5EF4-FFF2-40B4-BE49-F238E27FC236}">
                <a16:creationId xmlns:a16="http://schemas.microsoft.com/office/drawing/2014/main" id="{3FE6F595-5D39-1838-A365-01BEBF4DFA9E}"/>
              </a:ext>
            </a:extLst>
          </p:cNvPr>
          <p:cNvSpPr>
            <a:spLocks noGrp="1"/>
          </p:cNvSpPr>
          <p:nvPr>
            <p:ph type="sldNum" sz="quarter" idx="5"/>
          </p:nvPr>
        </p:nvSpPr>
        <p:spPr/>
        <p:txBody>
          <a:bodyPr/>
          <a:lstStyle/>
          <a:p>
            <a:fld id="{63122E3D-766E-4CE8-99C1-DB828FEDFC03}" type="slidenum">
              <a:rPr lang="en-US" smtClean="0"/>
              <a:t>23</a:t>
            </a:fld>
            <a:endParaRPr lang="en-US"/>
          </a:p>
        </p:txBody>
      </p:sp>
    </p:spTree>
    <p:extLst>
      <p:ext uri="{BB962C8B-B14F-4D97-AF65-F5344CB8AC3E}">
        <p14:creationId xmlns:p14="http://schemas.microsoft.com/office/powerpoint/2010/main" val="46407262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В алгоритме так же используются вероятностные полёты леви, благодаря которым алгоритм не застревает в локальных оптимумах и исследует всё новые и новые области. Это распределение отлично подходит для симуляции больших прыжков с не нулевыми вероятностями, благодаря его тяжелым хвостам.</a:t>
            </a:r>
            <a:endParaRPr lang="en-US" dirty="0"/>
          </a:p>
        </p:txBody>
      </p:sp>
      <p:sp>
        <p:nvSpPr>
          <p:cNvPr id="4" name="Номер слайда 3"/>
          <p:cNvSpPr>
            <a:spLocks noGrp="1"/>
          </p:cNvSpPr>
          <p:nvPr>
            <p:ph type="sldNum" sz="quarter" idx="5"/>
          </p:nvPr>
        </p:nvSpPr>
        <p:spPr/>
        <p:txBody>
          <a:bodyPr/>
          <a:lstStyle/>
          <a:p>
            <a:fld id="{63122E3D-766E-4CE8-99C1-DB828FEDFC03}" type="slidenum">
              <a:rPr lang="en-US" smtClean="0"/>
              <a:t>24</a:t>
            </a:fld>
            <a:endParaRPr lang="en-US"/>
          </a:p>
        </p:txBody>
      </p:sp>
    </p:spTree>
    <p:extLst>
      <p:ext uri="{BB962C8B-B14F-4D97-AF65-F5344CB8AC3E}">
        <p14:creationId xmlns:p14="http://schemas.microsoft.com/office/powerpoint/2010/main" val="234733884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kern="1200" dirty="0">
                <a:solidFill>
                  <a:schemeClr val="tx1"/>
                </a:solidFill>
                <a:effectLst/>
                <a:latin typeface="+mn-lt"/>
                <a:ea typeface="+mn-ea"/>
                <a:cs typeface="+mn-cs"/>
              </a:rPr>
              <a:t>Для поставленной задачи справедлива следующая теорема </a:t>
            </a:r>
            <a:r>
              <a:rPr lang="en-US" sz="1200" kern="1200" dirty="0">
                <a:solidFill>
                  <a:schemeClr val="tx1"/>
                </a:solidFill>
                <a:effectLst/>
                <a:latin typeface="+mn-lt"/>
                <a:ea typeface="+mn-ea"/>
                <a:cs typeface="+mn-cs"/>
              </a:rPr>
              <a:t>[</a:t>
            </a:r>
            <a:r>
              <a:rPr lang="ru-RU" sz="1200" kern="1200" dirty="0">
                <a:solidFill>
                  <a:schemeClr val="tx1"/>
                </a:solidFill>
                <a:effectLst/>
                <a:latin typeface="+mn-lt"/>
                <a:ea typeface="+mn-ea"/>
                <a:cs typeface="+mn-cs"/>
              </a:rPr>
              <a:t>со слайда</a:t>
            </a:r>
            <a:r>
              <a:rPr lang="en-US" sz="1200" kern="1200" dirty="0">
                <a:solidFill>
                  <a:schemeClr val="tx1"/>
                </a:solidFill>
                <a:effectLst/>
                <a:latin typeface="+mn-lt"/>
                <a:ea typeface="+mn-ea"/>
                <a:cs typeface="+mn-cs"/>
              </a:rPr>
              <a:t>]</a:t>
            </a:r>
            <a:r>
              <a:rPr lang="ru-RU" sz="1200" kern="1200" dirty="0">
                <a:solidFill>
                  <a:schemeClr val="tx1"/>
                </a:solidFill>
                <a:effectLst/>
                <a:latin typeface="+mn-lt"/>
                <a:ea typeface="+mn-ea"/>
                <a:cs typeface="+mn-cs"/>
              </a:rPr>
              <a:t> из этого следует что </a:t>
            </a:r>
            <a:r>
              <a:rPr lang="en-US" sz="1200" kern="1200" dirty="0">
                <a:solidFill>
                  <a:schemeClr val="tx1"/>
                </a:solidFill>
                <a:effectLst/>
                <a:latin typeface="+mn-lt"/>
                <a:ea typeface="+mn-ea"/>
                <a:cs typeface="+mn-cs"/>
              </a:rPr>
              <a:t>[</a:t>
            </a:r>
            <a:r>
              <a:rPr lang="ru-RU" sz="1200" kern="1200" dirty="0">
                <a:solidFill>
                  <a:schemeClr val="tx1"/>
                </a:solidFill>
                <a:effectLst/>
                <a:latin typeface="+mn-lt"/>
                <a:ea typeface="+mn-ea"/>
                <a:cs typeface="+mn-cs"/>
              </a:rPr>
              <a:t>со слайда</a:t>
            </a:r>
            <a:r>
              <a:rPr lang="en-US" sz="1200" kern="1200" dirty="0">
                <a:solidFill>
                  <a:schemeClr val="tx1"/>
                </a:solidFill>
                <a:effectLst/>
                <a:latin typeface="+mn-lt"/>
                <a:ea typeface="+mn-ea"/>
                <a:cs typeface="+mn-cs"/>
              </a:rPr>
              <a:t>]</a:t>
            </a:r>
          </a:p>
        </p:txBody>
      </p:sp>
      <p:sp>
        <p:nvSpPr>
          <p:cNvPr id="4" name="Номер слайда 3"/>
          <p:cNvSpPr>
            <a:spLocks noGrp="1"/>
          </p:cNvSpPr>
          <p:nvPr>
            <p:ph type="sldNum" sz="quarter" idx="5"/>
          </p:nvPr>
        </p:nvSpPr>
        <p:spPr/>
        <p:txBody>
          <a:bodyPr/>
          <a:lstStyle/>
          <a:p>
            <a:fld id="{63122E3D-766E-4CE8-99C1-DB828FEDFC03}" type="slidenum">
              <a:rPr lang="en-US" smtClean="0"/>
              <a:t>25</a:t>
            </a:fld>
            <a:endParaRPr lang="en-US"/>
          </a:p>
        </p:txBody>
      </p:sp>
    </p:spTree>
    <p:extLst>
      <p:ext uri="{BB962C8B-B14F-4D97-AF65-F5344CB8AC3E}">
        <p14:creationId xmlns:p14="http://schemas.microsoft.com/office/powerpoint/2010/main" val="235234088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4D9A4A-4B70-4A68-EA06-383743064692}"/>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DE347364-14C8-8128-3B1D-E129F58176C0}"/>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1DC62F6B-2966-E651-B7B9-405E79268598}"/>
              </a:ext>
            </a:extLst>
          </p:cNvPr>
          <p:cNvSpPr>
            <a:spLocks noGrp="1"/>
          </p:cNvSpPr>
          <p:nvPr>
            <p:ph type="body" idx="1"/>
          </p:nvPr>
        </p:nvSpPr>
        <p:spPr/>
        <p:txBody>
          <a:bodyPr/>
          <a:lstStyle/>
          <a:p>
            <a:r>
              <a:rPr lang="ru-RU" sz="1200" kern="1200" dirty="0">
                <a:solidFill>
                  <a:schemeClr val="tx1"/>
                </a:solidFill>
                <a:effectLst/>
                <a:latin typeface="+mn-lt"/>
                <a:ea typeface="+mn-ea"/>
                <a:cs typeface="+mn-cs"/>
              </a:rPr>
              <a:t>Для поставленной задачи справедлива следующая теорема </a:t>
            </a:r>
            <a:r>
              <a:rPr lang="en-US" sz="1200" kern="1200" dirty="0">
                <a:solidFill>
                  <a:schemeClr val="tx1"/>
                </a:solidFill>
                <a:effectLst/>
                <a:latin typeface="+mn-lt"/>
                <a:ea typeface="+mn-ea"/>
                <a:cs typeface="+mn-cs"/>
              </a:rPr>
              <a:t>[</a:t>
            </a:r>
            <a:r>
              <a:rPr lang="ru-RU" sz="1200" kern="1200" dirty="0">
                <a:solidFill>
                  <a:schemeClr val="tx1"/>
                </a:solidFill>
                <a:effectLst/>
                <a:latin typeface="+mn-lt"/>
                <a:ea typeface="+mn-ea"/>
                <a:cs typeface="+mn-cs"/>
              </a:rPr>
              <a:t>со слайда</a:t>
            </a:r>
            <a:r>
              <a:rPr lang="en-US" sz="1200" kern="1200" dirty="0">
                <a:solidFill>
                  <a:schemeClr val="tx1"/>
                </a:solidFill>
                <a:effectLst/>
                <a:latin typeface="+mn-lt"/>
                <a:ea typeface="+mn-ea"/>
                <a:cs typeface="+mn-cs"/>
              </a:rPr>
              <a:t>]</a:t>
            </a:r>
            <a:r>
              <a:rPr lang="ru-RU" sz="1200" kern="1200" dirty="0">
                <a:solidFill>
                  <a:schemeClr val="tx1"/>
                </a:solidFill>
                <a:effectLst/>
                <a:latin typeface="+mn-lt"/>
                <a:ea typeface="+mn-ea"/>
                <a:cs typeface="+mn-cs"/>
              </a:rPr>
              <a:t> из этого следует что </a:t>
            </a:r>
            <a:r>
              <a:rPr lang="en-US" sz="1200" kern="1200" dirty="0">
                <a:solidFill>
                  <a:schemeClr val="tx1"/>
                </a:solidFill>
                <a:effectLst/>
                <a:latin typeface="+mn-lt"/>
                <a:ea typeface="+mn-ea"/>
                <a:cs typeface="+mn-cs"/>
              </a:rPr>
              <a:t>[</a:t>
            </a:r>
            <a:r>
              <a:rPr lang="ru-RU" sz="1200" kern="1200" dirty="0">
                <a:solidFill>
                  <a:schemeClr val="tx1"/>
                </a:solidFill>
                <a:effectLst/>
                <a:latin typeface="+mn-lt"/>
                <a:ea typeface="+mn-ea"/>
                <a:cs typeface="+mn-cs"/>
              </a:rPr>
              <a:t>со слайда</a:t>
            </a:r>
            <a:r>
              <a:rPr lang="en-US" sz="1200" kern="1200" dirty="0">
                <a:solidFill>
                  <a:schemeClr val="tx1"/>
                </a:solidFill>
                <a:effectLst/>
                <a:latin typeface="+mn-lt"/>
                <a:ea typeface="+mn-ea"/>
                <a:cs typeface="+mn-cs"/>
              </a:rPr>
              <a:t>]</a:t>
            </a:r>
          </a:p>
        </p:txBody>
      </p:sp>
      <p:sp>
        <p:nvSpPr>
          <p:cNvPr id="4" name="Номер слайда 3">
            <a:extLst>
              <a:ext uri="{FF2B5EF4-FFF2-40B4-BE49-F238E27FC236}">
                <a16:creationId xmlns:a16="http://schemas.microsoft.com/office/drawing/2014/main" id="{1515C3F7-2F3E-8BA0-7ABD-103D9908150A}"/>
              </a:ext>
            </a:extLst>
          </p:cNvPr>
          <p:cNvSpPr>
            <a:spLocks noGrp="1"/>
          </p:cNvSpPr>
          <p:nvPr>
            <p:ph type="sldNum" sz="quarter" idx="5"/>
          </p:nvPr>
        </p:nvSpPr>
        <p:spPr/>
        <p:txBody>
          <a:bodyPr/>
          <a:lstStyle/>
          <a:p>
            <a:fld id="{63122E3D-766E-4CE8-99C1-DB828FEDFC03}" type="slidenum">
              <a:rPr lang="en-US" smtClean="0"/>
              <a:t>26</a:t>
            </a:fld>
            <a:endParaRPr lang="en-US"/>
          </a:p>
        </p:txBody>
      </p:sp>
    </p:spTree>
    <p:extLst>
      <p:ext uri="{BB962C8B-B14F-4D97-AF65-F5344CB8AC3E}">
        <p14:creationId xmlns:p14="http://schemas.microsoft.com/office/powerpoint/2010/main" val="282008309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E2C00-EA76-85A2-BF79-7CAFB5FF3963}"/>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99B47AD6-FFF2-7875-BB5C-A4801F2B2F04}"/>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495C99F8-3139-7358-3E9D-21E89988DA26}"/>
              </a:ext>
            </a:extLst>
          </p:cNvPr>
          <p:cNvSpPr>
            <a:spLocks noGrp="1"/>
          </p:cNvSpPr>
          <p:nvPr>
            <p:ph type="body" idx="1"/>
          </p:nvPr>
        </p:nvSpPr>
        <p:spPr/>
        <p:txBody>
          <a:bodyPr/>
          <a:lstStyle/>
          <a:p>
            <a:r>
              <a:rPr lang="ru-RU" sz="1200" kern="1200" dirty="0">
                <a:solidFill>
                  <a:schemeClr val="tx1"/>
                </a:solidFill>
                <a:effectLst/>
                <a:latin typeface="+mn-lt"/>
                <a:ea typeface="+mn-ea"/>
                <a:cs typeface="+mn-cs"/>
              </a:rPr>
              <a:t>Для поставленной задачи справедлива следующая теорема </a:t>
            </a:r>
            <a:r>
              <a:rPr lang="en-US" sz="1200" kern="1200" dirty="0">
                <a:solidFill>
                  <a:schemeClr val="tx1"/>
                </a:solidFill>
                <a:effectLst/>
                <a:latin typeface="+mn-lt"/>
                <a:ea typeface="+mn-ea"/>
                <a:cs typeface="+mn-cs"/>
              </a:rPr>
              <a:t>[</a:t>
            </a:r>
            <a:r>
              <a:rPr lang="ru-RU" sz="1200" kern="1200" dirty="0">
                <a:solidFill>
                  <a:schemeClr val="tx1"/>
                </a:solidFill>
                <a:effectLst/>
                <a:latin typeface="+mn-lt"/>
                <a:ea typeface="+mn-ea"/>
                <a:cs typeface="+mn-cs"/>
              </a:rPr>
              <a:t>со слайда</a:t>
            </a:r>
            <a:r>
              <a:rPr lang="en-US" sz="1200" kern="1200" dirty="0">
                <a:solidFill>
                  <a:schemeClr val="tx1"/>
                </a:solidFill>
                <a:effectLst/>
                <a:latin typeface="+mn-lt"/>
                <a:ea typeface="+mn-ea"/>
                <a:cs typeface="+mn-cs"/>
              </a:rPr>
              <a:t>]</a:t>
            </a:r>
            <a:r>
              <a:rPr lang="ru-RU" sz="1200" kern="1200" dirty="0">
                <a:solidFill>
                  <a:schemeClr val="tx1"/>
                </a:solidFill>
                <a:effectLst/>
                <a:latin typeface="+mn-lt"/>
                <a:ea typeface="+mn-ea"/>
                <a:cs typeface="+mn-cs"/>
              </a:rPr>
              <a:t> из этого следует что </a:t>
            </a:r>
            <a:r>
              <a:rPr lang="en-US" sz="1200" kern="1200" dirty="0">
                <a:solidFill>
                  <a:schemeClr val="tx1"/>
                </a:solidFill>
                <a:effectLst/>
                <a:latin typeface="+mn-lt"/>
                <a:ea typeface="+mn-ea"/>
                <a:cs typeface="+mn-cs"/>
              </a:rPr>
              <a:t>[</a:t>
            </a:r>
            <a:r>
              <a:rPr lang="ru-RU" sz="1200" kern="1200" dirty="0">
                <a:solidFill>
                  <a:schemeClr val="tx1"/>
                </a:solidFill>
                <a:effectLst/>
                <a:latin typeface="+mn-lt"/>
                <a:ea typeface="+mn-ea"/>
                <a:cs typeface="+mn-cs"/>
              </a:rPr>
              <a:t>со слайда</a:t>
            </a:r>
            <a:r>
              <a:rPr lang="en-US" sz="1200" kern="1200" dirty="0">
                <a:solidFill>
                  <a:schemeClr val="tx1"/>
                </a:solidFill>
                <a:effectLst/>
                <a:latin typeface="+mn-lt"/>
                <a:ea typeface="+mn-ea"/>
                <a:cs typeface="+mn-cs"/>
              </a:rPr>
              <a:t>]</a:t>
            </a:r>
          </a:p>
        </p:txBody>
      </p:sp>
      <p:sp>
        <p:nvSpPr>
          <p:cNvPr id="4" name="Номер слайда 3">
            <a:extLst>
              <a:ext uri="{FF2B5EF4-FFF2-40B4-BE49-F238E27FC236}">
                <a16:creationId xmlns:a16="http://schemas.microsoft.com/office/drawing/2014/main" id="{6981C752-2567-7FC6-BC8A-E166D5999E95}"/>
              </a:ext>
            </a:extLst>
          </p:cNvPr>
          <p:cNvSpPr>
            <a:spLocks noGrp="1"/>
          </p:cNvSpPr>
          <p:nvPr>
            <p:ph type="sldNum" sz="quarter" idx="5"/>
          </p:nvPr>
        </p:nvSpPr>
        <p:spPr/>
        <p:txBody>
          <a:bodyPr/>
          <a:lstStyle/>
          <a:p>
            <a:fld id="{63122E3D-766E-4CE8-99C1-DB828FEDFC03}" type="slidenum">
              <a:rPr lang="en-US" smtClean="0"/>
              <a:t>27</a:t>
            </a:fld>
            <a:endParaRPr lang="en-US"/>
          </a:p>
        </p:txBody>
      </p:sp>
    </p:spTree>
    <p:extLst>
      <p:ext uri="{BB962C8B-B14F-4D97-AF65-F5344CB8AC3E}">
        <p14:creationId xmlns:p14="http://schemas.microsoft.com/office/powerpoint/2010/main" val="84237676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Здесь представлен основной список литературы, которым мы пользовались в ходе работы. На этом у меня все спасибо за внимание.</a:t>
            </a:r>
            <a:endParaRPr lang="en-US" dirty="0"/>
          </a:p>
        </p:txBody>
      </p:sp>
      <p:sp>
        <p:nvSpPr>
          <p:cNvPr id="4" name="Номер слайда 3"/>
          <p:cNvSpPr>
            <a:spLocks noGrp="1"/>
          </p:cNvSpPr>
          <p:nvPr>
            <p:ph type="sldNum" sz="quarter" idx="5"/>
          </p:nvPr>
        </p:nvSpPr>
        <p:spPr/>
        <p:txBody>
          <a:bodyPr/>
          <a:lstStyle/>
          <a:p>
            <a:fld id="{63122E3D-766E-4CE8-99C1-DB828FEDFC03}" type="slidenum">
              <a:rPr lang="en-US" smtClean="0"/>
              <a:t>28</a:t>
            </a:fld>
            <a:endParaRPr lang="en-US"/>
          </a:p>
        </p:txBody>
      </p:sp>
    </p:spTree>
    <p:extLst>
      <p:ext uri="{BB962C8B-B14F-4D97-AF65-F5344CB8AC3E}">
        <p14:creationId xmlns:p14="http://schemas.microsoft.com/office/powerpoint/2010/main" val="354027790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A2F220-06B6-71EE-453E-AF92B0E22D71}"/>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0C0DAA07-4AB1-E4EA-DB8C-76B32F2A1E73}"/>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5586AE27-63DA-1860-56EA-D0E80D556EF1}"/>
              </a:ext>
            </a:extLst>
          </p:cNvPr>
          <p:cNvSpPr>
            <a:spLocks noGrp="1"/>
          </p:cNvSpPr>
          <p:nvPr>
            <p:ph type="body" idx="1"/>
          </p:nvPr>
        </p:nvSpPr>
        <p:spPr/>
        <p:txBody>
          <a:bodyPr/>
          <a:lstStyle/>
          <a:p>
            <a:endParaRPr lang="en-US" dirty="0"/>
          </a:p>
        </p:txBody>
      </p:sp>
      <p:sp>
        <p:nvSpPr>
          <p:cNvPr id="4" name="Номер слайда 3">
            <a:extLst>
              <a:ext uri="{FF2B5EF4-FFF2-40B4-BE49-F238E27FC236}">
                <a16:creationId xmlns:a16="http://schemas.microsoft.com/office/drawing/2014/main" id="{A2E5C500-8C58-F1F0-1D84-1C13482E57C8}"/>
              </a:ext>
            </a:extLst>
          </p:cNvPr>
          <p:cNvSpPr>
            <a:spLocks noGrp="1"/>
          </p:cNvSpPr>
          <p:nvPr>
            <p:ph type="sldNum" sz="quarter" idx="5"/>
          </p:nvPr>
        </p:nvSpPr>
        <p:spPr/>
        <p:txBody>
          <a:bodyPr/>
          <a:lstStyle/>
          <a:p>
            <a:fld id="{63122E3D-766E-4CE8-99C1-DB828FEDFC03}" type="slidenum">
              <a:rPr lang="en-US" smtClean="0"/>
              <a:t>29</a:t>
            </a:fld>
            <a:endParaRPr lang="en-US"/>
          </a:p>
        </p:txBody>
      </p:sp>
    </p:spTree>
    <p:extLst>
      <p:ext uri="{BB962C8B-B14F-4D97-AF65-F5344CB8AC3E}">
        <p14:creationId xmlns:p14="http://schemas.microsoft.com/office/powerpoint/2010/main" val="12001579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CE47FAE-7CEB-1A8C-07CF-0A835A55A6A2}"/>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id="{63FE4B55-3AE2-2F9C-865A-3CE6CB473C3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id="{1C1C815E-B9CA-B7A4-6B23-9383689FF6CA}"/>
              </a:ext>
            </a:extLst>
          </p:cNvPr>
          <p:cNvSpPr>
            <a:spLocks noGrp="1"/>
          </p:cNvSpPr>
          <p:nvPr>
            <p:ph type="dt" sz="half" idx="10"/>
          </p:nvPr>
        </p:nvSpPr>
        <p:spPr/>
        <p:txBody>
          <a:bodyPr/>
          <a:lstStyle/>
          <a:p>
            <a:fld id="{F88B4CF7-4AF6-4F22-BEAD-2FF1E49FC008}" type="datetimeFigureOut">
              <a:rPr lang="ru-RU" smtClean="0"/>
              <a:t>11.06.2026</a:t>
            </a:fld>
            <a:endParaRPr lang="ru-RU"/>
          </a:p>
        </p:txBody>
      </p:sp>
      <p:sp>
        <p:nvSpPr>
          <p:cNvPr id="5" name="Нижний колонтитул 4">
            <a:extLst>
              <a:ext uri="{FF2B5EF4-FFF2-40B4-BE49-F238E27FC236}">
                <a16:creationId xmlns:a16="http://schemas.microsoft.com/office/drawing/2014/main" id="{49DD526F-CBC4-0AC5-A5DE-DDE3A3A2F4D0}"/>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E1DCA680-0AD8-6302-CBBB-4946ACAAE1D3}"/>
              </a:ext>
            </a:extLst>
          </p:cNvPr>
          <p:cNvSpPr>
            <a:spLocks noGrp="1"/>
          </p:cNvSpPr>
          <p:nvPr>
            <p:ph type="sldNum" sz="quarter" idx="12"/>
          </p:nvPr>
        </p:nvSpPr>
        <p:spPr/>
        <p:txBody>
          <a:bodyPr/>
          <a:lstStyle/>
          <a:p>
            <a:fld id="{9D03F016-83BD-4E70-8719-6FB82F4E2A47}" type="slidenum">
              <a:rPr lang="ru-RU" smtClean="0"/>
              <a:t>‹#›</a:t>
            </a:fld>
            <a:endParaRPr lang="ru-RU"/>
          </a:p>
        </p:txBody>
      </p:sp>
    </p:spTree>
    <p:extLst>
      <p:ext uri="{BB962C8B-B14F-4D97-AF65-F5344CB8AC3E}">
        <p14:creationId xmlns:p14="http://schemas.microsoft.com/office/powerpoint/2010/main" val="953794652"/>
      </p:ext>
    </p:extLst>
  </p:cSld>
  <p:clrMapOvr>
    <a:masterClrMapping/>
  </p:clrMapOvr>
  <p:extLst>
    <p:ext uri="{DCECCB84-F9BA-43D5-87BE-67443E8EF086}">
      <p15:sldGuideLst xmlns:p15="http://schemas.microsoft.com/office/powerpoint/2012/main">
        <p15:guide id="1" orient="horz" pos="2160" userDrawn="1">
          <p15:clr>
            <a:srgbClr val="FBAE40"/>
          </p15:clr>
        </p15:guide>
        <p15:guide id="2" orient="horz" pos="386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9988644-0E93-3363-3ED5-F0605CBF0283}"/>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F4ED669B-9116-B294-8072-A35452047B00}"/>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94778E6C-54A6-F97D-9E94-9602823C5C7C}"/>
              </a:ext>
            </a:extLst>
          </p:cNvPr>
          <p:cNvSpPr>
            <a:spLocks noGrp="1"/>
          </p:cNvSpPr>
          <p:nvPr>
            <p:ph type="dt" sz="half" idx="10"/>
          </p:nvPr>
        </p:nvSpPr>
        <p:spPr/>
        <p:txBody>
          <a:bodyPr/>
          <a:lstStyle/>
          <a:p>
            <a:fld id="{F88B4CF7-4AF6-4F22-BEAD-2FF1E49FC008}" type="datetimeFigureOut">
              <a:rPr lang="ru-RU" smtClean="0"/>
              <a:t>11.06.2026</a:t>
            </a:fld>
            <a:endParaRPr lang="ru-RU"/>
          </a:p>
        </p:txBody>
      </p:sp>
      <p:sp>
        <p:nvSpPr>
          <p:cNvPr id="5" name="Нижний колонтитул 4">
            <a:extLst>
              <a:ext uri="{FF2B5EF4-FFF2-40B4-BE49-F238E27FC236}">
                <a16:creationId xmlns:a16="http://schemas.microsoft.com/office/drawing/2014/main" id="{35061DC0-E238-6CD3-36D4-F5E0E6D4ECEF}"/>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43182655-82CF-DE05-DD65-ED338ACBADB0}"/>
              </a:ext>
            </a:extLst>
          </p:cNvPr>
          <p:cNvSpPr>
            <a:spLocks noGrp="1"/>
          </p:cNvSpPr>
          <p:nvPr>
            <p:ph type="sldNum" sz="quarter" idx="12"/>
          </p:nvPr>
        </p:nvSpPr>
        <p:spPr/>
        <p:txBody>
          <a:bodyPr/>
          <a:lstStyle/>
          <a:p>
            <a:fld id="{9D03F016-83BD-4E70-8719-6FB82F4E2A47}" type="slidenum">
              <a:rPr lang="ru-RU" smtClean="0"/>
              <a:t>‹#›</a:t>
            </a:fld>
            <a:endParaRPr lang="ru-RU"/>
          </a:p>
        </p:txBody>
      </p:sp>
    </p:spTree>
    <p:extLst>
      <p:ext uri="{BB962C8B-B14F-4D97-AF65-F5344CB8AC3E}">
        <p14:creationId xmlns:p14="http://schemas.microsoft.com/office/powerpoint/2010/main" val="12441115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7984D4D-9753-D3A9-E24A-8F26BC8CC465}"/>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a:extLst>
              <a:ext uri="{FF2B5EF4-FFF2-40B4-BE49-F238E27FC236}">
                <a16:creationId xmlns:a16="http://schemas.microsoft.com/office/drawing/2014/main" id="{953DF50E-439B-5297-0538-8D873C366C8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810A2CC4-8C45-718E-8748-56850C79BF13}"/>
              </a:ext>
            </a:extLst>
          </p:cNvPr>
          <p:cNvSpPr>
            <a:spLocks noGrp="1"/>
          </p:cNvSpPr>
          <p:nvPr>
            <p:ph type="dt" sz="half" idx="10"/>
          </p:nvPr>
        </p:nvSpPr>
        <p:spPr/>
        <p:txBody>
          <a:bodyPr/>
          <a:lstStyle/>
          <a:p>
            <a:fld id="{F88B4CF7-4AF6-4F22-BEAD-2FF1E49FC008}" type="datetimeFigureOut">
              <a:rPr lang="ru-RU" smtClean="0"/>
              <a:t>11.06.2026</a:t>
            </a:fld>
            <a:endParaRPr lang="ru-RU"/>
          </a:p>
        </p:txBody>
      </p:sp>
      <p:sp>
        <p:nvSpPr>
          <p:cNvPr id="5" name="Нижний колонтитул 4">
            <a:extLst>
              <a:ext uri="{FF2B5EF4-FFF2-40B4-BE49-F238E27FC236}">
                <a16:creationId xmlns:a16="http://schemas.microsoft.com/office/drawing/2014/main" id="{EDEC9CBC-1164-0D6B-3DDE-FCA552C71D9F}"/>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CCFC1296-FFC1-D80C-5F05-236EE181CDC9}"/>
              </a:ext>
            </a:extLst>
          </p:cNvPr>
          <p:cNvSpPr>
            <a:spLocks noGrp="1"/>
          </p:cNvSpPr>
          <p:nvPr>
            <p:ph type="sldNum" sz="quarter" idx="12"/>
          </p:nvPr>
        </p:nvSpPr>
        <p:spPr/>
        <p:txBody>
          <a:bodyPr/>
          <a:lstStyle/>
          <a:p>
            <a:fld id="{9D03F016-83BD-4E70-8719-6FB82F4E2A47}" type="slidenum">
              <a:rPr lang="ru-RU" smtClean="0"/>
              <a:t>‹#›</a:t>
            </a:fld>
            <a:endParaRPr lang="ru-RU"/>
          </a:p>
        </p:txBody>
      </p:sp>
    </p:spTree>
    <p:extLst>
      <p:ext uri="{BB962C8B-B14F-4D97-AF65-F5344CB8AC3E}">
        <p14:creationId xmlns:p14="http://schemas.microsoft.com/office/powerpoint/2010/main" val="36538236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861B36E-A635-31E5-20FC-0A28C044152F}"/>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CB7DA0CE-33EB-ACB6-5D8C-62771B2C6975}"/>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a:extLst>
              <a:ext uri="{FF2B5EF4-FFF2-40B4-BE49-F238E27FC236}">
                <a16:creationId xmlns:a16="http://schemas.microsoft.com/office/drawing/2014/main" id="{AC55FB84-3B62-11FC-BADB-0CC331F53E07}"/>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a:extLst>
              <a:ext uri="{FF2B5EF4-FFF2-40B4-BE49-F238E27FC236}">
                <a16:creationId xmlns:a16="http://schemas.microsoft.com/office/drawing/2014/main" id="{CD203222-BCF8-BC93-199A-FB0117EA35BF}"/>
              </a:ext>
            </a:extLst>
          </p:cNvPr>
          <p:cNvSpPr>
            <a:spLocks noGrp="1"/>
          </p:cNvSpPr>
          <p:nvPr>
            <p:ph type="dt" sz="half" idx="10"/>
          </p:nvPr>
        </p:nvSpPr>
        <p:spPr/>
        <p:txBody>
          <a:bodyPr/>
          <a:lstStyle/>
          <a:p>
            <a:fld id="{F88B4CF7-4AF6-4F22-BEAD-2FF1E49FC008}" type="datetimeFigureOut">
              <a:rPr lang="ru-RU" smtClean="0"/>
              <a:t>11.06.2026</a:t>
            </a:fld>
            <a:endParaRPr lang="ru-RU"/>
          </a:p>
        </p:txBody>
      </p:sp>
      <p:sp>
        <p:nvSpPr>
          <p:cNvPr id="6" name="Нижний колонтитул 5">
            <a:extLst>
              <a:ext uri="{FF2B5EF4-FFF2-40B4-BE49-F238E27FC236}">
                <a16:creationId xmlns:a16="http://schemas.microsoft.com/office/drawing/2014/main" id="{0AA7554A-E3FF-755B-791D-EA0C4C67E14C}"/>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DD680759-B447-516E-6784-B830157C1107}"/>
              </a:ext>
            </a:extLst>
          </p:cNvPr>
          <p:cNvSpPr>
            <a:spLocks noGrp="1"/>
          </p:cNvSpPr>
          <p:nvPr>
            <p:ph type="sldNum" sz="quarter" idx="12"/>
          </p:nvPr>
        </p:nvSpPr>
        <p:spPr/>
        <p:txBody>
          <a:bodyPr/>
          <a:lstStyle/>
          <a:p>
            <a:fld id="{9D03F016-83BD-4E70-8719-6FB82F4E2A47}" type="slidenum">
              <a:rPr lang="ru-RU" smtClean="0"/>
              <a:t>‹#›</a:t>
            </a:fld>
            <a:endParaRPr lang="ru-RU"/>
          </a:p>
        </p:txBody>
      </p:sp>
    </p:spTree>
    <p:extLst>
      <p:ext uri="{BB962C8B-B14F-4D97-AF65-F5344CB8AC3E}">
        <p14:creationId xmlns:p14="http://schemas.microsoft.com/office/powerpoint/2010/main" val="33907205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1283F4A-7B16-2DD9-D313-E9D893C9DE82}"/>
              </a:ext>
            </a:extLst>
          </p:cNvPr>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a:extLst>
              <a:ext uri="{FF2B5EF4-FFF2-40B4-BE49-F238E27FC236}">
                <a16:creationId xmlns:a16="http://schemas.microsoft.com/office/drawing/2014/main" id="{CA5B86F8-F692-920D-005E-A59C5021040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F4CD940E-B132-92E1-2C20-04B44AADE524}"/>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id="{05CE11D4-8557-FA7E-D927-71CB8BF0BF4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35C9D972-1075-143C-B071-2E1788BDA17F}"/>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75C52461-0BB6-1488-ECA3-9EE735B77565}"/>
              </a:ext>
            </a:extLst>
          </p:cNvPr>
          <p:cNvSpPr>
            <a:spLocks noGrp="1"/>
          </p:cNvSpPr>
          <p:nvPr>
            <p:ph type="dt" sz="half" idx="10"/>
          </p:nvPr>
        </p:nvSpPr>
        <p:spPr/>
        <p:txBody>
          <a:bodyPr/>
          <a:lstStyle/>
          <a:p>
            <a:fld id="{F88B4CF7-4AF6-4F22-BEAD-2FF1E49FC008}" type="datetimeFigureOut">
              <a:rPr lang="ru-RU" smtClean="0"/>
              <a:t>11.06.2026</a:t>
            </a:fld>
            <a:endParaRPr lang="ru-RU"/>
          </a:p>
        </p:txBody>
      </p:sp>
      <p:sp>
        <p:nvSpPr>
          <p:cNvPr id="8" name="Нижний колонтитул 7">
            <a:extLst>
              <a:ext uri="{FF2B5EF4-FFF2-40B4-BE49-F238E27FC236}">
                <a16:creationId xmlns:a16="http://schemas.microsoft.com/office/drawing/2014/main" id="{04B6AA5F-FFFF-4FA9-5310-67F009D1D701}"/>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8B473069-0C6C-D3F7-BC81-C6DC0271713D}"/>
              </a:ext>
            </a:extLst>
          </p:cNvPr>
          <p:cNvSpPr>
            <a:spLocks noGrp="1"/>
          </p:cNvSpPr>
          <p:nvPr>
            <p:ph type="sldNum" sz="quarter" idx="12"/>
          </p:nvPr>
        </p:nvSpPr>
        <p:spPr/>
        <p:txBody>
          <a:bodyPr/>
          <a:lstStyle/>
          <a:p>
            <a:fld id="{9D03F016-83BD-4E70-8719-6FB82F4E2A47}" type="slidenum">
              <a:rPr lang="ru-RU" smtClean="0"/>
              <a:t>‹#›</a:t>
            </a:fld>
            <a:endParaRPr lang="ru-RU"/>
          </a:p>
        </p:txBody>
      </p:sp>
    </p:spTree>
    <p:extLst>
      <p:ext uri="{BB962C8B-B14F-4D97-AF65-F5344CB8AC3E}">
        <p14:creationId xmlns:p14="http://schemas.microsoft.com/office/powerpoint/2010/main" val="2985038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D35F4A0-94D6-0D4C-C348-EF56CA7A925B}"/>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003EC721-A186-358E-F85C-D0F77F4499E2}"/>
              </a:ext>
            </a:extLst>
          </p:cNvPr>
          <p:cNvSpPr>
            <a:spLocks noGrp="1"/>
          </p:cNvSpPr>
          <p:nvPr>
            <p:ph type="dt" sz="half" idx="10"/>
          </p:nvPr>
        </p:nvSpPr>
        <p:spPr/>
        <p:txBody>
          <a:bodyPr/>
          <a:lstStyle/>
          <a:p>
            <a:fld id="{F88B4CF7-4AF6-4F22-BEAD-2FF1E49FC008}" type="datetimeFigureOut">
              <a:rPr lang="ru-RU" smtClean="0"/>
              <a:t>11.06.2026</a:t>
            </a:fld>
            <a:endParaRPr lang="ru-RU"/>
          </a:p>
        </p:txBody>
      </p:sp>
      <p:sp>
        <p:nvSpPr>
          <p:cNvPr id="4" name="Нижний колонтитул 3">
            <a:extLst>
              <a:ext uri="{FF2B5EF4-FFF2-40B4-BE49-F238E27FC236}">
                <a16:creationId xmlns:a16="http://schemas.microsoft.com/office/drawing/2014/main" id="{0A6EAB19-BA8F-EBBC-11E3-D375A887F7DA}"/>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ABC69F74-1E52-FF2F-8D0C-62EEC424771B}"/>
              </a:ext>
            </a:extLst>
          </p:cNvPr>
          <p:cNvSpPr>
            <a:spLocks noGrp="1"/>
          </p:cNvSpPr>
          <p:nvPr>
            <p:ph type="sldNum" sz="quarter" idx="12"/>
          </p:nvPr>
        </p:nvSpPr>
        <p:spPr/>
        <p:txBody>
          <a:bodyPr/>
          <a:lstStyle/>
          <a:p>
            <a:fld id="{9D03F016-83BD-4E70-8719-6FB82F4E2A47}" type="slidenum">
              <a:rPr lang="ru-RU" smtClean="0"/>
              <a:t>‹#›</a:t>
            </a:fld>
            <a:endParaRPr lang="ru-RU"/>
          </a:p>
        </p:txBody>
      </p:sp>
    </p:spTree>
    <p:extLst>
      <p:ext uri="{BB962C8B-B14F-4D97-AF65-F5344CB8AC3E}">
        <p14:creationId xmlns:p14="http://schemas.microsoft.com/office/powerpoint/2010/main" val="24709441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152EE020-CA6F-9108-4FF8-26A77D1731A8}"/>
              </a:ext>
            </a:extLst>
          </p:cNvPr>
          <p:cNvSpPr>
            <a:spLocks noGrp="1"/>
          </p:cNvSpPr>
          <p:nvPr>
            <p:ph type="dt" sz="half" idx="10"/>
          </p:nvPr>
        </p:nvSpPr>
        <p:spPr/>
        <p:txBody>
          <a:bodyPr/>
          <a:lstStyle/>
          <a:p>
            <a:fld id="{F88B4CF7-4AF6-4F22-BEAD-2FF1E49FC008}" type="datetimeFigureOut">
              <a:rPr lang="ru-RU" smtClean="0"/>
              <a:t>11.06.2026</a:t>
            </a:fld>
            <a:endParaRPr lang="ru-RU"/>
          </a:p>
        </p:txBody>
      </p:sp>
      <p:sp>
        <p:nvSpPr>
          <p:cNvPr id="3" name="Нижний колонтитул 2">
            <a:extLst>
              <a:ext uri="{FF2B5EF4-FFF2-40B4-BE49-F238E27FC236}">
                <a16:creationId xmlns:a16="http://schemas.microsoft.com/office/drawing/2014/main" id="{C8DB28F2-528A-7DE4-AFCF-8C38E2ADF74A}"/>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id="{6FF57E9B-279D-DACC-2910-C5584558DEBE}"/>
              </a:ext>
            </a:extLst>
          </p:cNvPr>
          <p:cNvSpPr>
            <a:spLocks noGrp="1"/>
          </p:cNvSpPr>
          <p:nvPr>
            <p:ph type="sldNum" sz="quarter" idx="12"/>
          </p:nvPr>
        </p:nvSpPr>
        <p:spPr/>
        <p:txBody>
          <a:bodyPr/>
          <a:lstStyle/>
          <a:p>
            <a:fld id="{9D03F016-83BD-4E70-8719-6FB82F4E2A47}" type="slidenum">
              <a:rPr lang="ru-RU" smtClean="0"/>
              <a:t>‹#›</a:t>
            </a:fld>
            <a:endParaRPr lang="ru-RU"/>
          </a:p>
        </p:txBody>
      </p:sp>
    </p:spTree>
    <p:extLst>
      <p:ext uri="{BB962C8B-B14F-4D97-AF65-F5344CB8AC3E}">
        <p14:creationId xmlns:p14="http://schemas.microsoft.com/office/powerpoint/2010/main" val="23139188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E8455E4-588B-0775-6008-828B0A657792}"/>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a:extLst>
              <a:ext uri="{FF2B5EF4-FFF2-40B4-BE49-F238E27FC236}">
                <a16:creationId xmlns:a16="http://schemas.microsoft.com/office/drawing/2014/main" id="{85C47F7F-BCF0-E21A-2815-ADCF7DF787E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7B3AFC81-F203-EAFC-0025-66C06C6363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0BAD4733-9180-06BF-F88D-EFAB9D394DA4}"/>
              </a:ext>
            </a:extLst>
          </p:cNvPr>
          <p:cNvSpPr>
            <a:spLocks noGrp="1"/>
          </p:cNvSpPr>
          <p:nvPr>
            <p:ph type="dt" sz="half" idx="10"/>
          </p:nvPr>
        </p:nvSpPr>
        <p:spPr/>
        <p:txBody>
          <a:bodyPr/>
          <a:lstStyle/>
          <a:p>
            <a:fld id="{F88B4CF7-4AF6-4F22-BEAD-2FF1E49FC008}" type="datetimeFigureOut">
              <a:rPr lang="ru-RU" smtClean="0"/>
              <a:t>11.06.2026</a:t>
            </a:fld>
            <a:endParaRPr lang="ru-RU"/>
          </a:p>
        </p:txBody>
      </p:sp>
      <p:sp>
        <p:nvSpPr>
          <p:cNvPr id="6" name="Нижний колонтитул 5">
            <a:extLst>
              <a:ext uri="{FF2B5EF4-FFF2-40B4-BE49-F238E27FC236}">
                <a16:creationId xmlns:a16="http://schemas.microsoft.com/office/drawing/2014/main" id="{53EC1BBB-16DB-F7A9-B6A6-2BCDADFB09A5}"/>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ECF6C7F0-D6BF-4AB3-9BEC-3B0425606C08}"/>
              </a:ext>
            </a:extLst>
          </p:cNvPr>
          <p:cNvSpPr>
            <a:spLocks noGrp="1"/>
          </p:cNvSpPr>
          <p:nvPr>
            <p:ph type="sldNum" sz="quarter" idx="12"/>
          </p:nvPr>
        </p:nvSpPr>
        <p:spPr/>
        <p:txBody>
          <a:bodyPr/>
          <a:lstStyle/>
          <a:p>
            <a:fld id="{9D03F016-83BD-4E70-8719-6FB82F4E2A47}" type="slidenum">
              <a:rPr lang="ru-RU" smtClean="0"/>
              <a:t>‹#›</a:t>
            </a:fld>
            <a:endParaRPr lang="ru-RU"/>
          </a:p>
        </p:txBody>
      </p:sp>
    </p:spTree>
    <p:extLst>
      <p:ext uri="{BB962C8B-B14F-4D97-AF65-F5344CB8AC3E}">
        <p14:creationId xmlns:p14="http://schemas.microsoft.com/office/powerpoint/2010/main" val="12365456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6F2DED5-04C7-4AAE-DF4B-393982072614}"/>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a:extLst>
              <a:ext uri="{FF2B5EF4-FFF2-40B4-BE49-F238E27FC236}">
                <a16:creationId xmlns:a16="http://schemas.microsoft.com/office/drawing/2014/main" id="{C41EAA2A-1A22-06A7-1C92-EF67D656E46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a:extLst>
              <a:ext uri="{FF2B5EF4-FFF2-40B4-BE49-F238E27FC236}">
                <a16:creationId xmlns:a16="http://schemas.microsoft.com/office/drawing/2014/main" id="{F86676A4-CF17-4211-8EDE-3ED2696B85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DEDF13EE-27AF-BDC3-F473-83CB6B67D4DA}"/>
              </a:ext>
            </a:extLst>
          </p:cNvPr>
          <p:cNvSpPr>
            <a:spLocks noGrp="1"/>
          </p:cNvSpPr>
          <p:nvPr>
            <p:ph type="dt" sz="half" idx="10"/>
          </p:nvPr>
        </p:nvSpPr>
        <p:spPr/>
        <p:txBody>
          <a:bodyPr/>
          <a:lstStyle/>
          <a:p>
            <a:fld id="{F88B4CF7-4AF6-4F22-BEAD-2FF1E49FC008}" type="datetimeFigureOut">
              <a:rPr lang="ru-RU" smtClean="0"/>
              <a:t>11.06.2026</a:t>
            </a:fld>
            <a:endParaRPr lang="ru-RU"/>
          </a:p>
        </p:txBody>
      </p:sp>
      <p:sp>
        <p:nvSpPr>
          <p:cNvPr id="6" name="Нижний колонтитул 5">
            <a:extLst>
              <a:ext uri="{FF2B5EF4-FFF2-40B4-BE49-F238E27FC236}">
                <a16:creationId xmlns:a16="http://schemas.microsoft.com/office/drawing/2014/main" id="{F239E47E-6F7E-81A7-C925-1B194492089E}"/>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D9943A82-87B5-7738-E6F4-9A5C3CF96B95}"/>
              </a:ext>
            </a:extLst>
          </p:cNvPr>
          <p:cNvSpPr>
            <a:spLocks noGrp="1"/>
          </p:cNvSpPr>
          <p:nvPr>
            <p:ph type="sldNum" sz="quarter" idx="12"/>
          </p:nvPr>
        </p:nvSpPr>
        <p:spPr/>
        <p:txBody>
          <a:bodyPr/>
          <a:lstStyle/>
          <a:p>
            <a:fld id="{9D03F016-83BD-4E70-8719-6FB82F4E2A47}" type="slidenum">
              <a:rPr lang="ru-RU" smtClean="0"/>
              <a:t>‹#›</a:t>
            </a:fld>
            <a:endParaRPr lang="ru-RU"/>
          </a:p>
        </p:txBody>
      </p:sp>
    </p:spTree>
    <p:extLst>
      <p:ext uri="{BB962C8B-B14F-4D97-AF65-F5344CB8AC3E}">
        <p14:creationId xmlns:p14="http://schemas.microsoft.com/office/powerpoint/2010/main" val="32173087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EDFA2F-77F1-8EB3-684A-4E926B9F6339}"/>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DCBB0E2F-EE73-1E97-A84E-6F47F88ACA4E}"/>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02DC3890-4EDC-8027-03CC-95CA1C7AF638}"/>
              </a:ext>
            </a:extLst>
          </p:cNvPr>
          <p:cNvSpPr>
            <a:spLocks noGrp="1"/>
          </p:cNvSpPr>
          <p:nvPr>
            <p:ph type="dt" sz="half" idx="10"/>
          </p:nvPr>
        </p:nvSpPr>
        <p:spPr/>
        <p:txBody>
          <a:bodyPr/>
          <a:lstStyle/>
          <a:p>
            <a:fld id="{F88B4CF7-4AF6-4F22-BEAD-2FF1E49FC008}" type="datetimeFigureOut">
              <a:rPr lang="ru-RU" smtClean="0"/>
              <a:t>11.06.2026</a:t>
            </a:fld>
            <a:endParaRPr lang="ru-RU"/>
          </a:p>
        </p:txBody>
      </p:sp>
      <p:sp>
        <p:nvSpPr>
          <p:cNvPr id="5" name="Нижний колонтитул 4">
            <a:extLst>
              <a:ext uri="{FF2B5EF4-FFF2-40B4-BE49-F238E27FC236}">
                <a16:creationId xmlns:a16="http://schemas.microsoft.com/office/drawing/2014/main" id="{4835E2E5-3107-6C9E-560D-E110A60C277E}"/>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1F4D7735-BC02-B7FF-ACAD-CB3D46C05CB2}"/>
              </a:ext>
            </a:extLst>
          </p:cNvPr>
          <p:cNvSpPr>
            <a:spLocks noGrp="1"/>
          </p:cNvSpPr>
          <p:nvPr>
            <p:ph type="sldNum" sz="quarter" idx="12"/>
          </p:nvPr>
        </p:nvSpPr>
        <p:spPr/>
        <p:txBody>
          <a:bodyPr/>
          <a:lstStyle/>
          <a:p>
            <a:fld id="{9D03F016-83BD-4E70-8719-6FB82F4E2A47}" type="slidenum">
              <a:rPr lang="ru-RU" smtClean="0"/>
              <a:t>‹#›</a:t>
            </a:fld>
            <a:endParaRPr lang="ru-RU"/>
          </a:p>
        </p:txBody>
      </p:sp>
    </p:spTree>
    <p:extLst>
      <p:ext uri="{BB962C8B-B14F-4D97-AF65-F5344CB8AC3E}">
        <p14:creationId xmlns:p14="http://schemas.microsoft.com/office/powerpoint/2010/main" val="29210333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CB9D3597-2524-CD9D-AD3C-0DC905AFD1B5}"/>
              </a:ext>
            </a:extLst>
          </p:cNvPr>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F5CBE3D2-65C8-4853-31F6-C55F578182D5}"/>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37A6249E-8C62-A318-9F82-E7F6D4F3E1B7}"/>
              </a:ext>
            </a:extLst>
          </p:cNvPr>
          <p:cNvSpPr>
            <a:spLocks noGrp="1"/>
          </p:cNvSpPr>
          <p:nvPr>
            <p:ph type="dt" sz="half" idx="10"/>
          </p:nvPr>
        </p:nvSpPr>
        <p:spPr/>
        <p:txBody>
          <a:bodyPr/>
          <a:lstStyle/>
          <a:p>
            <a:fld id="{F88B4CF7-4AF6-4F22-BEAD-2FF1E49FC008}" type="datetimeFigureOut">
              <a:rPr lang="ru-RU" smtClean="0"/>
              <a:t>11.06.2026</a:t>
            </a:fld>
            <a:endParaRPr lang="ru-RU"/>
          </a:p>
        </p:txBody>
      </p:sp>
      <p:sp>
        <p:nvSpPr>
          <p:cNvPr id="5" name="Нижний колонтитул 4">
            <a:extLst>
              <a:ext uri="{FF2B5EF4-FFF2-40B4-BE49-F238E27FC236}">
                <a16:creationId xmlns:a16="http://schemas.microsoft.com/office/drawing/2014/main" id="{BA355BF8-3977-2E2A-4E85-641F45A97225}"/>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0C3D9A94-207A-44F8-4B19-A5C6418ED19A}"/>
              </a:ext>
            </a:extLst>
          </p:cNvPr>
          <p:cNvSpPr>
            <a:spLocks noGrp="1"/>
          </p:cNvSpPr>
          <p:nvPr>
            <p:ph type="sldNum" sz="quarter" idx="12"/>
          </p:nvPr>
        </p:nvSpPr>
        <p:spPr/>
        <p:txBody>
          <a:bodyPr/>
          <a:lstStyle/>
          <a:p>
            <a:fld id="{9D03F016-83BD-4E70-8719-6FB82F4E2A47}" type="slidenum">
              <a:rPr lang="ru-RU" smtClean="0"/>
              <a:t>‹#›</a:t>
            </a:fld>
            <a:endParaRPr lang="ru-RU"/>
          </a:p>
        </p:txBody>
      </p:sp>
    </p:spTree>
    <p:extLst>
      <p:ext uri="{BB962C8B-B14F-4D97-AF65-F5344CB8AC3E}">
        <p14:creationId xmlns:p14="http://schemas.microsoft.com/office/powerpoint/2010/main" val="18702747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F21F760-EE1A-B1A1-CEC9-9330EF33C4E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a:extLst>
              <a:ext uri="{FF2B5EF4-FFF2-40B4-BE49-F238E27FC236}">
                <a16:creationId xmlns:a16="http://schemas.microsoft.com/office/drawing/2014/main" id="{AF49959F-23B6-55D9-353A-FDD49907D14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4EA2F3B0-A1C7-E96A-B0AA-5B3D1B7E6F4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88B4CF7-4AF6-4F22-BEAD-2FF1E49FC008}" type="datetimeFigureOut">
              <a:rPr lang="ru-RU" smtClean="0"/>
              <a:t>11.06.2026</a:t>
            </a:fld>
            <a:endParaRPr lang="ru-RU"/>
          </a:p>
        </p:txBody>
      </p:sp>
      <p:sp>
        <p:nvSpPr>
          <p:cNvPr id="5" name="Нижний колонтитул 4">
            <a:extLst>
              <a:ext uri="{FF2B5EF4-FFF2-40B4-BE49-F238E27FC236}">
                <a16:creationId xmlns:a16="http://schemas.microsoft.com/office/drawing/2014/main" id="{E09A8AFD-931A-32B7-8484-1510FD8696E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ru-RU"/>
          </a:p>
        </p:txBody>
      </p:sp>
      <p:sp>
        <p:nvSpPr>
          <p:cNvPr id="6" name="Номер слайда 5">
            <a:extLst>
              <a:ext uri="{FF2B5EF4-FFF2-40B4-BE49-F238E27FC236}">
                <a16:creationId xmlns:a16="http://schemas.microsoft.com/office/drawing/2014/main" id="{ED858EC8-F0E9-FD89-1484-1F138B393E7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D03F016-83BD-4E70-8719-6FB82F4E2A47}" type="slidenum">
              <a:rPr lang="ru-RU" smtClean="0"/>
              <a:t>‹#›</a:t>
            </a:fld>
            <a:endParaRPr lang="ru-RU"/>
          </a:p>
        </p:txBody>
      </p:sp>
    </p:spTree>
    <p:extLst>
      <p:ext uri="{BB962C8B-B14F-4D97-AF65-F5344CB8AC3E}">
        <p14:creationId xmlns:p14="http://schemas.microsoft.com/office/powerpoint/2010/main" val="9556363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479" userDrawn="1">
          <p15:clr>
            <a:srgbClr val="F26B43"/>
          </p15:clr>
        </p15:guide>
        <p15:guide id="2" pos="3840" userDrawn="1">
          <p15:clr>
            <a:srgbClr val="F26B43"/>
          </p15:clr>
        </p15:guide>
        <p15:guide id="3" pos="5223" userDrawn="1">
          <p15:clr>
            <a:srgbClr val="F26B43"/>
          </p15:clr>
        </p15:guide>
        <p15:guide id="4" orient="horz" pos="1457" userDrawn="1">
          <p15:clr>
            <a:srgbClr val="F26B43"/>
          </p15:clr>
        </p15:guide>
        <p15:guide id="6" orient="horz" pos="2160" userDrawn="1">
          <p15:clr>
            <a:srgbClr val="F26B43"/>
          </p15:clr>
        </p15:guide>
        <p15:guide id="7" orient="horz" pos="459" userDrawn="1">
          <p15:clr>
            <a:srgbClr val="F26B43"/>
          </p15:clr>
        </p15:guide>
        <p15:guide id="8" pos="665" userDrawn="1">
          <p15:clr>
            <a:srgbClr val="F26B43"/>
          </p15:clr>
        </p15:guide>
        <p15:guide id="9" pos="7015" userDrawn="1">
          <p15:clr>
            <a:srgbClr val="F26B43"/>
          </p15:clr>
        </p15:guide>
        <p15:guide id="10" orient="horz" pos="1094" userDrawn="1">
          <p15:clr>
            <a:srgbClr val="F26B43"/>
          </p15:clr>
        </p15:guide>
        <p15:guide id="11" orient="horz" pos="3861"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sv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одзаголовок 2">
            <a:extLst>
              <a:ext uri="{FF2B5EF4-FFF2-40B4-BE49-F238E27FC236}">
                <a16:creationId xmlns:a16="http://schemas.microsoft.com/office/drawing/2014/main" id="{4F67FEE4-C78F-3821-024E-152305C89E51}"/>
              </a:ext>
            </a:extLst>
          </p:cNvPr>
          <p:cNvSpPr>
            <a:spLocks noGrp="1"/>
          </p:cNvSpPr>
          <p:nvPr>
            <p:ph type="subTitle" idx="1"/>
          </p:nvPr>
        </p:nvSpPr>
        <p:spPr>
          <a:xfrm>
            <a:off x="1060767" y="3947823"/>
            <a:ext cx="6736125" cy="1856984"/>
          </a:xfrm>
        </p:spPr>
        <p:txBody>
          <a:bodyPr>
            <a:normAutofit/>
          </a:bodyPr>
          <a:lstStyle/>
          <a:p>
            <a:pPr algn="l">
              <a:lnSpc>
                <a:spcPct val="100000"/>
              </a:lnSpc>
            </a:pPr>
            <a:r>
              <a:rPr lang="ru-RU" dirty="0"/>
              <a:t>Выполнил: студент группы ПС–21 очной формы обучения Жуков Максим Игоревич</a:t>
            </a:r>
          </a:p>
          <a:p>
            <a:pPr algn="l"/>
            <a:r>
              <a:rPr lang="ru-RU" dirty="0"/>
              <a:t>Руководитель: доцент, кандидат </a:t>
            </a:r>
            <a:r>
              <a:rPr lang="ru-RU" dirty="0" err="1"/>
              <a:t>физ</a:t>
            </a:r>
            <a:r>
              <a:rPr lang="ru-RU" dirty="0"/>
              <a:t>-мат наук</a:t>
            </a:r>
            <a:br>
              <a:rPr lang="ru-RU" dirty="0"/>
            </a:br>
            <a:r>
              <a:rPr lang="ru-RU" dirty="0"/>
              <a:t>Козлов Александр Иванович</a:t>
            </a:r>
          </a:p>
        </p:txBody>
      </p:sp>
      <p:sp>
        <p:nvSpPr>
          <p:cNvPr id="5" name="TextBox 4">
            <a:extLst>
              <a:ext uri="{FF2B5EF4-FFF2-40B4-BE49-F238E27FC236}">
                <a16:creationId xmlns:a16="http://schemas.microsoft.com/office/drawing/2014/main" id="{2F7B1535-9ABB-7021-8313-1801EA0DB845}"/>
              </a:ext>
            </a:extLst>
          </p:cNvPr>
          <p:cNvSpPr txBox="1"/>
          <p:nvPr/>
        </p:nvSpPr>
        <p:spPr>
          <a:xfrm>
            <a:off x="1055688" y="1754791"/>
            <a:ext cx="10075545" cy="1446550"/>
          </a:xfrm>
          <a:prstGeom prst="rect">
            <a:avLst/>
          </a:prstGeom>
          <a:noFill/>
        </p:spPr>
        <p:txBody>
          <a:bodyPr wrap="square">
            <a:spAutoFit/>
          </a:bodyPr>
          <a:lstStyle/>
          <a:p>
            <a:pPr algn="ctr"/>
            <a:r>
              <a:rPr lang="ru-RU" sz="4400" dirty="0">
                <a:latin typeface="+mj-lt"/>
                <a:ea typeface="+mj-ea"/>
                <a:cs typeface="+mj-cs"/>
              </a:rPr>
              <a:t>Планирование траекторий полётов БПЛА в пространстве с ограничениями</a:t>
            </a:r>
            <a:endParaRPr lang="en-US" sz="4400" dirty="0">
              <a:latin typeface="+mj-lt"/>
              <a:ea typeface="+mj-ea"/>
              <a:cs typeface="+mj-cs"/>
            </a:endParaRPr>
          </a:p>
        </p:txBody>
      </p:sp>
    </p:spTree>
    <p:extLst>
      <p:ext uri="{BB962C8B-B14F-4D97-AF65-F5344CB8AC3E}">
        <p14:creationId xmlns:p14="http://schemas.microsoft.com/office/powerpoint/2010/main" val="40404075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63DABDE-1979-0E88-26E9-520CE9939154}"/>
              </a:ext>
            </a:extLst>
          </p:cNvPr>
          <p:cNvSpPr>
            <a:spLocks noGrp="1"/>
          </p:cNvSpPr>
          <p:nvPr>
            <p:ph type="title"/>
          </p:nvPr>
        </p:nvSpPr>
        <p:spPr>
          <a:xfrm>
            <a:off x="1063852" y="731159"/>
            <a:ext cx="10080625" cy="1005566"/>
          </a:xfrm>
        </p:spPr>
        <p:txBody>
          <a:bodyPr>
            <a:normAutofit/>
          </a:bodyPr>
          <a:lstStyle/>
          <a:p>
            <a:r>
              <a:rPr lang="ru-RU" sz="3600" b="1" dirty="0">
                <a:solidFill>
                  <a:srgbClr val="246AF3"/>
                </a:solidFill>
              </a:rPr>
              <a:t>Формулировка задачи</a:t>
            </a:r>
          </a:p>
        </p:txBody>
      </p:sp>
      <p:pic>
        <p:nvPicPr>
          <p:cNvPr id="9" name="Picture 6" descr="Фрагмент">
            <a:extLst>
              <a:ext uri="{FF2B5EF4-FFF2-40B4-BE49-F238E27FC236}">
                <a16:creationId xmlns:a16="http://schemas.microsoft.com/office/drawing/2014/main" id="{ADF16622-1C41-1D86-1579-527F8AB6E7EA}"/>
              </a:ext>
            </a:extLst>
          </p:cNvPr>
          <p:cNvPicPr>
            <a:picLocks noChangeAspect="1"/>
          </p:cNvPicPr>
          <p:nvPr/>
        </p:nvPicPr>
        <p:blipFill>
          <a:blip r:embed="rId3"/>
          <a:stretch>
            <a:fillRect/>
          </a:stretch>
        </p:blipFill>
        <p:spPr>
          <a:xfrm>
            <a:off x="2960683" y="3559376"/>
            <a:ext cx="5442780" cy="2910896"/>
          </a:xfrm>
          <a:prstGeom prst="rect">
            <a:avLst/>
          </a:prstGeom>
        </p:spPr>
      </p:pic>
      <p:sp>
        <p:nvSpPr>
          <p:cNvPr id="3" name="TextBox 2">
            <a:extLst>
              <a:ext uri="{FF2B5EF4-FFF2-40B4-BE49-F238E27FC236}">
                <a16:creationId xmlns:a16="http://schemas.microsoft.com/office/drawing/2014/main" id="{B586F106-D051-381C-CA7B-342C6291CD1B}"/>
              </a:ext>
            </a:extLst>
          </p:cNvPr>
          <p:cNvSpPr txBox="1"/>
          <p:nvPr/>
        </p:nvSpPr>
        <p:spPr>
          <a:xfrm>
            <a:off x="11510319" y="6285606"/>
            <a:ext cx="302741" cy="369332"/>
          </a:xfrm>
          <a:prstGeom prst="rect">
            <a:avLst/>
          </a:prstGeom>
          <a:noFill/>
        </p:spPr>
        <p:txBody>
          <a:bodyPr wrap="square" rtlCol="0">
            <a:spAutoFit/>
          </a:bodyPr>
          <a:lstStyle/>
          <a:p>
            <a:fld id="{9C552BD2-5A63-4FC4-A35C-09FBB5EA732A}" type="slidenum">
              <a:rPr lang="en-US" smtClean="0"/>
              <a:t>2</a:t>
            </a:fld>
            <a:endParaRPr lang="en-US" dirty="0"/>
          </a:p>
        </p:txBody>
      </p:sp>
      <p:sp>
        <p:nvSpPr>
          <p:cNvPr id="5" name="TextBox 4">
            <a:extLst>
              <a:ext uri="{FF2B5EF4-FFF2-40B4-BE49-F238E27FC236}">
                <a16:creationId xmlns:a16="http://schemas.microsoft.com/office/drawing/2014/main" id="{522033BB-7C66-891D-50DF-E3CE472537B8}"/>
              </a:ext>
            </a:extLst>
          </p:cNvPr>
          <p:cNvSpPr txBox="1"/>
          <p:nvPr/>
        </p:nvSpPr>
        <p:spPr>
          <a:xfrm>
            <a:off x="1063852" y="1741519"/>
            <a:ext cx="10072460" cy="907941"/>
          </a:xfrm>
          <a:prstGeom prst="rect">
            <a:avLst/>
          </a:prstGeom>
          <a:noFill/>
        </p:spPr>
        <p:txBody>
          <a:bodyPr wrap="square">
            <a:spAutoFit/>
          </a:bodyPr>
          <a:lstStyle/>
          <a:p>
            <a:pPr>
              <a:lnSpc>
                <a:spcPct val="113000"/>
              </a:lnSpc>
            </a:pPr>
            <a:r>
              <a:rPr lang="ru-RU" sz="2400" dirty="0"/>
              <a:t>Требуется построить траекторию для роя БПЛА, чтобы дроны за минимальное время  поразили несколько целей одновременно.</a:t>
            </a:r>
            <a:endParaRPr lang="en-US" sz="2400" dirty="0"/>
          </a:p>
        </p:txBody>
      </p:sp>
    </p:spTree>
    <p:extLst>
      <p:ext uri="{BB962C8B-B14F-4D97-AF65-F5344CB8AC3E}">
        <p14:creationId xmlns:p14="http://schemas.microsoft.com/office/powerpoint/2010/main" val="31265166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4191649-35E0-4BD9-D93F-F594B857F424}"/>
              </a:ext>
            </a:extLst>
          </p:cNvPr>
          <p:cNvSpPr>
            <a:spLocks noGrp="1"/>
          </p:cNvSpPr>
          <p:nvPr>
            <p:ph type="title"/>
          </p:nvPr>
        </p:nvSpPr>
        <p:spPr>
          <a:xfrm>
            <a:off x="1055688" y="728663"/>
            <a:ext cx="10080625" cy="1008062"/>
          </a:xfrm>
        </p:spPr>
        <p:txBody>
          <a:bodyPr>
            <a:normAutofit/>
          </a:bodyPr>
          <a:lstStyle/>
          <a:p>
            <a:r>
              <a:rPr lang="ru-RU" sz="3600" b="1" dirty="0">
                <a:solidFill>
                  <a:srgbClr val="246AF3"/>
                </a:solidFill>
              </a:rPr>
              <a:t>Конкретизация вида задачи</a:t>
            </a:r>
          </a:p>
        </p:txBody>
      </p:sp>
      <p:sp>
        <p:nvSpPr>
          <p:cNvPr id="3" name="Объект 2">
            <a:extLst>
              <a:ext uri="{FF2B5EF4-FFF2-40B4-BE49-F238E27FC236}">
                <a16:creationId xmlns:a16="http://schemas.microsoft.com/office/drawing/2014/main" id="{A12E1678-DE54-C589-8605-47B84DF817D6}"/>
              </a:ext>
            </a:extLst>
          </p:cNvPr>
          <p:cNvSpPr>
            <a:spLocks noGrp="1"/>
          </p:cNvSpPr>
          <p:nvPr>
            <p:ph idx="1"/>
          </p:nvPr>
        </p:nvSpPr>
        <p:spPr>
          <a:xfrm>
            <a:off x="1055688" y="1748011"/>
            <a:ext cx="10080625" cy="4852760"/>
          </a:xfrm>
        </p:spPr>
        <p:txBody>
          <a:bodyPr>
            <a:normAutofit/>
          </a:bodyPr>
          <a:lstStyle/>
          <a:p>
            <a:pPr marL="548640" lvl="0" indent="-457200">
              <a:lnSpc>
                <a:spcPct val="114000"/>
              </a:lnSpc>
              <a:spcBef>
                <a:spcPts val="0"/>
              </a:spcBef>
              <a:spcAft>
                <a:spcPts val="600"/>
              </a:spcAft>
              <a:buFont typeface="+mj-lt"/>
              <a:buAutoNum type="arabicPeriod"/>
              <a:defRPr/>
            </a:pPr>
            <a:r>
              <a:rPr lang="ru-RU" sz="2400" dirty="0"/>
              <a:t>Выполнению миссии могут помешать ПВО и радары. </a:t>
            </a:r>
            <a:endParaRPr lang="en-US" sz="2400" dirty="0"/>
          </a:p>
          <a:p>
            <a:pPr marL="548640" lvl="0" indent="-457200">
              <a:lnSpc>
                <a:spcPct val="114000"/>
              </a:lnSpc>
              <a:spcBef>
                <a:spcPts val="0"/>
              </a:spcBef>
              <a:spcAft>
                <a:spcPts val="600"/>
              </a:spcAft>
              <a:buFont typeface="+mj-lt"/>
              <a:buAutoNum type="arabicPeriod"/>
              <a:defRPr/>
            </a:pPr>
            <a:r>
              <a:rPr lang="ru-RU" sz="2400" dirty="0"/>
              <a:t>У дронов есть ограничения на скорость и максимальным углом подъёма и поворота. </a:t>
            </a:r>
          </a:p>
          <a:p>
            <a:pPr marL="548640" indent="-457200">
              <a:lnSpc>
                <a:spcPct val="114000"/>
              </a:lnSpc>
              <a:spcBef>
                <a:spcPts val="0"/>
              </a:spcBef>
              <a:spcAft>
                <a:spcPts val="600"/>
              </a:spcAft>
              <a:buFont typeface="+mj-lt"/>
              <a:buAutoNum type="arabicPeriod"/>
            </a:pPr>
            <a:r>
              <a:rPr lang="ru-RU" sz="2400" dirty="0"/>
              <a:t>Длина траектории не должна быть больше некоторого числа.</a:t>
            </a:r>
          </a:p>
          <a:p>
            <a:pPr marL="548640" indent="-457200">
              <a:lnSpc>
                <a:spcPct val="114000"/>
              </a:lnSpc>
              <a:spcBef>
                <a:spcPts val="0"/>
              </a:spcBef>
              <a:spcAft>
                <a:spcPts val="600"/>
              </a:spcAft>
              <a:buFont typeface="+mj-lt"/>
              <a:buAutoNum type="arabicPeriod"/>
            </a:pPr>
            <a:r>
              <a:rPr lang="ru-RU" sz="2400" dirty="0"/>
              <a:t>Цель – минимизировать длину пути, резкость смены высоты, гладкость и угрозы от ПВО и радаров.</a:t>
            </a:r>
          </a:p>
          <a:p>
            <a:pPr marL="91440" indent="0">
              <a:lnSpc>
                <a:spcPct val="114000"/>
              </a:lnSpc>
              <a:spcBef>
                <a:spcPts val="0"/>
              </a:spcBef>
              <a:spcAft>
                <a:spcPts val="600"/>
              </a:spcAft>
              <a:buNone/>
            </a:pPr>
            <a:endParaRPr lang="ru-RU" sz="2400" dirty="0"/>
          </a:p>
        </p:txBody>
      </p:sp>
      <p:sp>
        <p:nvSpPr>
          <p:cNvPr id="4" name="TextBox 3">
            <a:extLst>
              <a:ext uri="{FF2B5EF4-FFF2-40B4-BE49-F238E27FC236}">
                <a16:creationId xmlns:a16="http://schemas.microsoft.com/office/drawing/2014/main" id="{C87D05A4-6539-C74D-3851-2C109575FBB8}"/>
              </a:ext>
            </a:extLst>
          </p:cNvPr>
          <p:cNvSpPr txBox="1"/>
          <p:nvPr/>
        </p:nvSpPr>
        <p:spPr>
          <a:xfrm>
            <a:off x="11510319" y="6285606"/>
            <a:ext cx="302741" cy="369332"/>
          </a:xfrm>
          <a:prstGeom prst="rect">
            <a:avLst/>
          </a:prstGeom>
          <a:noFill/>
        </p:spPr>
        <p:txBody>
          <a:bodyPr wrap="square" rtlCol="0">
            <a:spAutoFit/>
          </a:bodyPr>
          <a:lstStyle/>
          <a:p>
            <a:fld id="{9C552BD2-5A63-4FC4-A35C-09FBB5EA732A}" type="slidenum">
              <a:rPr lang="en-US" smtClean="0"/>
              <a:t>3</a:t>
            </a:fld>
            <a:endParaRPr lang="en-US" dirty="0"/>
          </a:p>
        </p:txBody>
      </p:sp>
    </p:spTree>
    <p:extLst>
      <p:ext uri="{BB962C8B-B14F-4D97-AF65-F5344CB8AC3E}">
        <p14:creationId xmlns:p14="http://schemas.microsoft.com/office/powerpoint/2010/main" val="41739509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5E23139-BDEE-F4FF-FA2D-E225B9D24E45}"/>
              </a:ext>
            </a:extLst>
          </p:cNvPr>
          <p:cNvSpPr>
            <a:spLocks noGrp="1"/>
          </p:cNvSpPr>
          <p:nvPr>
            <p:ph type="title"/>
          </p:nvPr>
        </p:nvSpPr>
        <p:spPr>
          <a:xfrm>
            <a:off x="1055688" y="1736724"/>
            <a:ext cx="10080625" cy="573933"/>
          </a:xfrm>
        </p:spPr>
        <p:txBody>
          <a:bodyPr>
            <a:noAutofit/>
          </a:bodyPr>
          <a:lstStyle/>
          <a:p>
            <a:r>
              <a:rPr lang="ru-RU" sz="3600" b="1" dirty="0">
                <a:solidFill>
                  <a:srgbClr val="246AF3"/>
                </a:solidFill>
              </a:rPr>
              <a:t>Цель</a:t>
            </a:r>
          </a:p>
        </p:txBody>
      </p:sp>
      <p:sp>
        <p:nvSpPr>
          <p:cNvPr id="6" name="TextBox 5">
            <a:extLst>
              <a:ext uri="{FF2B5EF4-FFF2-40B4-BE49-F238E27FC236}">
                <a16:creationId xmlns:a16="http://schemas.microsoft.com/office/drawing/2014/main" id="{7B3C5081-628C-A892-B00F-6D2A4CC1D261}"/>
              </a:ext>
            </a:extLst>
          </p:cNvPr>
          <p:cNvSpPr txBox="1"/>
          <p:nvPr/>
        </p:nvSpPr>
        <p:spPr>
          <a:xfrm>
            <a:off x="1055689" y="2320794"/>
            <a:ext cx="10080624" cy="1335366"/>
          </a:xfrm>
          <a:prstGeom prst="rect">
            <a:avLst/>
          </a:prstGeom>
          <a:noFill/>
        </p:spPr>
        <p:txBody>
          <a:bodyPr wrap="square">
            <a:spAutoFit/>
          </a:bodyPr>
          <a:lstStyle/>
          <a:p>
            <a:pPr marR="0">
              <a:lnSpc>
                <a:spcPct val="114000"/>
              </a:lnSpc>
              <a:spcAft>
                <a:spcPts val="600"/>
              </a:spcAft>
              <a:buNone/>
            </a:pPr>
            <a:r>
              <a:rPr lang="ru-RU" sz="2400" dirty="0"/>
              <a:t>Написать программный модуль, реализующий работу алгоритма, находящего оптимальную траекторию для каждого дрона в кластере БПЛА с учётом наличия радаров и систем ПВО и других БПЛА. </a:t>
            </a:r>
          </a:p>
        </p:txBody>
      </p:sp>
      <p:sp>
        <p:nvSpPr>
          <p:cNvPr id="3" name="TextBox 2">
            <a:extLst>
              <a:ext uri="{FF2B5EF4-FFF2-40B4-BE49-F238E27FC236}">
                <a16:creationId xmlns:a16="http://schemas.microsoft.com/office/drawing/2014/main" id="{2808FAEF-1AD0-3677-35D0-C197EE7B784D}"/>
              </a:ext>
            </a:extLst>
          </p:cNvPr>
          <p:cNvSpPr txBox="1"/>
          <p:nvPr/>
        </p:nvSpPr>
        <p:spPr>
          <a:xfrm>
            <a:off x="11510319" y="6285606"/>
            <a:ext cx="302741" cy="369332"/>
          </a:xfrm>
          <a:prstGeom prst="rect">
            <a:avLst/>
          </a:prstGeom>
          <a:noFill/>
        </p:spPr>
        <p:txBody>
          <a:bodyPr wrap="square" rtlCol="0">
            <a:spAutoFit/>
          </a:bodyPr>
          <a:lstStyle/>
          <a:p>
            <a:fld id="{9C552BD2-5A63-4FC4-A35C-09FBB5EA732A}" type="slidenum">
              <a:rPr lang="en-US" smtClean="0"/>
              <a:t>4</a:t>
            </a:fld>
            <a:endParaRPr lang="en-US" dirty="0"/>
          </a:p>
        </p:txBody>
      </p:sp>
    </p:spTree>
    <p:extLst>
      <p:ext uri="{BB962C8B-B14F-4D97-AF65-F5344CB8AC3E}">
        <p14:creationId xmlns:p14="http://schemas.microsoft.com/office/powerpoint/2010/main" val="41056172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4191649-35E0-4BD9-D93F-F594B857F424}"/>
              </a:ext>
            </a:extLst>
          </p:cNvPr>
          <p:cNvSpPr>
            <a:spLocks noGrp="1"/>
          </p:cNvSpPr>
          <p:nvPr>
            <p:ph type="title"/>
          </p:nvPr>
        </p:nvSpPr>
        <p:spPr>
          <a:xfrm>
            <a:off x="1055687" y="734332"/>
            <a:ext cx="9816193" cy="1012121"/>
          </a:xfrm>
        </p:spPr>
        <p:txBody>
          <a:bodyPr>
            <a:normAutofit/>
          </a:bodyPr>
          <a:lstStyle/>
          <a:p>
            <a:r>
              <a:rPr lang="ru-RU" sz="3600" b="1" dirty="0">
                <a:solidFill>
                  <a:srgbClr val="246AF3"/>
                </a:solidFill>
              </a:rPr>
              <a:t>Задачи</a:t>
            </a:r>
          </a:p>
        </p:txBody>
      </p:sp>
      <p:sp>
        <p:nvSpPr>
          <p:cNvPr id="5" name="TextBox 4">
            <a:extLst>
              <a:ext uri="{FF2B5EF4-FFF2-40B4-BE49-F238E27FC236}">
                <a16:creationId xmlns:a16="http://schemas.microsoft.com/office/drawing/2014/main" id="{4BA981EC-CED5-5E85-91FA-55BE88DE2230}"/>
              </a:ext>
            </a:extLst>
          </p:cNvPr>
          <p:cNvSpPr txBox="1"/>
          <p:nvPr/>
        </p:nvSpPr>
        <p:spPr>
          <a:xfrm>
            <a:off x="1069782" y="1746453"/>
            <a:ext cx="10066531" cy="2408223"/>
          </a:xfrm>
          <a:prstGeom prst="rect">
            <a:avLst/>
          </a:prstGeom>
          <a:noFill/>
        </p:spPr>
        <p:txBody>
          <a:bodyPr wrap="square">
            <a:spAutoFit/>
          </a:bodyPr>
          <a:lstStyle/>
          <a:p>
            <a:pPr marL="342900" marR="0" lvl="0" indent="-342900" algn="l">
              <a:lnSpc>
                <a:spcPct val="114000"/>
              </a:lnSpc>
              <a:spcAft>
                <a:spcPts val="600"/>
              </a:spcAft>
              <a:buFont typeface="+mj-lt"/>
              <a:buAutoNum type="arabicPeriod"/>
              <a:tabLst>
                <a:tab pos="803275" algn="l"/>
              </a:tabLst>
            </a:pPr>
            <a:r>
              <a:rPr lang="ru-RU" sz="2400" dirty="0"/>
              <a:t>Проанализировать существующие алгоритмы.</a:t>
            </a:r>
            <a:endParaRPr lang="en-US" sz="2400" dirty="0"/>
          </a:p>
          <a:p>
            <a:pPr marL="342900" marR="0" lvl="0" indent="-342900" algn="l">
              <a:lnSpc>
                <a:spcPct val="114000"/>
              </a:lnSpc>
              <a:spcAft>
                <a:spcPts val="600"/>
              </a:spcAft>
              <a:buFont typeface="+mj-lt"/>
              <a:buAutoNum type="arabicPeriod"/>
              <a:tabLst>
                <a:tab pos="803275" algn="l"/>
              </a:tabLst>
            </a:pPr>
            <a:r>
              <a:rPr lang="ru-RU" sz="2400" dirty="0"/>
              <a:t>Оценить сложность выбранного алгоритма и обосновать его применимость.</a:t>
            </a:r>
            <a:endParaRPr lang="en-US" sz="2400" dirty="0"/>
          </a:p>
          <a:p>
            <a:pPr marL="342900" marR="0" lvl="0" indent="-342900" algn="l">
              <a:lnSpc>
                <a:spcPct val="114000"/>
              </a:lnSpc>
              <a:spcAft>
                <a:spcPts val="600"/>
              </a:spcAft>
              <a:buFont typeface="+mj-lt"/>
              <a:buAutoNum type="arabicPeriod"/>
              <a:tabLst>
                <a:tab pos="803275" algn="l"/>
              </a:tabLst>
            </a:pPr>
            <a:r>
              <a:rPr lang="ru-RU" sz="2400" dirty="0"/>
              <a:t>Разработать программу, реализующую алгоритм.</a:t>
            </a:r>
            <a:endParaRPr lang="en-US" sz="2400" dirty="0"/>
          </a:p>
          <a:p>
            <a:pPr marL="342900" marR="0" lvl="0" indent="-342900" algn="l">
              <a:lnSpc>
                <a:spcPct val="114000"/>
              </a:lnSpc>
              <a:spcAft>
                <a:spcPts val="600"/>
              </a:spcAft>
              <a:buFont typeface="+mj-lt"/>
              <a:buAutoNum type="arabicPeriod"/>
              <a:tabLst>
                <a:tab pos="803275" algn="l"/>
              </a:tabLst>
            </a:pPr>
            <a:r>
              <a:rPr lang="ru-RU" sz="2400" dirty="0"/>
              <a:t>Протестировать алгоритм на тестовых и на реальных данных.</a:t>
            </a:r>
            <a:endParaRPr lang="en-US" sz="2400" dirty="0"/>
          </a:p>
        </p:txBody>
      </p:sp>
      <p:sp>
        <p:nvSpPr>
          <p:cNvPr id="3" name="TextBox 2">
            <a:extLst>
              <a:ext uri="{FF2B5EF4-FFF2-40B4-BE49-F238E27FC236}">
                <a16:creationId xmlns:a16="http://schemas.microsoft.com/office/drawing/2014/main" id="{A5139695-90C5-D320-4326-ECD50E14BD80}"/>
              </a:ext>
            </a:extLst>
          </p:cNvPr>
          <p:cNvSpPr txBox="1"/>
          <p:nvPr/>
        </p:nvSpPr>
        <p:spPr>
          <a:xfrm>
            <a:off x="11510319" y="6285606"/>
            <a:ext cx="302741" cy="369332"/>
          </a:xfrm>
          <a:prstGeom prst="rect">
            <a:avLst/>
          </a:prstGeom>
          <a:noFill/>
        </p:spPr>
        <p:txBody>
          <a:bodyPr wrap="square" rtlCol="0">
            <a:spAutoFit/>
          </a:bodyPr>
          <a:lstStyle/>
          <a:p>
            <a:fld id="{9C552BD2-5A63-4FC4-A35C-09FBB5EA732A}" type="slidenum">
              <a:rPr lang="en-US" smtClean="0"/>
              <a:t>5</a:t>
            </a:fld>
            <a:endParaRPr lang="en-US" dirty="0"/>
          </a:p>
        </p:txBody>
      </p:sp>
    </p:spTree>
    <p:extLst>
      <p:ext uri="{BB962C8B-B14F-4D97-AF65-F5344CB8AC3E}">
        <p14:creationId xmlns:p14="http://schemas.microsoft.com/office/powerpoint/2010/main" val="15008079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DBB97B-FE9D-43D3-0E52-77CE58952637}"/>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6D5B123F-5867-7DBB-55E7-2FA6446F1AF6}"/>
              </a:ext>
            </a:extLst>
          </p:cNvPr>
          <p:cNvSpPr>
            <a:spLocks noGrp="1"/>
          </p:cNvSpPr>
          <p:nvPr>
            <p:ph type="title"/>
          </p:nvPr>
        </p:nvSpPr>
        <p:spPr>
          <a:xfrm>
            <a:off x="1055687" y="734332"/>
            <a:ext cx="9816193" cy="1012121"/>
          </a:xfrm>
        </p:spPr>
        <p:txBody>
          <a:bodyPr>
            <a:normAutofit/>
          </a:bodyPr>
          <a:lstStyle/>
          <a:p>
            <a:r>
              <a:rPr lang="ru-RU" sz="3600" b="1" dirty="0">
                <a:solidFill>
                  <a:srgbClr val="246AF3"/>
                </a:solidFill>
              </a:rPr>
              <a:t>Проверка вычислений</a:t>
            </a:r>
          </a:p>
        </p:txBody>
      </p:sp>
      <mc:AlternateContent xmlns:mc="http://schemas.openxmlformats.org/markup-compatibility/2006" xmlns:a14="http://schemas.microsoft.com/office/drawing/2010/main">
        <mc:Choice Requires="a14">
          <p:sp>
            <p:nvSpPr>
              <p:cNvPr id="6" name="Текст 2">
                <a:extLst>
                  <a:ext uri="{FF2B5EF4-FFF2-40B4-BE49-F238E27FC236}">
                    <a16:creationId xmlns:a16="http://schemas.microsoft.com/office/drawing/2014/main" id="{F1679661-3607-EC4F-67A5-694EDA5DC2BD}"/>
                  </a:ext>
                </a:extLst>
              </p:cNvPr>
              <p:cNvSpPr txBox="1">
                <a:spLocks/>
              </p:cNvSpPr>
              <p:nvPr/>
            </p:nvSpPr>
            <p:spPr>
              <a:xfrm>
                <a:off x="1055688" y="1755260"/>
                <a:ext cx="10080625" cy="437407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spcBef>
                    <a:spcPts val="0"/>
                  </a:spcBef>
                  <a:spcAft>
                    <a:spcPts val="600"/>
                  </a:spcAft>
                  <a:buNone/>
                </a:pPr>
                <a:r>
                  <a:rPr lang="ru-RU" sz="2400" dirty="0"/>
                  <a:t>Предположим, что задано множество зон ПВО </a:t>
                </a:r>
                <a14:m>
                  <m:oMath xmlns:m="http://schemas.openxmlformats.org/officeDocument/2006/math">
                    <m:d>
                      <m:dPr>
                        <m:begChr m:val="{"/>
                        <m:endChr m:val="}"/>
                        <m:sepChr m:val=","/>
                        <m:ctrlPr>
                          <a:rPr lang="ar-AE" sz="2400" i="1">
                            <a:latin typeface="Cambria Math" panose="02040503050406030204" pitchFamily="18" charset="0"/>
                          </a:rPr>
                        </m:ctrlPr>
                      </m:dPr>
                      <m:e>
                        <m:sSub>
                          <m:sSubPr>
                            <m:ctrlPr>
                              <a:rPr lang="ar-AE" sz="2400" i="1">
                                <a:latin typeface="Cambria Math" panose="02040503050406030204" pitchFamily="18" charset="0"/>
                              </a:rPr>
                            </m:ctrlPr>
                          </m:sSubPr>
                          <m:e>
                            <m:r>
                              <a:rPr lang="ar-AE" sz="2400">
                                <a:latin typeface="Cambria Math" panose="02040503050406030204" pitchFamily="18" charset="0"/>
                              </a:rPr>
                              <m:t>𝑍</m:t>
                            </m:r>
                          </m:e>
                          <m:sub>
                            <m:r>
                              <a:rPr lang="ar-AE" sz="2400">
                                <a:latin typeface="Cambria Math" panose="02040503050406030204" pitchFamily="18" charset="0"/>
                              </a:rPr>
                              <m:t>1</m:t>
                            </m:r>
                          </m:sub>
                        </m:sSub>
                      </m:e>
                      <m:e>
                        <m:sSub>
                          <m:sSubPr>
                            <m:ctrlPr>
                              <a:rPr lang="ar-AE" sz="2400" i="1">
                                <a:latin typeface="Cambria Math" panose="02040503050406030204" pitchFamily="18" charset="0"/>
                              </a:rPr>
                            </m:ctrlPr>
                          </m:sSubPr>
                          <m:e>
                            <m:r>
                              <a:rPr lang="ar-AE" sz="2400">
                                <a:latin typeface="Cambria Math" panose="02040503050406030204" pitchFamily="18" charset="0"/>
                              </a:rPr>
                              <m:t>𝑍</m:t>
                            </m:r>
                          </m:e>
                          <m:sub>
                            <m:r>
                              <a:rPr lang="ar-AE" sz="2400">
                                <a:latin typeface="Cambria Math" panose="02040503050406030204" pitchFamily="18" charset="0"/>
                              </a:rPr>
                              <m:t>2</m:t>
                            </m:r>
                          </m:sub>
                        </m:sSub>
                      </m:e>
                      <m:e>
                        <m:r>
                          <a:rPr lang="ar-AE" sz="2400">
                            <a:latin typeface="Cambria Math" panose="02040503050406030204" pitchFamily="18" charset="0"/>
                          </a:rPr>
                          <m:t>…</m:t>
                        </m:r>
                      </m:e>
                      <m:e>
                        <m:sSub>
                          <m:sSubPr>
                            <m:ctrlPr>
                              <a:rPr lang="ar-AE" sz="2400" i="1">
                                <a:latin typeface="Cambria Math" panose="02040503050406030204" pitchFamily="18" charset="0"/>
                              </a:rPr>
                            </m:ctrlPr>
                          </m:sSubPr>
                          <m:e>
                            <m:r>
                              <a:rPr lang="ar-AE" sz="2400">
                                <a:latin typeface="Cambria Math" panose="02040503050406030204" pitchFamily="18" charset="0"/>
                              </a:rPr>
                              <m:t>𝑍</m:t>
                            </m:r>
                          </m:e>
                          <m:sub>
                            <m:r>
                              <a:rPr lang="ar-AE" sz="2400">
                                <a:latin typeface="Cambria Math" panose="02040503050406030204" pitchFamily="18" charset="0"/>
                              </a:rPr>
                              <m:t>𝑈</m:t>
                            </m:r>
                          </m:sub>
                        </m:sSub>
                      </m:e>
                    </m:d>
                  </m:oMath>
                </a14:m>
                <a:r>
                  <a:rPr lang="ru-RU" sz="2400" dirty="0"/>
                  <a:t> и положительное целое число </a:t>
                </a:r>
                <a14:m>
                  <m:oMath xmlns:m="http://schemas.openxmlformats.org/officeDocument/2006/math">
                    <m:r>
                      <a:rPr lang="ru-RU" sz="2400">
                        <a:latin typeface="Cambria Math" panose="02040503050406030204" pitchFamily="18" charset="0"/>
                      </a:rPr>
                      <m:t>𝑘</m:t>
                    </m:r>
                  </m:oMath>
                </a14:m>
                <a:r>
                  <a:rPr lang="ru-RU" sz="2400" dirty="0"/>
                  <a:t>. Можно ли за полиномиальное время определить, существует ли набор из не более чем </a:t>
                </a:r>
                <a14:m>
                  <m:oMath xmlns:m="http://schemas.openxmlformats.org/officeDocument/2006/math">
                    <m:r>
                      <a:rPr lang="ru-RU" sz="2400">
                        <a:latin typeface="Cambria Math" panose="02040503050406030204" pitchFamily="18" charset="0"/>
                      </a:rPr>
                      <m:t>𝑘</m:t>
                    </m:r>
                  </m:oMath>
                </a14:m>
                <a:r>
                  <a:rPr lang="ru-RU" sz="2400" dirty="0"/>
                  <a:t> путевых точек, при котором маршрут БПЛА обходит все зоны ПВО?  </a:t>
                </a:r>
              </a:p>
              <a:p>
                <a:pPr marL="0" indent="0">
                  <a:lnSpc>
                    <a:spcPct val="120000"/>
                  </a:lnSpc>
                  <a:spcBef>
                    <a:spcPts val="0"/>
                  </a:spcBef>
                  <a:spcAft>
                    <a:spcPts val="600"/>
                  </a:spcAft>
                  <a:buNone/>
                </a:pPr>
                <a:r>
                  <a:rPr lang="ru-RU" sz="2400" dirty="0"/>
                  <a:t>Задача является NP-полной.</a:t>
                </a:r>
              </a:p>
            </p:txBody>
          </p:sp>
        </mc:Choice>
        <mc:Fallback xmlns="">
          <p:sp>
            <p:nvSpPr>
              <p:cNvPr id="6" name="Текст 2">
                <a:extLst>
                  <a:ext uri="{FF2B5EF4-FFF2-40B4-BE49-F238E27FC236}">
                    <a16:creationId xmlns:a16="http://schemas.microsoft.com/office/drawing/2014/main" id="{F1679661-3607-EC4F-67A5-694EDA5DC2BD}"/>
                  </a:ext>
                </a:extLst>
              </p:cNvPr>
              <p:cNvSpPr txBox="1">
                <a:spLocks noRot="1" noChangeAspect="1" noMove="1" noResize="1" noEditPoints="1" noAdjustHandles="1" noChangeArrowheads="1" noChangeShapeType="1" noTextEdit="1"/>
              </p:cNvSpPr>
              <p:nvPr/>
            </p:nvSpPr>
            <p:spPr>
              <a:xfrm>
                <a:off x="1055688" y="1755260"/>
                <a:ext cx="10080625" cy="4374078"/>
              </a:xfrm>
              <a:prstGeom prst="rect">
                <a:avLst/>
              </a:prstGeom>
              <a:blipFill>
                <a:blip r:embed="rId3"/>
                <a:stretch>
                  <a:fillRect l="-907" r="-363"/>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215ED5C9-94BA-851E-99BC-4FC4989410AD}"/>
              </a:ext>
            </a:extLst>
          </p:cNvPr>
          <p:cNvSpPr txBox="1"/>
          <p:nvPr/>
        </p:nvSpPr>
        <p:spPr>
          <a:xfrm>
            <a:off x="11510319" y="6285606"/>
            <a:ext cx="302741" cy="369332"/>
          </a:xfrm>
          <a:prstGeom prst="rect">
            <a:avLst/>
          </a:prstGeom>
          <a:noFill/>
        </p:spPr>
        <p:txBody>
          <a:bodyPr wrap="square" rtlCol="0">
            <a:spAutoFit/>
          </a:bodyPr>
          <a:lstStyle/>
          <a:p>
            <a:fld id="{9C552BD2-5A63-4FC4-A35C-09FBB5EA732A}" type="slidenum">
              <a:rPr lang="en-US" smtClean="0"/>
              <a:t>6</a:t>
            </a:fld>
            <a:endParaRPr lang="en-US" dirty="0"/>
          </a:p>
        </p:txBody>
      </p:sp>
    </p:spTree>
    <p:extLst>
      <p:ext uri="{BB962C8B-B14F-4D97-AF65-F5344CB8AC3E}">
        <p14:creationId xmlns:p14="http://schemas.microsoft.com/office/powerpoint/2010/main" val="13704958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6D51D08-4E36-3C59-C285-A89819162EA3}"/>
              </a:ext>
            </a:extLst>
          </p:cNvPr>
          <p:cNvSpPr>
            <a:spLocks noGrp="1"/>
          </p:cNvSpPr>
          <p:nvPr>
            <p:ph type="title"/>
          </p:nvPr>
        </p:nvSpPr>
        <p:spPr>
          <a:xfrm>
            <a:off x="1063852" y="736827"/>
            <a:ext cx="10072461" cy="1018296"/>
          </a:xfrm>
        </p:spPr>
        <p:txBody>
          <a:bodyPr>
            <a:normAutofit/>
          </a:bodyPr>
          <a:lstStyle/>
          <a:p>
            <a:r>
              <a:rPr lang="ru-RU" sz="3600" b="1" dirty="0">
                <a:solidFill>
                  <a:srgbClr val="246AF3"/>
                </a:solidFill>
              </a:rPr>
              <a:t>Дискретизация задачи</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6A6B241-AA3E-942F-EEDF-0E7B669FE535}"/>
                  </a:ext>
                </a:extLst>
              </p:cNvPr>
              <p:cNvSpPr txBox="1"/>
              <p:nvPr/>
            </p:nvSpPr>
            <p:spPr>
              <a:xfrm>
                <a:off x="1063851" y="1755123"/>
                <a:ext cx="10072461" cy="949684"/>
              </a:xfrm>
              <a:prstGeom prst="rect">
                <a:avLst/>
              </a:prstGeom>
              <a:noFill/>
            </p:spPr>
            <p:txBody>
              <a:bodyPr wrap="square">
                <a:spAutoFit/>
              </a:bodyPr>
              <a:lstStyle/>
              <a:p>
                <a:pPr>
                  <a:lnSpc>
                    <a:spcPct val="120000"/>
                  </a:lnSpc>
                  <a:spcAft>
                    <a:spcPts val="600"/>
                  </a:spcAft>
                </a:pPr>
                <a:r>
                  <a:rPr lang="ru-RU" sz="2400" dirty="0"/>
                  <a:t>Будем представлять траекторию дрона как последовательность точек в </a:t>
                </a:r>
                <a14:m>
                  <m:oMath xmlns:m="http://schemas.openxmlformats.org/officeDocument/2006/math">
                    <m:sSup>
                      <m:sSupPr>
                        <m:ctrlPr>
                          <a:rPr lang="ru-RU" sz="2400" i="1" smtClean="0">
                            <a:latin typeface="Cambria Math" panose="02040503050406030204" pitchFamily="18" charset="0"/>
                          </a:rPr>
                        </m:ctrlPr>
                      </m:sSupPr>
                      <m:e>
                        <m:r>
                          <a:rPr lang="en-US" sz="2400" b="0" i="1" smtClean="0">
                            <a:latin typeface="Cambria Math" panose="02040503050406030204" pitchFamily="18" charset="0"/>
                          </a:rPr>
                          <m:t>𝑅</m:t>
                        </m:r>
                      </m:e>
                      <m:sup>
                        <m:r>
                          <a:rPr lang="en-US" sz="2400" b="0" i="1" smtClean="0">
                            <a:latin typeface="Cambria Math" panose="02040503050406030204" pitchFamily="18" charset="0"/>
                          </a:rPr>
                          <m:t>3</m:t>
                        </m:r>
                      </m:sup>
                    </m:sSup>
                  </m:oMath>
                </a14:m>
                <a:r>
                  <a:rPr lang="en-US" sz="2400" dirty="0"/>
                  <a:t> </a:t>
                </a:r>
                <a:r>
                  <a:rPr lang="ru-RU" sz="2400" dirty="0"/>
                  <a:t>пространстве, которые этот дрон должен посетить.</a:t>
                </a:r>
              </a:p>
            </p:txBody>
          </p:sp>
        </mc:Choice>
        <mc:Fallback xmlns="">
          <p:sp>
            <p:nvSpPr>
              <p:cNvPr id="10" name="TextBox 9">
                <a:extLst>
                  <a:ext uri="{FF2B5EF4-FFF2-40B4-BE49-F238E27FC236}">
                    <a16:creationId xmlns:a16="http://schemas.microsoft.com/office/drawing/2014/main" id="{36A6B241-AA3E-942F-EEDF-0E7B669FE535}"/>
                  </a:ext>
                </a:extLst>
              </p:cNvPr>
              <p:cNvSpPr txBox="1">
                <a:spLocks noRot="1" noChangeAspect="1" noMove="1" noResize="1" noEditPoints="1" noAdjustHandles="1" noChangeArrowheads="1" noChangeShapeType="1" noTextEdit="1"/>
              </p:cNvSpPr>
              <p:nvPr/>
            </p:nvSpPr>
            <p:spPr>
              <a:xfrm>
                <a:off x="1063851" y="1755123"/>
                <a:ext cx="10072461" cy="949684"/>
              </a:xfrm>
              <a:prstGeom prst="rect">
                <a:avLst/>
              </a:prstGeom>
              <a:blipFill>
                <a:blip r:embed="rId3"/>
                <a:stretch>
                  <a:fillRect l="-969" r="-1332" b="-14103"/>
                </a:stretch>
              </a:blipFill>
            </p:spPr>
            <p:txBody>
              <a:bodyPr/>
              <a:lstStyle/>
              <a:p>
                <a:r>
                  <a:rPr lang="en-US">
                    <a:noFill/>
                  </a:rPr>
                  <a:t> </a:t>
                </a:r>
              </a:p>
            </p:txBody>
          </p:sp>
        </mc:Fallback>
      </mc:AlternateContent>
      <p:pic>
        <p:nvPicPr>
          <p:cNvPr id="11" name="Рисунок 10">
            <a:extLst>
              <a:ext uri="{FF2B5EF4-FFF2-40B4-BE49-F238E27FC236}">
                <a16:creationId xmlns:a16="http://schemas.microsoft.com/office/drawing/2014/main" id="{8FF2C830-229A-107F-1839-EF85EE9F5B27}"/>
              </a:ext>
            </a:extLst>
          </p:cNvPr>
          <p:cNvPicPr>
            <a:picLocks noChangeAspect="1"/>
          </p:cNvPicPr>
          <p:nvPr/>
        </p:nvPicPr>
        <p:blipFill>
          <a:blip r:embed="rId4"/>
          <a:srcRect l="880" t="3121" r="699"/>
          <a:stretch>
            <a:fillRect/>
          </a:stretch>
        </p:blipFill>
        <p:spPr>
          <a:xfrm>
            <a:off x="3198845" y="3439071"/>
            <a:ext cx="5386769" cy="3294069"/>
          </a:xfrm>
          <a:prstGeom prst="rect">
            <a:avLst/>
          </a:prstGeom>
        </p:spPr>
      </p:pic>
      <p:sp>
        <p:nvSpPr>
          <p:cNvPr id="3" name="TextBox 2">
            <a:extLst>
              <a:ext uri="{FF2B5EF4-FFF2-40B4-BE49-F238E27FC236}">
                <a16:creationId xmlns:a16="http://schemas.microsoft.com/office/drawing/2014/main" id="{2E6AE273-2D92-E251-7C43-0C51031F4EBD}"/>
              </a:ext>
            </a:extLst>
          </p:cNvPr>
          <p:cNvSpPr txBox="1"/>
          <p:nvPr/>
        </p:nvSpPr>
        <p:spPr>
          <a:xfrm>
            <a:off x="11510319" y="6285606"/>
            <a:ext cx="302741" cy="369332"/>
          </a:xfrm>
          <a:prstGeom prst="rect">
            <a:avLst/>
          </a:prstGeom>
          <a:noFill/>
        </p:spPr>
        <p:txBody>
          <a:bodyPr wrap="square" rtlCol="0">
            <a:spAutoFit/>
          </a:bodyPr>
          <a:lstStyle/>
          <a:p>
            <a:fld id="{9C552BD2-5A63-4FC4-A35C-09FBB5EA732A}" type="slidenum">
              <a:rPr lang="en-US" smtClean="0"/>
              <a:t>7</a:t>
            </a:fld>
            <a:endParaRPr lang="en-US" dirty="0"/>
          </a:p>
        </p:txBody>
      </p:sp>
    </p:spTree>
    <p:extLst>
      <p:ext uri="{BB962C8B-B14F-4D97-AF65-F5344CB8AC3E}">
        <p14:creationId xmlns:p14="http://schemas.microsoft.com/office/powerpoint/2010/main" val="4623924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7FBA77-D3B0-8116-3D7B-A70BDB83191D}"/>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A2088644-E40D-3AB9-A1D7-AAA8BBE5B913}"/>
              </a:ext>
            </a:extLst>
          </p:cNvPr>
          <p:cNvSpPr>
            <a:spLocks noGrp="1"/>
          </p:cNvSpPr>
          <p:nvPr>
            <p:ph type="title"/>
          </p:nvPr>
        </p:nvSpPr>
        <p:spPr>
          <a:xfrm>
            <a:off x="1063852" y="736827"/>
            <a:ext cx="10072461" cy="999898"/>
          </a:xfrm>
        </p:spPr>
        <p:txBody>
          <a:bodyPr>
            <a:normAutofit/>
          </a:bodyPr>
          <a:lstStyle/>
          <a:p>
            <a:r>
              <a:rPr lang="ru-RU" sz="3600" b="1" dirty="0">
                <a:solidFill>
                  <a:srgbClr val="246AF3"/>
                </a:solidFill>
              </a:rPr>
              <a:t>Ограничения задачи</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4F952F1A-8696-7C96-78F5-9538C11ADCCC}"/>
                  </a:ext>
                </a:extLst>
              </p:cNvPr>
              <p:cNvSpPr txBox="1"/>
              <p:nvPr/>
            </p:nvSpPr>
            <p:spPr>
              <a:xfrm>
                <a:off x="1055688" y="1784260"/>
                <a:ext cx="10072461" cy="508088"/>
              </a:xfrm>
              <a:prstGeom prst="rect">
                <a:avLst/>
              </a:prstGeom>
              <a:noFill/>
            </p:spPr>
            <p:txBody>
              <a:bodyPr wrap="square">
                <a:spAutoFit/>
              </a:bodyPr>
              <a:lstStyle/>
              <a:p>
                <a:pPr>
                  <a:lnSpc>
                    <a:spcPct val="120000"/>
                  </a:lnSpc>
                  <a:spcAft>
                    <a:spcPts val="600"/>
                  </a:spcAft>
                </a:pPr>
                <a:r>
                  <a:rPr lang="ru-RU" sz="2400" dirty="0"/>
                  <a:t>Будем учитывает предельные углы подъёма </a:t>
                </a:r>
                <a14:m>
                  <m:oMath xmlns:m="http://schemas.openxmlformats.org/officeDocument/2006/math">
                    <m:sSub>
                      <m:sSubPr>
                        <m:ctrlPr>
                          <a:rPr lang="en-US" sz="2400" i="1">
                            <a:latin typeface="Cambria Math" panose="02040503050406030204" pitchFamily="18" charset="0"/>
                          </a:rPr>
                        </m:ctrlPr>
                      </m:sSubPr>
                      <m:e>
                        <m:r>
                          <a:rPr lang="ru-RU" sz="2400">
                            <a:latin typeface="Cambria Math" panose="02040503050406030204" pitchFamily="18" charset="0"/>
                          </a:rPr>
                          <m:t>𝜑</m:t>
                        </m:r>
                      </m:e>
                      <m:sub>
                        <m:r>
                          <a:rPr lang="ru-RU" sz="2400">
                            <a:latin typeface="Cambria Math" panose="02040503050406030204" pitchFamily="18" charset="0"/>
                          </a:rPr>
                          <m:t>𝑚𝑎𝑥</m:t>
                        </m:r>
                      </m:sub>
                    </m:sSub>
                  </m:oMath>
                </a14:m>
                <a:r>
                  <a:rPr lang="ru-RU" sz="2400" dirty="0"/>
                  <a:t> и поворота </a:t>
                </a:r>
                <a14:m>
                  <m:oMath xmlns:m="http://schemas.openxmlformats.org/officeDocument/2006/math">
                    <m:sSub>
                      <m:sSubPr>
                        <m:ctrlPr>
                          <a:rPr lang="en-US" sz="2400" i="1">
                            <a:latin typeface="Cambria Math" panose="02040503050406030204" pitchFamily="18" charset="0"/>
                          </a:rPr>
                        </m:ctrlPr>
                      </m:sSubPr>
                      <m:e>
                        <m:r>
                          <a:rPr lang="ru-RU" sz="2400">
                            <a:latin typeface="Cambria Math" panose="02040503050406030204" pitchFamily="18" charset="0"/>
                          </a:rPr>
                          <m:t>𝜃</m:t>
                        </m:r>
                      </m:e>
                      <m:sub>
                        <m:r>
                          <a:rPr lang="ru-RU" sz="2400">
                            <a:latin typeface="Cambria Math" panose="02040503050406030204" pitchFamily="18" charset="0"/>
                          </a:rPr>
                          <m:t>𝑚𝑎𝑥</m:t>
                        </m:r>
                      </m:sub>
                    </m:sSub>
                    <m:r>
                      <a:rPr lang="ru-RU" sz="2400" b="0" i="0" smtClean="0">
                        <a:latin typeface="Cambria Math" panose="02040503050406030204" pitchFamily="18" charset="0"/>
                      </a:rPr>
                      <m:t>.</m:t>
                    </m:r>
                  </m:oMath>
                </a14:m>
                <a:endParaRPr lang="ru-RU" sz="2400" dirty="0"/>
              </a:p>
            </p:txBody>
          </p:sp>
        </mc:Choice>
        <mc:Fallback xmlns="">
          <p:sp>
            <p:nvSpPr>
              <p:cNvPr id="10" name="TextBox 9">
                <a:extLst>
                  <a:ext uri="{FF2B5EF4-FFF2-40B4-BE49-F238E27FC236}">
                    <a16:creationId xmlns:a16="http://schemas.microsoft.com/office/drawing/2014/main" id="{4F952F1A-8696-7C96-78F5-9538C11ADCCC}"/>
                  </a:ext>
                </a:extLst>
              </p:cNvPr>
              <p:cNvSpPr txBox="1">
                <a:spLocks noRot="1" noChangeAspect="1" noMove="1" noResize="1" noEditPoints="1" noAdjustHandles="1" noChangeArrowheads="1" noChangeShapeType="1" noTextEdit="1"/>
              </p:cNvSpPr>
              <p:nvPr/>
            </p:nvSpPr>
            <p:spPr>
              <a:xfrm>
                <a:off x="1055688" y="1784260"/>
                <a:ext cx="10072461" cy="508088"/>
              </a:xfrm>
              <a:prstGeom prst="rect">
                <a:avLst/>
              </a:prstGeom>
              <a:blipFill>
                <a:blip r:embed="rId3"/>
                <a:stretch>
                  <a:fillRect l="-908" b="-27711"/>
                </a:stretch>
              </a:blipFill>
            </p:spPr>
            <p:txBody>
              <a:bodyPr/>
              <a:lstStyle/>
              <a:p>
                <a:r>
                  <a:rPr lang="en-US">
                    <a:noFill/>
                  </a:rPr>
                  <a:t> </a:t>
                </a:r>
              </a:p>
            </p:txBody>
          </p:sp>
        </mc:Fallback>
      </mc:AlternateContent>
      <p:pic>
        <p:nvPicPr>
          <p:cNvPr id="6" name="Picture 1">
            <a:extLst>
              <a:ext uri="{FF2B5EF4-FFF2-40B4-BE49-F238E27FC236}">
                <a16:creationId xmlns:a16="http://schemas.microsoft.com/office/drawing/2014/main" id="{369F8DA6-A40F-CC0D-2478-4C38DA4851FF}"/>
              </a:ext>
            </a:extLst>
          </p:cNvPr>
          <p:cNvPicPr>
            <a:picLocks noChangeAspect="1"/>
          </p:cNvPicPr>
          <p:nvPr/>
        </p:nvPicPr>
        <p:blipFill>
          <a:blip r:embed="rId4"/>
          <a:stretch>
            <a:fillRect/>
          </a:stretch>
        </p:blipFill>
        <p:spPr>
          <a:xfrm>
            <a:off x="3931191" y="2709495"/>
            <a:ext cx="4360322" cy="3408551"/>
          </a:xfrm>
          <a:prstGeom prst="rect">
            <a:avLst/>
          </a:prstGeom>
          <a:noFill/>
          <a:ln>
            <a:noFill/>
          </a:ln>
        </p:spPr>
      </p:pic>
      <p:sp>
        <p:nvSpPr>
          <p:cNvPr id="3" name="TextBox 2">
            <a:extLst>
              <a:ext uri="{FF2B5EF4-FFF2-40B4-BE49-F238E27FC236}">
                <a16:creationId xmlns:a16="http://schemas.microsoft.com/office/drawing/2014/main" id="{B33B897E-707F-F601-0AA7-A6A001E1031A}"/>
              </a:ext>
            </a:extLst>
          </p:cNvPr>
          <p:cNvSpPr txBox="1"/>
          <p:nvPr/>
        </p:nvSpPr>
        <p:spPr>
          <a:xfrm>
            <a:off x="11510319" y="6285606"/>
            <a:ext cx="302741" cy="369332"/>
          </a:xfrm>
          <a:prstGeom prst="rect">
            <a:avLst/>
          </a:prstGeom>
          <a:noFill/>
        </p:spPr>
        <p:txBody>
          <a:bodyPr wrap="square" rtlCol="0">
            <a:spAutoFit/>
          </a:bodyPr>
          <a:lstStyle/>
          <a:p>
            <a:fld id="{9C552BD2-5A63-4FC4-A35C-09FBB5EA732A}" type="slidenum">
              <a:rPr lang="en-US" smtClean="0"/>
              <a:t>8</a:t>
            </a:fld>
            <a:endParaRPr lang="en-US" dirty="0"/>
          </a:p>
        </p:txBody>
      </p:sp>
    </p:spTree>
    <p:extLst>
      <p:ext uri="{BB962C8B-B14F-4D97-AF65-F5344CB8AC3E}">
        <p14:creationId xmlns:p14="http://schemas.microsoft.com/office/powerpoint/2010/main" val="38968348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D53C4A-38FF-51D2-95D8-D8D7B56C6333}"/>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E55F8872-495C-12EB-CD2A-170B927D34F3}"/>
              </a:ext>
            </a:extLst>
          </p:cNvPr>
          <p:cNvSpPr>
            <a:spLocks noGrp="1"/>
          </p:cNvSpPr>
          <p:nvPr>
            <p:ph type="title"/>
          </p:nvPr>
        </p:nvSpPr>
        <p:spPr>
          <a:xfrm>
            <a:off x="1063852" y="736827"/>
            <a:ext cx="10072461" cy="999898"/>
          </a:xfrm>
        </p:spPr>
        <p:txBody>
          <a:bodyPr>
            <a:normAutofit/>
          </a:bodyPr>
          <a:lstStyle/>
          <a:p>
            <a:r>
              <a:rPr lang="ru-RU" sz="3600" b="1" dirty="0">
                <a:solidFill>
                  <a:srgbClr val="246AF3"/>
                </a:solidFill>
              </a:rPr>
              <a:t>Ограничения задачи</a:t>
            </a:r>
          </a:p>
        </p:txBody>
      </p:sp>
      <p:pic>
        <p:nvPicPr>
          <p:cNvPr id="3" name="Рисунок 2">
            <a:extLst>
              <a:ext uri="{FF2B5EF4-FFF2-40B4-BE49-F238E27FC236}">
                <a16:creationId xmlns:a16="http://schemas.microsoft.com/office/drawing/2014/main" id="{BFDB7C88-046D-DBC8-D7E2-9FD89FD5DFA8}"/>
              </a:ext>
            </a:extLst>
          </p:cNvPr>
          <p:cNvPicPr>
            <a:picLocks noChangeAspect="1"/>
          </p:cNvPicPr>
          <p:nvPr/>
        </p:nvPicPr>
        <p:blipFill>
          <a:blip r:embed="rId3"/>
          <a:srcRect t="3125" r="537"/>
          <a:stretch>
            <a:fillRect/>
          </a:stretch>
        </p:blipFill>
        <p:spPr>
          <a:xfrm>
            <a:off x="3366136" y="3452007"/>
            <a:ext cx="5272526" cy="3190286"/>
          </a:xfrm>
          <a:prstGeom prst="rect">
            <a:avLst/>
          </a:prstGeom>
        </p:spPr>
      </p:pic>
      <p:sp>
        <p:nvSpPr>
          <p:cNvPr id="4" name="TextBox 3">
            <a:extLst>
              <a:ext uri="{FF2B5EF4-FFF2-40B4-BE49-F238E27FC236}">
                <a16:creationId xmlns:a16="http://schemas.microsoft.com/office/drawing/2014/main" id="{7C8FD139-FC80-400E-C5D3-45347AA79900}"/>
              </a:ext>
            </a:extLst>
          </p:cNvPr>
          <p:cNvSpPr txBox="1"/>
          <p:nvPr/>
        </p:nvSpPr>
        <p:spPr>
          <a:xfrm>
            <a:off x="1063852" y="1751928"/>
            <a:ext cx="10072461" cy="914353"/>
          </a:xfrm>
          <a:prstGeom prst="rect">
            <a:avLst/>
          </a:prstGeom>
          <a:noFill/>
        </p:spPr>
        <p:txBody>
          <a:bodyPr wrap="square">
            <a:spAutoFit/>
          </a:bodyPr>
          <a:lstStyle/>
          <a:p>
            <a:pPr>
              <a:lnSpc>
                <a:spcPct val="114000"/>
              </a:lnSpc>
            </a:pPr>
            <a:r>
              <a:rPr lang="ru-RU" sz="2400" dirty="0"/>
              <a:t>Так как для дронов многократные изменения высоты является сложной задачей. Будем минимизировать дисперсию высоты.</a:t>
            </a:r>
            <a:endParaRPr lang="en-US" sz="2400" dirty="0"/>
          </a:p>
        </p:txBody>
      </p:sp>
      <p:sp>
        <p:nvSpPr>
          <p:cNvPr id="5" name="TextBox 4">
            <a:extLst>
              <a:ext uri="{FF2B5EF4-FFF2-40B4-BE49-F238E27FC236}">
                <a16:creationId xmlns:a16="http://schemas.microsoft.com/office/drawing/2014/main" id="{17044870-10C1-EDBA-8FA3-5D8D467DCBCF}"/>
              </a:ext>
            </a:extLst>
          </p:cNvPr>
          <p:cNvSpPr txBox="1"/>
          <p:nvPr/>
        </p:nvSpPr>
        <p:spPr>
          <a:xfrm>
            <a:off x="11510319" y="6285606"/>
            <a:ext cx="302741" cy="369332"/>
          </a:xfrm>
          <a:prstGeom prst="rect">
            <a:avLst/>
          </a:prstGeom>
          <a:noFill/>
        </p:spPr>
        <p:txBody>
          <a:bodyPr wrap="square" rtlCol="0">
            <a:spAutoFit/>
          </a:bodyPr>
          <a:lstStyle/>
          <a:p>
            <a:fld id="{9C552BD2-5A63-4FC4-A35C-09FBB5EA732A}" type="slidenum">
              <a:rPr lang="en-US" smtClean="0"/>
              <a:t>9</a:t>
            </a:fld>
            <a:endParaRPr lang="en-US" dirty="0"/>
          </a:p>
        </p:txBody>
      </p:sp>
    </p:spTree>
    <p:extLst>
      <p:ext uri="{BB962C8B-B14F-4D97-AF65-F5344CB8AC3E}">
        <p14:creationId xmlns:p14="http://schemas.microsoft.com/office/powerpoint/2010/main" val="37739377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23FE44-C3CB-405E-7196-836100E9A207}"/>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1796E44E-237F-485C-5152-3D72C033DDFB}"/>
              </a:ext>
            </a:extLst>
          </p:cNvPr>
          <p:cNvSpPr>
            <a:spLocks noGrp="1"/>
          </p:cNvSpPr>
          <p:nvPr>
            <p:ph type="title"/>
          </p:nvPr>
        </p:nvSpPr>
        <p:spPr>
          <a:xfrm>
            <a:off x="1063852" y="736827"/>
            <a:ext cx="10072461" cy="999898"/>
          </a:xfrm>
        </p:spPr>
        <p:txBody>
          <a:bodyPr>
            <a:normAutofit/>
          </a:bodyPr>
          <a:lstStyle/>
          <a:p>
            <a:r>
              <a:rPr lang="ru-RU" sz="3600" b="1" dirty="0">
                <a:solidFill>
                  <a:srgbClr val="246AF3"/>
                </a:solidFill>
              </a:rPr>
              <a:t>Ограничения задачи</a:t>
            </a:r>
          </a:p>
        </p:txBody>
      </p:sp>
      <p:sp>
        <p:nvSpPr>
          <p:cNvPr id="10" name="TextBox 9">
            <a:extLst>
              <a:ext uri="{FF2B5EF4-FFF2-40B4-BE49-F238E27FC236}">
                <a16:creationId xmlns:a16="http://schemas.microsoft.com/office/drawing/2014/main" id="{8BCD17A7-D376-2926-454A-B9D7A722CABB}"/>
              </a:ext>
            </a:extLst>
          </p:cNvPr>
          <p:cNvSpPr txBox="1"/>
          <p:nvPr/>
        </p:nvSpPr>
        <p:spPr>
          <a:xfrm>
            <a:off x="1063852" y="1751928"/>
            <a:ext cx="10072461" cy="914353"/>
          </a:xfrm>
          <a:prstGeom prst="rect">
            <a:avLst/>
          </a:prstGeom>
          <a:noFill/>
        </p:spPr>
        <p:txBody>
          <a:bodyPr wrap="square">
            <a:spAutoFit/>
          </a:bodyPr>
          <a:lstStyle/>
          <a:p>
            <a:pPr>
              <a:lnSpc>
                <a:spcPct val="114000"/>
              </a:lnSpc>
              <a:spcAft>
                <a:spcPts val="600"/>
              </a:spcAft>
            </a:pPr>
            <a:r>
              <a:rPr lang="ru-RU" sz="2400" dirty="0"/>
              <a:t>Так же для обеспечения гладкости пути будем штрафовать решения, у которых изменение угла отклонения от точки к точке резкое.</a:t>
            </a:r>
          </a:p>
        </p:txBody>
      </p:sp>
      <p:pic>
        <p:nvPicPr>
          <p:cNvPr id="7" name="Рисунок 6">
            <a:extLst>
              <a:ext uri="{FF2B5EF4-FFF2-40B4-BE49-F238E27FC236}">
                <a16:creationId xmlns:a16="http://schemas.microsoft.com/office/drawing/2014/main" id="{4B79F670-2337-5833-FC28-0439A8BEF4BA}"/>
              </a:ext>
            </a:extLst>
          </p:cNvPr>
          <p:cNvPicPr>
            <a:picLocks noChangeAspect="1"/>
          </p:cNvPicPr>
          <p:nvPr/>
        </p:nvPicPr>
        <p:blipFill>
          <a:blip r:embed="rId3"/>
          <a:stretch>
            <a:fillRect/>
          </a:stretch>
        </p:blipFill>
        <p:spPr>
          <a:xfrm>
            <a:off x="1063853" y="3439068"/>
            <a:ext cx="5032148" cy="2134235"/>
          </a:xfrm>
          <a:prstGeom prst="rect">
            <a:avLst/>
          </a:prstGeom>
        </p:spPr>
      </p:pic>
      <p:pic>
        <p:nvPicPr>
          <p:cNvPr id="9" name="Рисунок 8">
            <a:extLst>
              <a:ext uri="{FF2B5EF4-FFF2-40B4-BE49-F238E27FC236}">
                <a16:creationId xmlns:a16="http://schemas.microsoft.com/office/drawing/2014/main" id="{3F1F8625-BE57-7CC8-1EA5-54DACCF92931}"/>
              </a:ext>
            </a:extLst>
          </p:cNvPr>
          <p:cNvPicPr>
            <a:picLocks noChangeAspect="1"/>
          </p:cNvPicPr>
          <p:nvPr/>
        </p:nvPicPr>
        <p:blipFill>
          <a:blip r:embed="rId4"/>
          <a:srcRect l="-1" r="720"/>
          <a:stretch>
            <a:fillRect/>
          </a:stretch>
        </p:blipFill>
        <p:spPr>
          <a:xfrm>
            <a:off x="6104166" y="3439068"/>
            <a:ext cx="5032148" cy="2145344"/>
          </a:xfrm>
          <a:prstGeom prst="rect">
            <a:avLst/>
          </a:prstGeom>
        </p:spPr>
      </p:pic>
      <p:sp>
        <p:nvSpPr>
          <p:cNvPr id="3" name="TextBox 2">
            <a:extLst>
              <a:ext uri="{FF2B5EF4-FFF2-40B4-BE49-F238E27FC236}">
                <a16:creationId xmlns:a16="http://schemas.microsoft.com/office/drawing/2014/main" id="{1C1F4378-D060-5CF0-A30B-BF8BA7228A17}"/>
              </a:ext>
            </a:extLst>
          </p:cNvPr>
          <p:cNvSpPr txBox="1"/>
          <p:nvPr/>
        </p:nvSpPr>
        <p:spPr>
          <a:xfrm>
            <a:off x="11510319" y="6277232"/>
            <a:ext cx="438665" cy="377706"/>
          </a:xfrm>
          <a:prstGeom prst="rect">
            <a:avLst/>
          </a:prstGeom>
          <a:noFill/>
        </p:spPr>
        <p:txBody>
          <a:bodyPr wrap="square" rtlCol="0">
            <a:spAutoFit/>
          </a:bodyPr>
          <a:lstStyle/>
          <a:p>
            <a:fld id="{9C552BD2-5A63-4FC4-A35C-09FBB5EA732A}" type="slidenum">
              <a:rPr lang="en-US" smtClean="0"/>
              <a:t>10</a:t>
            </a:fld>
            <a:endParaRPr lang="en-US" dirty="0"/>
          </a:p>
        </p:txBody>
      </p:sp>
    </p:spTree>
    <p:extLst>
      <p:ext uri="{BB962C8B-B14F-4D97-AF65-F5344CB8AC3E}">
        <p14:creationId xmlns:p14="http://schemas.microsoft.com/office/powerpoint/2010/main" val="40606775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C7E8C0-4B83-8ED1-01C5-0F7473ACFD88}"/>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D3C85C59-D66E-60B6-5587-51316C369D4D}"/>
              </a:ext>
            </a:extLst>
          </p:cNvPr>
          <p:cNvSpPr>
            <a:spLocks noGrp="1"/>
          </p:cNvSpPr>
          <p:nvPr>
            <p:ph type="title"/>
          </p:nvPr>
        </p:nvSpPr>
        <p:spPr>
          <a:xfrm>
            <a:off x="1063852" y="736827"/>
            <a:ext cx="10072461" cy="999898"/>
          </a:xfrm>
        </p:spPr>
        <p:txBody>
          <a:bodyPr>
            <a:normAutofit/>
          </a:bodyPr>
          <a:lstStyle/>
          <a:p>
            <a:r>
              <a:rPr lang="ru-RU" sz="3600" b="1" dirty="0">
                <a:solidFill>
                  <a:srgbClr val="246AF3"/>
                </a:solidFill>
              </a:rPr>
              <a:t>Ограничения задачи</a:t>
            </a:r>
          </a:p>
        </p:txBody>
      </p:sp>
      <p:sp>
        <p:nvSpPr>
          <p:cNvPr id="10" name="TextBox 9">
            <a:extLst>
              <a:ext uri="{FF2B5EF4-FFF2-40B4-BE49-F238E27FC236}">
                <a16:creationId xmlns:a16="http://schemas.microsoft.com/office/drawing/2014/main" id="{CBE52B5F-6238-76F0-D4F3-FBDEA2ADEAB2}"/>
              </a:ext>
            </a:extLst>
          </p:cNvPr>
          <p:cNvSpPr txBox="1"/>
          <p:nvPr/>
        </p:nvSpPr>
        <p:spPr>
          <a:xfrm>
            <a:off x="1063851" y="1755122"/>
            <a:ext cx="10072461" cy="953146"/>
          </a:xfrm>
          <a:prstGeom prst="rect">
            <a:avLst/>
          </a:prstGeom>
          <a:noFill/>
        </p:spPr>
        <p:txBody>
          <a:bodyPr wrap="square">
            <a:spAutoFit/>
          </a:bodyPr>
          <a:lstStyle/>
          <a:p>
            <a:pPr>
              <a:lnSpc>
                <a:spcPct val="120000"/>
              </a:lnSpc>
              <a:spcAft>
                <a:spcPts val="600"/>
              </a:spcAft>
            </a:pPr>
            <a:r>
              <a:rPr lang="ru-RU" sz="2400" dirty="0"/>
              <a:t>Будем считать коэффициент опасности в зависимости от расстояния до угроз в каждом сегменте пути.</a:t>
            </a:r>
          </a:p>
        </p:txBody>
      </p:sp>
      <p:sp>
        <p:nvSpPr>
          <p:cNvPr id="5" name="TextBox 4">
            <a:extLst>
              <a:ext uri="{FF2B5EF4-FFF2-40B4-BE49-F238E27FC236}">
                <a16:creationId xmlns:a16="http://schemas.microsoft.com/office/drawing/2014/main" id="{6D421E43-C4DC-3CDB-7822-ACDE4BDB0F8B}"/>
              </a:ext>
            </a:extLst>
          </p:cNvPr>
          <p:cNvSpPr txBox="1"/>
          <p:nvPr/>
        </p:nvSpPr>
        <p:spPr>
          <a:xfrm>
            <a:off x="11510319" y="6277232"/>
            <a:ext cx="438665" cy="377706"/>
          </a:xfrm>
          <a:prstGeom prst="rect">
            <a:avLst/>
          </a:prstGeom>
          <a:noFill/>
        </p:spPr>
        <p:txBody>
          <a:bodyPr wrap="square" rtlCol="0">
            <a:spAutoFit/>
          </a:bodyPr>
          <a:lstStyle/>
          <a:p>
            <a:fld id="{9C552BD2-5A63-4FC4-A35C-09FBB5EA732A}" type="slidenum">
              <a:rPr lang="en-US" smtClean="0"/>
              <a:t>11</a:t>
            </a:fld>
            <a:endParaRPr lang="en-US" dirty="0"/>
          </a:p>
        </p:txBody>
      </p:sp>
      <p:pic>
        <p:nvPicPr>
          <p:cNvPr id="6" name="Рисунок 5">
            <a:extLst>
              <a:ext uri="{FF2B5EF4-FFF2-40B4-BE49-F238E27FC236}">
                <a16:creationId xmlns:a16="http://schemas.microsoft.com/office/drawing/2014/main" id="{D434D418-662D-E9CF-D779-64CF599C515B}"/>
              </a:ext>
            </a:extLst>
          </p:cNvPr>
          <p:cNvPicPr>
            <a:picLocks noChangeAspect="1"/>
          </p:cNvPicPr>
          <p:nvPr/>
        </p:nvPicPr>
        <p:blipFill>
          <a:blip r:embed="rId3"/>
          <a:stretch>
            <a:fillRect/>
          </a:stretch>
        </p:blipFill>
        <p:spPr>
          <a:xfrm>
            <a:off x="3262187" y="3270540"/>
            <a:ext cx="5202324" cy="3231886"/>
          </a:xfrm>
          <a:prstGeom prst="rect">
            <a:avLst/>
          </a:prstGeom>
        </p:spPr>
      </p:pic>
    </p:spTree>
    <p:extLst>
      <p:ext uri="{BB962C8B-B14F-4D97-AF65-F5344CB8AC3E}">
        <p14:creationId xmlns:p14="http://schemas.microsoft.com/office/powerpoint/2010/main" val="30751752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3C099-C644-0611-548B-71E1FD5C19C4}"/>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12A127-733F-0AE7-8B4E-80A1FE79A832}"/>
              </a:ext>
            </a:extLst>
          </p:cNvPr>
          <p:cNvSpPr>
            <a:spLocks noGrp="1"/>
          </p:cNvSpPr>
          <p:nvPr>
            <p:ph type="title"/>
          </p:nvPr>
        </p:nvSpPr>
        <p:spPr>
          <a:xfrm>
            <a:off x="1063852" y="736827"/>
            <a:ext cx="10072461" cy="999898"/>
          </a:xfrm>
        </p:spPr>
        <p:txBody>
          <a:bodyPr>
            <a:normAutofit/>
          </a:bodyPr>
          <a:lstStyle/>
          <a:p>
            <a:r>
              <a:rPr lang="ru-RU" sz="3600" b="1" dirty="0">
                <a:solidFill>
                  <a:srgbClr val="246AF3"/>
                </a:solidFill>
              </a:rPr>
              <a:t>Ограничения задачи</a:t>
            </a:r>
          </a:p>
        </p:txBody>
      </p:sp>
      <p:sp>
        <p:nvSpPr>
          <p:cNvPr id="10" name="TextBox 9">
            <a:extLst>
              <a:ext uri="{FF2B5EF4-FFF2-40B4-BE49-F238E27FC236}">
                <a16:creationId xmlns:a16="http://schemas.microsoft.com/office/drawing/2014/main" id="{B9C40174-F0CE-2530-03CA-546F22591ACC}"/>
              </a:ext>
            </a:extLst>
          </p:cNvPr>
          <p:cNvSpPr txBox="1"/>
          <p:nvPr/>
        </p:nvSpPr>
        <p:spPr>
          <a:xfrm>
            <a:off x="1055688" y="1736725"/>
            <a:ext cx="10072461" cy="509948"/>
          </a:xfrm>
          <a:prstGeom prst="rect">
            <a:avLst/>
          </a:prstGeom>
          <a:noFill/>
        </p:spPr>
        <p:txBody>
          <a:bodyPr wrap="square">
            <a:spAutoFit/>
          </a:bodyPr>
          <a:lstStyle/>
          <a:p>
            <a:pPr>
              <a:lnSpc>
                <a:spcPct val="120000"/>
              </a:lnSpc>
              <a:spcAft>
                <a:spcPts val="600"/>
              </a:spcAft>
            </a:pPr>
            <a:r>
              <a:rPr lang="ru-RU" sz="2400" dirty="0"/>
              <a:t>Функция угроз от расстояния выглядит так</a:t>
            </a:r>
            <a:r>
              <a:rPr lang="en-US" sz="2400" dirty="0"/>
              <a:t>:</a:t>
            </a:r>
            <a:endParaRPr lang="ru-RU" sz="2400" dirty="0"/>
          </a:p>
        </p:txBody>
      </p:sp>
      <p:pic>
        <p:nvPicPr>
          <p:cNvPr id="3" name="Рисунок 2">
            <a:extLst>
              <a:ext uri="{FF2B5EF4-FFF2-40B4-BE49-F238E27FC236}">
                <a16:creationId xmlns:a16="http://schemas.microsoft.com/office/drawing/2014/main" id="{BF8CFA5E-D246-AC25-E42E-BF1B94EC8455}"/>
              </a:ext>
            </a:extLst>
          </p:cNvPr>
          <p:cNvPicPr>
            <a:picLocks noChangeAspect="1"/>
          </p:cNvPicPr>
          <p:nvPr/>
        </p:nvPicPr>
        <p:blipFill>
          <a:blip r:embed="rId3"/>
          <a:stretch>
            <a:fillRect/>
          </a:stretch>
        </p:blipFill>
        <p:spPr>
          <a:xfrm>
            <a:off x="1971224" y="2400469"/>
            <a:ext cx="8249552" cy="3652398"/>
          </a:xfrm>
          <a:prstGeom prst="rect">
            <a:avLst/>
          </a:prstGeom>
        </p:spPr>
      </p:pic>
      <p:sp>
        <p:nvSpPr>
          <p:cNvPr id="4" name="TextBox 3">
            <a:extLst>
              <a:ext uri="{FF2B5EF4-FFF2-40B4-BE49-F238E27FC236}">
                <a16:creationId xmlns:a16="http://schemas.microsoft.com/office/drawing/2014/main" id="{2DCB6FD3-C142-0DA2-FFF1-A22BC1D38EBD}"/>
              </a:ext>
            </a:extLst>
          </p:cNvPr>
          <p:cNvSpPr txBox="1"/>
          <p:nvPr/>
        </p:nvSpPr>
        <p:spPr>
          <a:xfrm>
            <a:off x="11510319" y="6277232"/>
            <a:ext cx="438665" cy="377706"/>
          </a:xfrm>
          <a:prstGeom prst="rect">
            <a:avLst/>
          </a:prstGeom>
          <a:noFill/>
        </p:spPr>
        <p:txBody>
          <a:bodyPr wrap="square" rtlCol="0">
            <a:spAutoFit/>
          </a:bodyPr>
          <a:lstStyle/>
          <a:p>
            <a:fld id="{9C552BD2-5A63-4FC4-A35C-09FBB5EA732A}" type="slidenum">
              <a:rPr lang="en-US" smtClean="0"/>
              <a:t>12</a:t>
            </a:fld>
            <a:endParaRPr lang="en-US" dirty="0"/>
          </a:p>
        </p:txBody>
      </p:sp>
    </p:spTree>
    <p:extLst>
      <p:ext uri="{BB962C8B-B14F-4D97-AF65-F5344CB8AC3E}">
        <p14:creationId xmlns:p14="http://schemas.microsoft.com/office/powerpoint/2010/main" val="10033593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6966651-919D-3623-2BD2-893CEB53C067}"/>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27751028-63AD-8711-9258-BA5FEE893C3F}"/>
              </a:ext>
            </a:extLst>
          </p:cNvPr>
          <p:cNvSpPr>
            <a:spLocks noGrp="1"/>
          </p:cNvSpPr>
          <p:nvPr>
            <p:ph type="title"/>
          </p:nvPr>
        </p:nvSpPr>
        <p:spPr>
          <a:xfrm>
            <a:off x="1063852" y="736827"/>
            <a:ext cx="10072461" cy="999898"/>
          </a:xfrm>
        </p:spPr>
        <p:txBody>
          <a:bodyPr>
            <a:normAutofit/>
          </a:bodyPr>
          <a:lstStyle/>
          <a:p>
            <a:r>
              <a:rPr lang="ru-RU" sz="3600" b="1" dirty="0">
                <a:solidFill>
                  <a:srgbClr val="246AF3"/>
                </a:solidFill>
              </a:rPr>
              <a:t>Ограничения задачи</a:t>
            </a:r>
          </a:p>
        </p:txBody>
      </p:sp>
      <p:sp>
        <p:nvSpPr>
          <p:cNvPr id="4" name="TextBox 3">
            <a:extLst>
              <a:ext uri="{FF2B5EF4-FFF2-40B4-BE49-F238E27FC236}">
                <a16:creationId xmlns:a16="http://schemas.microsoft.com/office/drawing/2014/main" id="{BB054351-AF49-1807-EF69-E27C9F934352}"/>
              </a:ext>
            </a:extLst>
          </p:cNvPr>
          <p:cNvSpPr txBox="1"/>
          <p:nvPr/>
        </p:nvSpPr>
        <p:spPr>
          <a:xfrm>
            <a:off x="11510319" y="6277232"/>
            <a:ext cx="438665" cy="377706"/>
          </a:xfrm>
          <a:prstGeom prst="rect">
            <a:avLst/>
          </a:prstGeom>
          <a:noFill/>
        </p:spPr>
        <p:txBody>
          <a:bodyPr wrap="square" rtlCol="0">
            <a:spAutoFit/>
          </a:bodyPr>
          <a:lstStyle/>
          <a:p>
            <a:fld id="{9C552BD2-5A63-4FC4-A35C-09FBB5EA732A}" type="slidenum">
              <a:rPr lang="en-US" smtClean="0"/>
              <a:t>13</a:t>
            </a:fld>
            <a:endParaRPr lang="en-US" dirty="0"/>
          </a:p>
        </p:txBody>
      </p:sp>
      <p:pic>
        <p:nvPicPr>
          <p:cNvPr id="6" name="Рисунок 5">
            <a:extLst>
              <a:ext uri="{FF2B5EF4-FFF2-40B4-BE49-F238E27FC236}">
                <a16:creationId xmlns:a16="http://schemas.microsoft.com/office/drawing/2014/main" id="{1C002946-B4EE-5B29-E7CA-E6A607EB4AD3}"/>
              </a:ext>
            </a:extLst>
          </p:cNvPr>
          <p:cNvPicPr>
            <a:picLocks noChangeAspect="1"/>
          </p:cNvPicPr>
          <p:nvPr/>
        </p:nvPicPr>
        <p:blipFill>
          <a:blip r:embed="rId3"/>
          <a:stretch>
            <a:fillRect/>
          </a:stretch>
        </p:blipFill>
        <p:spPr>
          <a:xfrm>
            <a:off x="3596712" y="2708268"/>
            <a:ext cx="4694801" cy="3672119"/>
          </a:xfrm>
          <a:prstGeom prst="rect">
            <a:avLst/>
          </a:prstGeom>
        </p:spPr>
      </p:pic>
      <p:sp>
        <p:nvSpPr>
          <p:cNvPr id="7" name="TextBox 6">
            <a:extLst>
              <a:ext uri="{FF2B5EF4-FFF2-40B4-BE49-F238E27FC236}">
                <a16:creationId xmlns:a16="http://schemas.microsoft.com/office/drawing/2014/main" id="{D0906603-EA0F-A1C9-C7D3-A316A5C8C242}"/>
              </a:ext>
            </a:extLst>
          </p:cNvPr>
          <p:cNvSpPr txBox="1"/>
          <p:nvPr/>
        </p:nvSpPr>
        <p:spPr>
          <a:xfrm>
            <a:off x="1063851" y="1755122"/>
            <a:ext cx="10072461" cy="953146"/>
          </a:xfrm>
          <a:prstGeom prst="rect">
            <a:avLst/>
          </a:prstGeom>
          <a:noFill/>
        </p:spPr>
        <p:txBody>
          <a:bodyPr wrap="square">
            <a:spAutoFit/>
          </a:bodyPr>
          <a:lstStyle/>
          <a:p>
            <a:pPr>
              <a:lnSpc>
                <a:spcPct val="120000"/>
              </a:lnSpc>
              <a:spcAft>
                <a:spcPts val="600"/>
              </a:spcAft>
            </a:pPr>
            <a:r>
              <a:rPr lang="ru-RU" sz="2400" dirty="0"/>
              <a:t>Будем считать стоимость временного кооперирования, чтобы гарантировать единовременное время прибытия.</a:t>
            </a:r>
          </a:p>
        </p:txBody>
      </p:sp>
    </p:spTree>
    <p:extLst>
      <p:ext uri="{BB962C8B-B14F-4D97-AF65-F5344CB8AC3E}">
        <p14:creationId xmlns:p14="http://schemas.microsoft.com/office/powerpoint/2010/main" val="34699842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2CF58F-87A2-F810-5C0D-DA666AB49C12}"/>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F369B5F5-B459-6A82-F844-4B29CF23CCFB}"/>
              </a:ext>
            </a:extLst>
          </p:cNvPr>
          <p:cNvSpPr>
            <a:spLocks noGrp="1"/>
          </p:cNvSpPr>
          <p:nvPr>
            <p:ph type="title"/>
          </p:nvPr>
        </p:nvSpPr>
        <p:spPr>
          <a:xfrm>
            <a:off x="1063852" y="736827"/>
            <a:ext cx="10072461" cy="995278"/>
          </a:xfrm>
        </p:spPr>
        <p:txBody>
          <a:bodyPr>
            <a:normAutofit/>
          </a:bodyPr>
          <a:lstStyle/>
          <a:p>
            <a:r>
              <a:rPr lang="ru-RU" sz="3600" b="1" dirty="0">
                <a:solidFill>
                  <a:srgbClr val="246AF3"/>
                </a:solidFill>
              </a:rPr>
              <a:t>Сглаживание траектории</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9EC4AC22-7338-FBA5-4065-6C4F397163C7}"/>
                  </a:ext>
                </a:extLst>
              </p:cNvPr>
              <p:cNvSpPr txBox="1"/>
              <p:nvPr/>
            </p:nvSpPr>
            <p:spPr>
              <a:xfrm>
                <a:off x="1063851" y="1755128"/>
                <a:ext cx="10072461" cy="951286"/>
              </a:xfrm>
              <a:prstGeom prst="rect">
                <a:avLst/>
              </a:prstGeom>
              <a:noFill/>
            </p:spPr>
            <p:txBody>
              <a:bodyPr wrap="square">
                <a:spAutoFit/>
              </a:bodyPr>
              <a:lstStyle/>
              <a:p>
                <a:pPr>
                  <a:lnSpc>
                    <a:spcPct val="120000"/>
                  </a:lnSpc>
                  <a:spcAft>
                    <a:spcPts val="600"/>
                  </a:spcAft>
                </a:pPr>
                <a:r>
                  <a:rPr lang="ru-RU" sz="2400" dirty="0"/>
                  <a:t>После получения последовательность точек, будем применять кубическую </a:t>
                </a:r>
                <a14:m>
                  <m:oMath xmlns:m="http://schemas.openxmlformats.org/officeDocument/2006/math">
                    <m:r>
                      <a:rPr lang="en-US" sz="2400" b="0" i="1" smtClean="0">
                        <a:latin typeface="Cambria Math" panose="02040503050406030204" pitchFamily="18" charset="0"/>
                      </a:rPr>
                      <m:t>𝐵</m:t>
                    </m:r>
                    <m:r>
                      <a:rPr lang="en-US" sz="2400" b="0" i="1" smtClean="0">
                        <a:latin typeface="Cambria Math" panose="02040503050406030204" pitchFamily="18" charset="0"/>
                      </a:rPr>
                      <m:t>−</m:t>
                    </m:r>
                    <m:r>
                      <a:rPr lang="en-US" sz="2400" b="0" i="1" smtClean="0">
                        <a:latin typeface="Cambria Math" panose="02040503050406030204" pitchFamily="18" charset="0"/>
                      </a:rPr>
                      <m:t>𝑠𝑝𝑙𝑖𝑛𝑒</m:t>
                    </m:r>
                  </m:oMath>
                </a14:m>
                <a:r>
                  <a:rPr lang="ru-RU" sz="2400" dirty="0"/>
                  <a:t> интерполяцию, для сглаживания траектории.</a:t>
                </a:r>
              </a:p>
            </p:txBody>
          </p:sp>
        </mc:Choice>
        <mc:Fallback xmlns="">
          <p:sp>
            <p:nvSpPr>
              <p:cNvPr id="10" name="TextBox 9">
                <a:extLst>
                  <a:ext uri="{FF2B5EF4-FFF2-40B4-BE49-F238E27FC236}">
                    <a16:creationId xmlns:a16="http://schemas.microsoft.com/office/drawing/2014/main" id="{9EC4AC22-7338-FBA5-4065-6C4F397163C7}"/>
                  </a:ext>
                </a:extLst>
              </p:cNvPr>
              <p:cNvSpPr txBox="1">
                <a:spLocks noRot="1" noChangeAspect="1" noMove="1" noResize="1" noEditPoints="1" noAdjustHandles="1" noChangeArrowheads="1" noChangeShapeType="1" noTextEdit="1"/>
              </p:cNvSpPr>
              <p:nvPr/>
            </p:nvSpPr>
            <p:spPr>
              <a:xfrm>
                <a:off x="1063851" y="1755128"/>
                <a:ext cx="10072461" cy="951286"/>
              </a:xfrm>
              <a:prstGeom prst="rect">
                <a:avLst/>
              </a:prstGeom>
              <a:blipFill>
                <a:blip r:embed="rId3"/>
                <a:stretch>
                  <a:fillRect l="-969" b="-14103"/>
                </a:stretch>
              </a:blipFill>
            </p:spPr>
            <p:txBody>
              <a:bodyPr/>
              <a:lstStyle/>
              <a:p>
                <a:r>
                  <a:rPr lang="en-US">
                    <a:noFill/>
                  </a:rPr>
                  <a:t> </a:t>
                </a:r>
              </a:p>
            </p:txBody>
          </p:sp>
        </mc:Fallback>
      </mc:AlternateContent>
      <p:pic>
        <p:nvPicPr>
          <p:cNvPr id="11" name="Рисунок 10">
            <a:extLst>
              <a:ext uri="{FF2B5EF4-FFF2-40B4-BE49-F238E27FC236}">
                <a16:creationId xmlns:a16="http://schemas.microsoft.com/office/drawing/2014/main" id="{DA048A6B-DC8E-CEDF-C45B-235ED2D0CC47}"/>
              </a:ext>
            </a:extLst>
          </p:cNvPr>
          <p:cNvPicPr>
            <a:picLocks noChangeAspect="1"/>
          </p:cNvPicPr>
          <p:nvPr/>
        </p:nvPicPr>
        <p:blipFill>
          <a:blip r:embed="rId4">
            <a:extLst>
              <a:ext uri="{28A0092B-C50C-407E-A947-70E740481C1C}">
                <a14:useLocalDpi xmlns:a14="http://schemas.microsoft.com/office/drawing/2010/main" val="0"/>
              </a:ext>
            </a:extLst>
          </a:blip>
          <a:srcRect l="726" t="3204" r="657" b="783"/>
          <a:stretch>
            <a:fillRect/>
          </a:stretch>
        </p:blipFill>
        <p:spPr>
          <a:xfrm>
            <a:off x="3050286" y="3444182"/>
            <a:ext cx="5429249" cy="3283870"/>
          </a:xfrm>
          <a:prstGeom prst="rect">
            <a:avLst/>
          </a:prstGeom>
        </p:spPr>
      </p:pic>
      <p:sp>
        <p:nvSpPr>
          <p:cNvPr id="3" name="TextBox 2">
            <a:extLst>
              <a:ext uri="{FF2B5EF4-FFF2-40B4-BE49-F238E27FC236}">
                <a16:creationId xmlns:a16="http://schemas.microsoft.com/office/drawing/2014/main" id="{EDA56B66-0E46-4CB4-9957-48AE644884DE}"/>
              </a:ext>
            </a:extLst>
          </p:cNvPr>
          <p:cNvSpPr txBox="1"/>
          <p:nvPr/>
        </p:nvSpPr>
        <p:spPr>
          <a:xfrm>
            <a:off x="11510319" y="6277232"/>
            <a:ext cx="438665" cy="377706"/>
          </a:xfrm>
          <a:prstGeom prst="rect">
            <a:avLst/>
          </a:prstGeom>
          <a:noFill/>
        </p:spPr>
        <p:txBody>
          <a:bodyPr wrap="square" rtlCol="0">
            <a:spAutoFit/>
          </a:bodyPr>
          <a:lstStyle/>
          <a:p>
            <a:fld id="{9C552BD2-5A63-4FC4-A35C-09FBB5EA732A}" type="slidenum">
              <a:rPr lang="en-US" smtClean="0"/>
              <a:t>14</a:t>
            </a:fld>
            <a:endParaRPr lang="en-US" dirty="0"/>
          </a:p>
        </p:txBody>
      </p:sp>
    </p:spTree>
    <p:extLst>
      <p:ext uri="{BB962C8B-B14F-4D97-AF65-F5344CB8AC3E}">
        <p14:creationId xmlns:p14="http://schemas.microsoft.com/office/powerpoint/2010/main" val="23350900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96E88-D48A-BF29-0BA2-739184C54A39}"/>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B51D777C-6D31-BC35-FEC9-FB6B072EC422}"/>
              </a:ext>
            </a:extLst>
          </p:cNvPr>
          <p:cNvSpPr>
            <a:spLocks noGrp="1"/>
          </p:cNvSpPr>
          <p:nvPr>
            <p:ph type="title"/>
          </p:nvPr>
        </p:nvSpPr>
        <p:spPr>
          <a:xfrm>
            <a:off x="1063852" y="736827"/>
            <a:ext cx="10072461" cy="995278"/>
          </a:xfrm>
        </p:spPr>
        <p:txBody>
          <a:bodyPr>
            <a:normAutofit/>
          </a:bodyPr>
          <a:lstStyle/>
          <a:p>
            <a:r>
              <a:rPr lang="ru-RU" sz="3600" b="1" dirty="0">
                <a:solidFill>
                  <a:srgbClr val="246AF3"/>
                </a:solidFill>
              </a:rPr>
              <a:t>Сложность алгоритмов</a:t>
            </a:r>
          </a:p>
        </p:txBody>
      </p:sp>
      <mc:AlternateContent xmlns:mc="http://schemas.openxmlformats.org/markup-compatibility/2006" xmlns:a14="http://schemas.microsoft.com/office/drawing/2010/main">
        <mc:Choice Requires="a14">
          <p:graphicFrame>
            <p:nvGraphicFramePr>
              <p:cNvPr id="3" name="Объект 3">
                <a:extLst>
                  <a:ext uri="{FF2B5EF4-FFF2-40B4-BE49-F238E27FC236}">
                    <a16:creationId xmlns:a16="http://schemas.microsoft.com/office/drawing/2014/main" id="{45881022-F1DE-B6A4-2B62-3193410A4D6E}"/>
                  </a:ext>
                </a:extLst>
              </p:cNvPr>
              <p:cNvGraphicFramePr>
                <a:graphicFrameLocks/>
              </p:cNvGraphicFramePr>
              <p:nvPr>
                <p:extLst>
                  <p:ext uri="{D42A27DB-BD31-4B8C-83A1-F6EECF244321}">
                    <p14:modId xmlns:p14="http://schemas.microsoft.com/office/powerpoint/2010/main" val="3423199559"/>
                  </p:ext>
                </p:extLst>
              </p:nvPr>
            </p:nvGraphicFramePr>
            <p:xfrm>
              <a:off x="1055688" y="2312988"/>
              <a:ext cx="10080723" cy="2374395"/>
            </p:xfrm>
            <a:graphic>
              <a:graphicData uri="http://schemas.openxmlformats.org/drawingml/2006/table">
                <a:tbl>
                  <a:tblPr firstRow="1" bandRow="1">
                    <a:tableStyleId>{2D5ABB26-0587-4C30-8999-92F81FD0307C}</a:tableStyleId>
                  </a:tblPr>
                  <a:tblGrid>
                    <a:gridCol w="3360241">
                      <a:extLst>
                        <a:ext uri="{9D8B030D-6E8A-4147-A177-3AD203B41FA5}">
                          <a16:colId xmlns:a16="http://schemas.microsoft.com/office/drawing/2014/main" val="1026147328"/>
                        </a:ext>
                      </a:extLst>
                    </a:gridCol>
                    <a:gridCol w="3360241">
                      <a:extLst>
                        <a:ext uri="{9D8B030D-6E8A-4147-A177-3AD203B41FA5}">
                          <a16:colId xmlns:a16="http://schemas.microsoft.com/office/drawing/2014/main" val="1690613314"/>
                        </a:ext>
                      </a:extLst>
                    </a:gridCol>
                    <a:gridCol w="3360241">
                      <a:extLst>
                        <a:ext uri="{9D8B030D-6E8A-4147-A177-3AD203B41FA5}">
                          <a16:colId xmlns:a16="http://schemas.microsoft.com/office/drawing/2014/main" val="1135114903"/>
                        </a:ext>
                      </a:extLst>
                    </a:gridCol>
                  </a:tblGrid>
                  <a:tr h="517145">
                    <a:tc>
                      <a:txBody>
                        <a:bodyPr/>
                        <a:lstStyle/>
                        <a:p>
                          <a:pPr algn="ctr"/>
                          <a:r>
                            <a:rPr lang="ru-RU" sz="2400" kern="1200" dirty="0">
                              <a:solidFill>
                                <a:schemeClr val="tx1"/>
                              </a:solidFill>
                              <a:latin typeface="+mn-lt"/>
                              <a:ea typeface="+mn-ea"/>
                              <a:cs typeface="+mn-cs"/>
                            </a:rPr>
                            <a:t>Название алгоритма</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ru-RU" sz="2400" kern="1200" dirty="0">
                              <a:solidFill>
                                <a:schemeClr val="tx1"/>
                              </a:solidFill>
                              <a:latin typeface="+mn-lt"/>
                              <a:ea typeface="+mn-ea"/>
                              <a:cs typeface="+mn-cs"/>
                            </a:rPr>
                            <a:t>Тип алгоритма</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ru-RU" sz="2400" kern="1200" dirty="0">
                              <a:solidFill>
                                <a:schemeClr val="tx1"/>
                              </a:solidFill>
                              <a:latin typeface="+mn-lt"/>
                              <a:ea typeface="+mn-ea"/>
                              <a:cs typeface="+mn-cs"/>
                            </a:rPr>
                            <a:t>Сложность </a:t>
                          </a:r>
                          <a:r>
                            <a:rPr lang="en-US" sz="2400" kern="1200" dirty="0">
                              <a:solidFill>
                                <a:schemeClr val="tx1"/>
                              </a:solidFill>
                              <a:latin typeface="+mn-lt"/>
                              <a:ea typeface="+mn-ea"/>
                              <a:cs typeface="+mn-cs"/>
                            </a:rPr>
                            <a:t>Big-O </a:t>
                          </a:r>
                          <a:endParaRPr lang="ru-RU" sz="240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016426156"/>
                      </a:ext>
                    </a:extLst>
                  </a:tr>
                  <a:tr h="559297">
                    <a:tc>
                      <a:txBody>
                        <a:bodyPr/>
                        <a:lstStyle/>
                        <a:p>
                          <a:pPr/>
                          <a14:m>
                            <m:oMathPara xmlns:m="http://schemas.openxmlformats.org/officeDocument/2006/math">
                              <m:oMathParaPr>
                                <m:jc m:val="centerGroup"/>
                              </m:oMathParaPr>
                              <m:oMath xmlns:m="http://schemas.openxmlformats.org/officeDocument/2006/math">
                                <m:sSup>
                                  <m:sSupPr>
                                    <m:ctrlPr>
                                      <a:rPr lang="ru-RU" sz="2400" i="1" kern="1200" smtClean="0">
                                        <a:solidFill>
                                          <a:schemeClr val="tx1"/>
                                        </a:solidFill>
                                        <a:latin typeface="Cambria Math" panose="02040503050406030204" pitchFamily="18" charset="0"/>
                                        <a:ea typeface="+mn-ea"/>
                                        <a:cs typeface="+mn-cs"/>
                                      </a:rPr>
                                    </m:ctrlPr>
                                  </m:sSupPr>
                                  <m:e>
                                    <m:r>
                                      <a:rPr lang="en-US" sz="2400" kern="1200" smtClean="0">
                                        <a:solidFill>
                                          <a:schemeClr val="tx1"/>
                                        </a:solidFill>
                                        <a:latin typeface="Cambria Math" panose="02040503050406030204" pitchFamily="18" charset="0"/>
                                        <a:ea typeface="+mn-ea"/>
                                        <a:cs typeface="+mn-cs"/>
                                      </a:rPr>
                                      <m:t>𝐴</m:t>
                                    </m:r>
                                  </m:e>
                                  <m:sup>
                                    <m:r>
                                      <a:rPr lang="en-US" sz="2400" kern="1200" smtClean="0">
                                        <a:solidFill>
                                          <a:schemeClr val="tx1"/>
                                        </a:solidFill>
                                        <a:latin typeface="Cambria Math" panose="02040503050406030204" pitchFamily="18" charset="0"/>
                                        <a:ea typeface="+mn-ea"/>
                                        <a:cs typeface="+mn-cs"/>
                                      </a:rPr>
                                      <m:t>∗</m:t>
                                    </m:r>
                                  </m:sup>
                                </m:sSup>
                              </m:oMath>
                            </m:oMathPara>
                          </a14:m>
                          <a:endParaRPr lang="ru-RU" sz="240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ru-RU" sz="2400" kern="1200" dirty="0">
                              <a:solidFill>
                                <a:schemeClr val="tx1"/>
                              </a:solidFill>
                              <a:latin typeface="+mn-lt"/>
                              <a:ea typeface="+mn-ea"/>
                              <a:cs typeface="+mn-cs"/>
                            </a:rPr>
                            <a:t>Эвристический </a:t>
                          </a:r>
                          <a:r>
                            <a:rPr lang="ru-RU" sz="2400" kern="1200" dirty="0" err="1">
                              <a:solidFill>
                                <a:schemeClr val="tx1"/>
                              </a:solidFill>
                              <a:latin typeface="+mn-lt"/>
                              <a:ea typeface="+mn-ea"/>
                              <a:cs typeface="+mn-cs"/>
                            </a:rPr>
                            <a:t>Графовый</a:t>
                          </a:r>
                          <a:endParaRPr lang="ru-RU" sz="240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14:m>
                            <m:oMathPara xmlns:m="http://schemas.openxmlformats.org/officeDocument/2006/math">
                              <m:oMathParaPr>
                                <m:jc m:val="centerGroup"/>
                              </m:oMathParaPr>
                              <m:oMath xmlns:m="http://schemas.openxmlformats.org/officeDocument/2006/math">
                                <m:r>
                                  <a:rPr lang="ru-RU" sz="2400" kern="1200" smtClean="0">
                                    <a:solidFill>
                                      <a:schemeClr val="tx1"/>
                                    </a:solidFill>
                                    <a:latin typeface="Cambria Math" panose="02040503050406030204" pitchFamily="18" charset="0"/>
                                    <a:ea typeface="+mn-ea"/>
                                    <a:cs typeface="+mn-cs"/>
                                  </a:rPr>
                                  <m:t>𝑂</m:t>
                                </m:r>
                                <m:d>
                                  <m:dPr>
                                    <m:ctrlPr>
                                      <a:rPr lang="en-US" sz="2400" i="1" kern="1200">
                                        <a:solidFill>
                                          <a:schemeClr val="tx1"/>
                                        </a:solidFill>
                                        <a:latin typeface="Cambria Math" panose="02040503050406030204" pitchFamily="18" charset="0"/>
                                        <a:ea typeface="+mn-ea"/>
                                        <a:cs typeface="+mn-cs"/>
                                      </a:rPr>
                                    </m:ctrlPr>
                                  </m:dPr>
                                  <m:e>
                                    <m:sSup>
                                      <m:sSupPr>
                                        <m:ctrlPr>
                                          <a:rPr lang="en-US" sz="2400" i="1" kern="1200">
                                            <a:solidFill>
                                              <a:schemeClr val="tx1"/>
                                            </a:solidFill>
                                            <a:latin typeface="Cambria Math" panose="02040503050406030204" pitchFamily="18" charset="0"/>
                                            <a:ea typeface="+mn-ea"/>
                                            <a:cs typeface="+mn-cs"/>
                                          </a:rPr>
                                        </m:ctrlPr>
                                      </m:sSupPr>
                                      <m:e>
                                        <m:r>
                                          <a:rPr lang="ru-RU" sz="2400" kern="1200">
                                            <a:solidFill>
                                              <a:schemeClr val="tx1"/>
                                            </a:solidFill>
                                            <a:latin typeface="Cambria Math" panose="02040503050406030204" pitchFamily="18" charset="0"/>
                                            <a:ea typeface="+mn-ea"/>
                                            <a:cs typeface="+mn-cs"/>
                                          </a:rPr>
                                          <m:t>𝑏</m:t>
                                        </m:r>
                                      </m:e>
                                      <m:sup>
                                        <m:r>
                                          <a:rPr lang="ru-RU" sz="2400" kern="1200">
                                            <a:solidFill>
                                              <a:schemeClr val="tx1"/>
                                            </a:solidFill>
                                            <a:latin typeface="Cambria Math" panose="02040503050406030204" pitchFamily="18" charset="0"/>
                                            <a:ea typeface="+mn-ea"/>
                                            <a:cs typeface="+mn-cs"/>
                                          </a:rPr>
                                          <m:t>𝑑</m:t>
                                        </m:r>
                                      </m:sup>
                                    </m:sSup>
                                  </m:e>
                                </m:d>
                              </m:oMath>
                            </m:oMathPara>
                          </a14:m>
                          <a:endParaRPr lang="ru-RU" sz="240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21114923"/>
                      </a:ext>
                    </a:extLst>
                  </a:tr>
                  <a:tr h="517145">
                    <a:tc>
                      <a:txBody>
                        <a:bodyPr/>
                        <a:lstStyle/>
                        <a:p>
                          <a:pPr algn="ctr"/>
                          <a:r>
                            <a:rPr lang="ru-RU" sz="2400" kern="1200" dirty="0">
                              <a:solidFill>
                                <a:schemeClr val="tx1"/>
                              </a:solidFill>
                              <a:latin typeface="+mn-lt"/>
                              <a:ea typeface="+mn-ea"/>
                              <a:cs typeface="+mn-cs"/>
                            </a:rPr>
                            <a:t>𝑃𝑆𝑂</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ru-RU" sz="2400" kern="1200" dirty="0">
                              <a:solidFill>
                                <a:schemeClr val="tx1"/>
                              </a:solidFill>
                              <a:latin typeface="+mn-lt"/>
                              <a:ea typeface="+mn-ea"/>
                              <a:cs typeface="+mn-cs"/>
                            </a:rPr>
                            <a:t>Эвристический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14:m>
                            <m:oMathPara xmlns:m="http://schemas.openxmlformats.org/officeDocument/2006/math">
                              <m:oMathParaPr>
                                <m:jc m:val="centerGroup"/>
                              </m:oMathParaPr>
                              <m:oMath xmlns:m="http://schemas.openxmlformats.org/officeDocument/2006/math">
                                <m:r>
                                  <a:rPr lang="ru-RU" sz="2400" kern="1200" smtClean="0">
                                    <a:solidFill>
                                      <a:schemeClr val="tx1"/>
                                    </a:solidFill>
                                    <a:latin typeface="Cambria Math" panose="02040503050406030204" pitchFamily="18" charset="0"/>
                                    <a:ea typeface="+mn-ea"/>
                                    <a:cs typeface="+mn-cs"/>
                                  </a:rPr>
                                  <m:t>𝑂</m:t>
                                </m:r>
                                <m:d>
                                  <m:dPr>
                                    <m:ctrlPr>
                                      <a:rPr lang="en-US" sz="2400" i="1" kern="1200">
                                        <a:solidFill>
                                          <a:schemeClr val="tx1"/>
                                        </a:solidFill>
                                        <a:latin typeface="Cambria Math" panose="02040503050406030204" pitchFamily="18" charset="0"/>
                                        <a:ea typeface="+mn-ea"/>
                                        <a:cs typeface="+mn-cs"/>
                                      </a:rPr>
                                    </m:ctrlPr>
                                  </m:dPr>
                                  <m:e>
                                    <m:r>
                                      <a:rPr lang="ru-RU" sz="2400" kern="1200">
                                        <a:solidFill>
                                          <a:schemeClr val="tx1"/>
                                        </a:solidFill>
                                        <a:latin typeface="Cambria Math" panose="02040503050406030204" pitchFamily="18" charset="0"/>
                                        <a:ea typeface="+mn-ea"/>
                                        <a:cs typeface="+mn-cs"/>
                                      </a:rPr>
                                      <m:t>𝑇𝑁𝑑</m:t>
                                    </m:r>
                                  </m:e>
                                </m:d>
                              </m:oMath>
                            </m:oMathPara>
                          </a14:m>
                          <a:endParaRPr lang="ru-RU" sz="240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8131142"/>
                      </a:ext>
                    </a:extLst>
                  </a:tr>
                  <a:tr h="517145">
                    <a:tc>
                      <a:txBody>
                        <a:bodyPr/>
                        <a:lstStyle/>
                        <a:p>
                          <a:pPr algn="ctr"/>
                          <a:r>
                            <a:rPr lang="ru-RU" sz="2400" kern="1200" dirty="0">
                              <a:solidFill>
                                <a:schemeClr val="tx1"/>
                              </a:solidFill>
                              <a:latin typeface="+mn-lt"/>
                              <a:ea typeface="+mn-ea"/>
                              <a:cs typeface="+mn-cs"/>
                            </a:rPr>
                            <a:t>𝐺𝐽𝑂</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ru-RU" sz="2400" kern="1200" dirty="0">
                              <a:solidFill>
                                <a:schemeClr val="tx1"/>
                              </a:solidFill>
                              <a:latin typeface="+mn-lt"/>
                              <a:ea typeface="+mn-ea"/>
                              <a:cs typeface="+mn-cs"/>
                            </a:rPr>
                            <a:t>Эвристический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ru-RU" sz="2400" kern="1200" smtClean="0">
                                    <a:solidFill>
                                      <a:schemeClr val="tx1"/>
                                    </a:solidFill>
                                    <a:latin typeface="Cambria Math" panose="02040503050406030204" pitchFamily="18" charset="0"/>
                                    <a:ea typeface="+mn-ea"/>
                                    <a:cs typeface="+mn-cs"/>
                                  </a:rPr>
                                  <m:t>𝑂</m:t>
                                </m:r>
                                <m:d>
                                  <m:dPr>
                                    <m:ctrlPr>
                                      <a:rPr lang="en-US" sz="2400" i="1" kern="1200">
                                        <a:solidFill>
                                          <a:schemeClr val="tx1"/>
                                        </a:solidFill>
                                        <a:latin typeface="Cambria Math" panose="02040503050406030204" pitchFamily="18" charset="0"/>
                                        <a:ea typeface="+mn-ea"/>
                                        <a:cs typeface="+mn-cs"/>
                                      </a:rPr>
                                    </m:ctrlPr>
                                  </m:dPr>
                                  <m:e>
                                    <m:r>
                                      <a:rPr lang="ru-RU" sz="2400" kern="1200">
                                        <a:solidFill>
                                          <a:schemeClr val="tx1"/>
                                        </a:solidFill>
                                        <a:latin typeface="Cambria Math" panose="02040503050406030204" pitchFamily="18" charset="0"/>
                                        <a:ea typeface="+mn-ea"/>
                                        <a:cs typeface="+mn-cs"/>
                                      </a:rPr>
                                      <m:t>𝑇𝑁𝑑</m:t>
                                    </m:r>
                                  </m:e>
                                </m:d>
                              </m:oMath>
                            </m:oMathPara>
                          </a14:m>
                          <a:endParaRPr lang="ru-RU" sz="240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19395904"/>
                      </a:ext>
                    </a:extLst>
                  </a:tr>
                </a:tbl>
              </a:graphicData>
            </a:graphic>
          </p:graphicFrame>
        </mc:Choice>
        <mc:Fallback xmlns="">
          <p:graphicFrame>
            <p:nvGraphicFramePr>
              <p:cNvPr id="3" name="Объект 3">
                <a:extLst>
                  <a:ext uri="{FF2B5EF4-FFF2-40B4-BE49-F238E27FC236}">
                    <a16:creationId xmlns:a16="http://schemas.microsoft.com/office/drawing/2014/main" id="{45881022-F1DE-B6A4-2B62-3193410A4D6E}"/>
                  </a:ext>
                </a:extLst>
              </p:cNvPr>
              <p:cNvGraphicFramePr>
                <a:graphicFrameLocks/>
              </p:cNvGraphicFramePr>
              <p:nvPr>
                <p:extLst>
                  <p:ext uri="{D42A27DB-BD31-4B8C-83A1-F6EECF244321}">
                    <p14:modId xmlns:p14="http://schemas.microsoft.com/office/powerpoint/2010/main" val="3423199559"/>
                  </p:ext>
                </p:extLst>
              </p:nvPr>
            </p:nvGraphicFramePr>
            <p:xfrm>
              <a:off x="1055688" y="2312988"/>
              <a:ext cx="10080723" cy="2374395"/>
            </p:xfrm>
            <a:graphic>
              <a:graphicData uri="http://schemas.openxmlformats.org/drawingml/2006/table">
                <a:tbl>
                  <a:tblPr firstRow="1" bandRow="1">
                    <a:tableStyleId>{2D5ABB26-0587-4C30-8999-92F81FD0307C}</a:tableStyleId>
                  </a:tblPr>
                  <a:tblGrid>
                    <a:gridCol w="3360241">
                      <a:extLst>
                        <a:ext uri="{9D8B030D-6E8A-4147-A177-3AD203B41FA5}">
                          <a16:colId xmlns:a16="http://schemas.microsoft.com/office/drawing/2014/main" val="1026147328"/>
                        </a:ext>
                      </a:extLst>
                    </a:gridCol>
                    <a:gridCol w="3360241">
                      <a:extLst>
                        <a:ext uri="{9D8B030D-6E8A-4147-A177-3AD203B41FA5}">
                          <a16:colId xmlns:a16="http://schemas.microsoft.com/office/drawing/2014/main" val="1690613314"/>
                        </a:ext>
                      </a:extLst>
                    </a:gridCol>
                    <a:gridCol w="3360241">
                      <a:extLst>
                        <a:ext uri="{9D8B030D-6E8A-4147-A177-3AD203B41FA5}">
                          <a16:colId xmlns:a16="http://schemas.microsoft.com/office/drawing/2014/main" val="1135114903"/>
                        </a:ext>
                      </a:extLst>
                    </a:gridCol>
                  </a:tblGrid>
                  <a:tr h="517145">
                    <a:tc>
                      <a:txBody>
                        <a:bodyPr/>
                        <a:lstStyle/>
                        <a:p>
                          <a:pPr algn="ctr"/>
                          <a:r>
                            <a:rPr lang="ru-RU" sz="2400" kern="1200" dirty="0">
                              <a:solidFill>
                                <a:schemeClr val="tx1"/>
                              </a:solidFill>
                              <a:latin typeface="+mn-lt"/>
                              <a:ea typeface="+mn-ea"/>
                              <a:cs typeface="+mn-cs"/>
                            </a:rPr>
                            <a:t>Название алгоритма</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ru-RU" sz="2400" kern="1200" dirty="0">
                              <a:solidFill>
                                <a:schemeClr val="tx1"/>
                              </a:solidFill>
                              <a:latin typeface="+mn-lt"/>
                              <a:ea typeface="+mn-ea"/>
                              <a:cs typeface="+mn-cs"/>
                            </a:rPr>
                            <a:t>Тип алгоритма</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ru-RU" sz="2400" kern="1200" dirty="0">
                              <a:solidFill>
                                <a:schemeClr val="tx1"/>
                              </a:solidFill>
                              <a:latin typeface="+mn-lt"/>
                              <a:ea typeface="+mn-ea"/>
                              <a:cs typeface="+mn-cs"/>
                            </a:rPr>
                            <a:t>Сложность </a:t>
                          </a:r>
                          <a:r>
                            <a:rPr lang="en-US" sz="2400" kern="1200" dirty="0">
                              <a:solidFill>
                                <a:schemeClr val="tx1"/>
                              </a:solidFill>
                              <a:latin typeface="+mn-lt"/>
                              <a:ea typeface="+mn-ea"/>
                              <a:cs typeface="+mn-cs"/>
                            </a:rPr>
                            <a:t>Big-O </a:t>
                          </a:r>
                          <a:endParaRPr lang="ru-RU" sz="240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016426156"/>
                      </a:ext>
                    </a:extLst>
                  </a:tr>
                  <a:tr h="82296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81" t="-68889" r="-200544" b="-135556"/>
                          </a:stretch>
                        </a:blipFill>
                      </a:tcPr>
                    </a:tc>
                    <a:tc>
                      <a:txBody>
                        <a:bodyPr/>
                        <a:lstStyle/>
                        <a:p>
                          <a:pPr algn="ctr"/>
                          <a:r>
                            <a:rPr lang="ru-RU" sz="2400" kern="1200" dirty="0">
                              <a:solidFill>
                                <a:schemeClr val="tx1"/>
                              </a:solidFill>
                              <a:latin typeface="+mn-lt"/>
                              <a:ea typeface="+mn-ea"/>
                              <a:cs typeface="+mn-cs"/>
                            </a:rPr>
                            <a:t>Эвристический </a:t>
                          </a:r>
                          <a:r>
                            <a:rPr lang="ru-RU" sz="2400" kern="1200" dirty="0" err="1">
                              <a:solidFill>
                                <a:schemeClr val="tx1"/>
                              </a:solidFill>
                              <a:latin typeface="+mn-lt"/>
                              <a:ea typeface="+mn-ea"/>
                              <a:cs typeface="+mn-cs"/>
                            </a:rPr>
                            <a:t>Графовый</a:t>
                          </a:r>
                          <a:endParaRPr lang="ru-RU" sz="240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0363" t="-68889" r="-363" b="-135556"/>
                          </a:stretch>
                        </a:blipFill>
                      </a:tcPr>
                    </a:tc>
                    <a:extLst>
                      <a:ext uri="{0D108BD9-81ED-4DB2-BD59-A6C34878D82A}">
                        <a16:rowId xmlns:a16="http://schemas.microsoft.com/office/drawing/2014/main" val="2821114923"/>
                      </a:ext>
                    </a:extLst>
                  </a:tr>
                  <a:tr h="517145">
                    <a:tc>
                      <a:txBody>
                        <a:bodyPr/>
                        <a:lstStyle/>
                        <a:p>
                          <a:pPr algn="ctr"/>
                          <a:r>
                            <a:rPr lang="ru-RU" sz="2400" kern="1200" dirty="0">
                              <a:solidFill>
                                <a:schemeClr val="tx1"/>
                              </a:solidFill>
                              <a:latin typeface="+mn-lt"/>
                              <a:ea typeface="+mn-ea"/>
                              <a:cs typeface="+mn-cs"/>
                            </a:rPr>
                            <a:t>𝑃𝑆𝑂</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ru-RU" sz="2400" kern="1200" dirty="0">
                              <a:solidFill>
                                <a:schemeClr val="tx1"/>
                              </a:solidFill>
                              <a:latin typeface="+mn-lt"/>
                              <a:ea typeface="+mn-ea"/>
                              <a:cs typeface="+mn-cs"/>
                            </a:rPr>
                            <a:t>Эвристический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0363" t="-268235" r="-363" b="-115294"/>
                          </a:stretch>
                        </a:blipFill>
                      </a:tcPr>
                    </a:tc>
                    <a:extLst>
                      <a:ext uri="{0D108BD9-81ED-4DB2-BD59-A6C34878D82A}">
                        <a16:rowId xmlns:a16="http://schemas.microsoft.com/office/drawing/2014/main" val="2668131142"/>
                      </a:ext>
                    </a:extLst>
                  </a:tr>
                  <a:tr h="517145">
                    <a:tc>
                      <a:txBody>
                        <a:bodyPr/>
                        <a:lstStyle/>
                        <a:p>
                          <a:pPr algn="ctr"/>
                          <a:r>
                            <a:rPr lang="ru-RU" sz="2400" kern="1200" dirty="0">
                              <a:solidFill>
                                <a:schemeClr val="tx1"/>
                              </a:solidFill>
                              <a:latin typeface="+mn-lt"/>
                              <a:ea typeface="+mn-ea"/>
                              <a:cs typeface="+mn-cs"/>
                            </a:rPr>
                            <a:t>𝐺𝐽𝑂</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ru-RU" sz="2400" kern="1200" dirty="0">
                              <a:solidFill>
                                <a:schemeClr val="tx1"/>
                              </a:solidFill>
                              <a:latin typeface="+mn-lt"/>
                              <a:ea typeface="+mn-ea"/>
                              <a:cs typeface="+mn-cs"/>
                            </a:rPr>
                            <a:t>Эвристический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0363" t="-368235" r="-363" b="-15294"/>
                          </a:stretch>
                        </a:blipFill>
                      </a:tcPr>
                    </a:tc>
                    <a:extLst>
                      <a:ext uri="{0D108BD9-81ED-4DB2-BD59-A6C34878D82A}">
                        <a16:rowId xmlns:a16="http://schemas.microsoft.com/office/drawing/2014/main" val="619395904"/>
                      </a:ext>
                    </a:extLst>
                  </a:tr>
                </a:tbl>
              </a:graphicData>
            </a:graphic>
          </p:graphicFrame>
        </mc:Fallback>
      </mc:AlternateContent>
      <p:sp>
        <p:nvSpPr>
          <p:cNvPr id="4" name="TextBox 3">
            <a:extLst>
              <a:ext uri="{FF2B5EF4-FFF2-40B4-BE49-F238E27FC236}">
                <a16:creationId xmlns:a16="http://schemas.microsoft.com/office/drawing/2014/main" id="{102C53D0-2CBF-9422-27FD-29C8A3731F6F}"/>
              </a:ext>
            </a:extLst>
          </p:cNvPr>
          <p:cNvSpPr txBox="1"/>
          <p:nvPr/>
        </p:nvSpPr>
        <p:spPr>
          <a:xfrm>
            <a:off x="11510319" y="6277232"/>
            <a:ext cx="438665" cy="377706"/>
          </a:xfrm>
          <a:prstGeom prst="rect">
            <a:avLst/>
          </a:prstGeom>
          <a:noFill/>
        </p:spPr>
        <p:txBody>
          <a:bodyPr wrap="square" rtlCol="0">
            <a:spAutoFit/>
          </a:bodyPr>
          <a:lstStyle/>
          <a:p>
            <a:fld id="{9C552BD2-5A63-4FC4-A35C-09FBB5EA732A}" type="slidenum">
              <a:rPr lang="en-US" smtClean="0"/>
              <a:t>15</a:t>
            </a:fld>
            <a:endParaRPr lang="en-US" dirty="0"/>
          </a:p>
        </p:txBody>
      </p:sp>
    </p:spTree>
    <p:extLst>
      <p:ext uri="{BB962C8B-B14F-4D97-AF65-F5344CB8AC3E}">
        <p14:creationId xmlns:p14="http://schemas.microsoft.com/office/powerpoint/2010/main" val="13549142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B447927-2A09-2C90-A659-D29D0248AE59}"/>
              </a:ext>
            </a:extLst>
          </p:cNvPr>
          <p:cNvSpPr>
            <a:spLocks noGrp="1"/>
          </p:cNvSpPr>
          <p:nvPr>
            <p:ph type="title"/>
          </p:nvPr>
        </p:nvSpPr>
        <p:spPr>
          <a:xfrm>
            <a:off x="1055688" y="1736724"/>
            <a:ext cx="8633062" cy="1692275"/>
          </a:xfrm>
        </p:spPr>
        <p:txBody>
          <a:bodyPr>
            <a:normAutofit fontScale="90000"/>
          </a:bodyPr>
          <a:lstStyle/>
          <a:p>
            <a:r>
              <a:rPr lang="ru-RU" sz="6000" b="1" dirty="0">
                <a:solidFill>
                  <a:srgbClr val="246AF3"/>
                </a:solidFill>
              </a:rPr>
              <a:t>Оптимизация золотистых шакалов</a:t>
            </a:r>
          </a:p>
        </p:txBody>
      </p:sp>
      <p:sp>
        <p:nvSpPr>
          <p:cNvPr id="3" name="TextBox 2">
            <a:extLst>
              <a:ext uri="{FF2B5EF4-FFF2-40B4-BE49-F238E27FC236}">
                <a16:creationId xmlns:a16="http://schemas.microsoft.com/office/drawing/2014/main" id="{FD812740-FE7E-6077-5E49-73E24D770632}"/>
              </a:ext>
            </a:extLst>
          </p:cNvPr>
          <p:cNvSpPr txBox="1"/>
          <p:nvPr/>
        </p:nvSpPr>
        <p:spPr>
          <a:xfrm>
            <a:off x="11510319" y="6277232"/>
            <a:ext cx="438665" cy="377706"/>
          </a:xfrm>
          <a:prstGeom prst="rect">
            <a:avLst/>
          </a:prstGeom>
          <a:noFill/>
        </p:spPr>
        <p:txBody>
          <a:bodyPr wrap="square" rtlCol="0">
            <a:spAutoFit/>
          </a:bodyPr>
          <a:lstStyle/>
          <a:p>
            <a:fld id="{9C552BD2-5A63-4FC4-A35C-09FBB5EA732A}" type="slidenum">
              <a:rPr lang="en-US" smtClean="0"/>
              <a:t>16</a:t>
            </a:fld>
            <a:endParaRPr lang="en-US" dirty="0"/>
          </a:p>
        </p:txBody>
      </p:sp>
    </p:spTree>
    <p:extLst>
      <p:ext uri="{BB962C8B-B14F-4D97-AF65-F5344CB8AC3E}">
        <p14:creationId xmlns:p14="http://schemas.microsoft.com/office/powerpoint/2010/main" val="41813733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D3CAA-1D69-DAEF-5EFA-F10E264640C4}"/>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61522521-423F-2982-9195-A0C79361ED7E}"/>
              </a:ext>
            </a:extLst>
          </p:cNvPr>
          <p:cNvSpPr>
            <a:spLocks noGrp="1"/>
          </p:cNvSpPr>
          <p:nvPr>
            <p:ph type="title"/>
          </p:nvPr>
        </p:nvSpPr>
        <p:spPr>
          <a:xfrm>
            <a:off x="1055688" y="728663"/>
            <a:ext cx="10080625" cy="1008062"/>
          </a:xfrm>
        </p:spPr>
        <p:txBody>
          <a:bodyPr/>
          <a:lstStyle/>
          <a:p>
            <a:r>
              <a:rPr lang="ru-RU" sz="3600" b="1" dirty="0">
                <a:solidFill>
                  <a:srgbClr val="246AF3"/>
                </a:solidFill>
              </a:rPr>
              <a:t>Инициализация</a:t>
            </a:r>
          </a:p>
        </p:txBody>
      </p:sp>
      <p:sp>
        <p:nvSpPr>
          <p:cNvPr id="6" name="TextBox 5">
            <a:extLst>
              <a:ext uri="{FF2B5EF4-FFF2-40B4-BE49-F238E27FC236}">
                <a16:creationId xmlns:a16="http://schemas.microsoft.com/office/drawing/2014/main" id="{54222D27-EDFE-1A4D-8FDB-6FE0F070776A}"/>
              </a:ext>
            </a:extLst>
          </p:cNvPr>
          <p:cNvSpPr txBox="1"/>
          <p:nvPr/>
        </p:nvSpPr>
        <p:spPr>
          <a:xfrm>
            <a:off x="1055687" y="1736725"/>
            <a:ext cx="10080624" cy="1200329"/>
          </a:xfrm>
          <a:prstGeom prst="rect">
            <a:avLst/>
          </a:prstGeom>
          <a:noFill/>
        </p:spPr>
        <p:txBody>
          <a:bodyPr wrap="square">
            <a:spAutoFit/>
          </a:bodyPr>
          <a:lstStyle/>
          <a:p>
            <a:r>
              <a:rPr lang="ru-RU" sz="2400" dirty="0"/>
              <a:t>Будем использовать хаотичное картографирование палаток для улучшения равномерности, хаотичности и эргодичности инициализации особей.</a:t>
            </a:r>
            <a:endParaRPr lang="en-US" sz="2400" dirty="0"/>
          </a:p>
        </p:txBody>
      </p:sp>
      <p:pic>
        <p:nvPicPr>
          <p:cNvPr id="4" name="Рисунок 3">
            <a:extLst>
              <a:ext uri="{FF2B5EF4-FFF2-40B4-BE49-F238E27FC236}">
                <a16:creationId xmlns:a16="http://schemas.microsoft.com/office/drawing/2014/main" id="{917CD1DA-E0BC-66D4-414F-E3A6FB69E0C9}"/>
              </a:ext>
            </a:extLst>
          </p:cNvPr>
          <p:cNvPicPr>
            <a:picLocks noChangeAspect="1"/>
          </p:cNvPicPr>
          <p:nvPr/>
        </p:nvPicPr>
        <p:blipFill>
          <a:blip r:embed="rId3"/>
          <a:stretch>
            <a:fillRect/>
          </a:stretch>
        </p:blipFill>
        <p:spPr>
          <a:xfrm>
            <a:off x="3904240" y="3044533"/>
            <a:ext cx="4422945" cy="3336320"/>
          </a:xfrm>
          <a:prstGeom prst="rect">
            <a:avLst/>
          </a:prstGeom>
        </p:spPr>
      </p:pic>
      <p:sp>
        <p:nvSpPr>
          <p:cNvPr id="3" name="TextBox 2">
            <a:extLst>
              <a:ext uri="{FF2B5EF4-FFF2-40B4-BE49-F238E27FC236}">
                <a16:creationId xmlns:a16="http://schemas.microsoft.com/office/drawing/2014/main" id="{D1EB1E29-6104-CA4E-16E3-E4A5C98A7657}"/>
              </a:ext>
            </a:extLst>
          </p:cNvPr>
          <p:cNvSpPr txBox="1"/>
          <p:nvPr/>
        </p:nvSpPr>
        <p:spPr>
          <a:xfrm>
            <a:off x="11510319" y="6277232"/>
            <a:ext cx="438665" cy="377706"/>
          </a:xfrm>
          <a:prstGeom prst="rect">
            <a:avLst/>
          </a:prstGeom>
          <a:noFill/>
        </p:spPr>
        <p:txBody>
          <a:bodyPr wrap="square" rtlCol="0">
            <a:spAutoFit/>
          </a:bodyPr>
          <a:lstStyle/>
          <a:p>
            <a:fld id="{9C552BD2-5A63-4FC4-A35C-09FBB5EA732A}" type="slidenum">
              <a:rPr lang="en-US" smtClean="0"/>
              <a:t>17</a:t>
            </a:fld>
            <a:endParaRPr lang="en-US" dirty="0"/>
          </a:p>
        </p:txBody>
      </p:sp>
    </p:spTree>
    <p:extLst>
      <p:ext uri="{BB962C8B-B14F-4D97-AF65-F5344CB8AC3E}">
        <p14:creationId xmlns:p14="http://schemas.microsoft.com/office/powerpoint/2010/main" val="11557699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4EEFF-0314-0BFD-4CB9-57BCDEE78F50}"/>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8991F015-E40B-C3B2-96D6-ADE24D281482}"/>
              </a:ext>
            </a:extLst>
          </p:cNvPr>
          <p:cNvSpPr>
            <a:spLocks noGrp="1"/>
          </p:cNvSpPr>
          <p:nvPr>
            <p:ph type="title"/>
          </p:nvPr>
        </p:nvSpPr>
        <p:spPr>
          <a:xfrm>
            <a:off x="1055688" y="728663"/>
            <a:ext cx="10080625" cy="1008062"/>
          </a:xfrm>
        </p:spPr>
        <p:txBody>
          <a:bodyPr/>
          <a:lstStyle/>
          <a:p>
            <a:r>
              <a:rPr lang="ru-RU" sz="3600" b="1" dirty="0">
                <a:solidFill>
                  <a:srgbClr val="246AF3"/>
                </a:solidFill>
              </a:rPr>
              <a:t>Поиск пути</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E2B23BD3-8505-4FAF-A8DC-356478287B9E}"/>
                  </a:ext>
                </a:extLst>
              </p:cNvPr>
              <p:cNvSpPr txBox="1"/>
              <p:nvPr/>
            </p:nvSpPr>
            <p:spPr>
              <a:xfrm>
                <a:off x="1055687" y="1736725"/>
                <a:ext cx="10080624" cy="1477328"/>
              </a:xfrm>
              <a:prstGeom prst="rect">
                <a:avLst/>
              </a:prstGeom>
              <a:noFill/>
            </p:spPr>
            <p:txBody>
              <a:bodyPr wrap="square">
                <a:spAutoFit/>
              </a:bodyPr>
              <a:lstStyle/>
              <a:p>
                <a:pPr marL="457200" indent="-457200">
                  <a:buFont typeface="+mj-lt"/>
                  <a:buAutoNum type="arabicPeriod"/>
                </a:pPr>
                <a:r>
                  <a:rPr lang="ru-RU" sz="2400" dirty="0"/>
                  <a:t>Найдем </a:t>
                </a:r>
                <a:r>
                  <a:rPr lang="ru-RU" sz="2400" dirty="0">
                    <a:solidFill>
                      <a:schemeClr val="tx1"/>
                    </a:solidFill>
                  </a:rPr>
                  <a:t>две лучшие особи и обозначим как </a:t>
                </a:r>
                <a14:m>
                  <m:oMath xmlns:m="http://schemas.openxmlformats.org/officeDocument/2006/math">
                    <m:sSub>
                      <m:sSubPr>
                        <m:ctrlPr>
                          <a:rPr lang="en-US" sz="2400" i="1">
                            <a:solidFill>
                              <a:schemeClr val="tx1"/>
                            </a:solidFill>
                            <a:latin typeface="Cambria Math" panose="02040503050406030204" pitchFamily="18" charset="0"/>
                          </a:rPr>
                        </m:ctrlPr>
                      </m:sSubPr>
                      <m:e>
                        <m:r>
                          <a:rPr lang="ru-RU" sz="2400">
                            <a:solidFill>
                              <a:schemeClr val="tx1"/>
                            </a:solidFill>
                            <a:latin typeface="Cambria Math" panose="02040503050406030204" pitchFamily="18" charset="0"/>
                          </a:rPr>
                          <m:t>𝑋</m:t>
                        </m:r>
                      </m:e>
                      <m:sub>
                        <m:r>
                          <a:rPr lang="ru-RU" sz="2400">
                            <a:solidFill>
                              <a:schemeClr val="tx1"/>
                            </a:solidFill>
                            <a:latin typeface="Cambria Math" panose="02040503050406030204" pitchFamily="18" charset="0"/>
                          </a:rPr>
                          <m:t>𝑀</m:t>
                        </m:r>
                      </m:sub>
                    </m:sSub>
                  </m:oMath>
                </a14:m>
                <a:r>
                  <a:rPr lang="ru-RU" sz="2400" dirty="0">
                    <a:solidFill>
                      <a:schemeClr val="tx1"/>
                    </a:solidFill>
                  </a:rPr>
                  <a:t> и </a:t>
                </a:r>
                <a14:m>
                  <m:oMath xmlns:m="http://schemas.openxmlformats.org/officeDocument/2006/math">
                    <m:sSub>
                      <m:sSubPr>
                        <m:ctrlPr>
                          <a:rPr lang="en-US" sz="2400" i="1">
                            <a:solidFill>
                              <a:schemeClr val="tx1"/>
                            </a:solidFill>
                            <a:latin typeface="Cambria Math" panose="02040503050406030204" pitchFamily="18" charset="0"/>
                          </a:rPr>
                        </m:ctrlPr>
                      </m:sSubPr>
                      <m:e>
                        <m:r>
                          <a:rPr lang="ru-RU" sz="2400">
                            <a:solidFill>
                              <a:schemeClr val="tx1"/>
                            </a:solidFill>
                            <a:latin typeface="Cambria Math" panose="02040503050406030204" pitchFamily="18" charset="0"/>
                          </a:rPr>
                          <m:t>𝑋</m:t>
                        </m:r>
                      </m:e>
                      <m:sub>
                        <m:r>
                          <a:rPr lang="ru-RU" sz="2400">
                            <a:solidFill>
                              <a:schemeClr val="tx1"/>
                            </a:solidFill>
                            <a:latin typeface="Cambria Math" panose="02040503050406030204" pitchFamily="18" charset="0"/>
                          </a:rPr>
                          <m:t>𝐹𝑀</m:t>
                        </m:r>
                      </m:sub>
                    </m:sSub>
                  </m:oMath>
                </a14:m>
                <a:r>
                  <a:rPr lang="ru-RU" sz="2400" dirty="0">
                    <a:solidFill>
                      <a:schemeClr val="tx1"/>
                    </a:solidFill>
                  </a:rPr>
                  <a:t> </a:t>
                </a:r>
                <a:endParaRPr lang="ru-RU" sz="2400" dirty="0"/>
              </a:p>
              <a:p>
                <a:pPr marL="457200" indent="-457200">
                  <a:buFont typeface="+mj-lt"/>
                  <a:buAutoNum type="arabicPeriod"/>
                </a:pPr>
                <a:r>
                  <a:rPr lang="ru-RU" sz="2400" dirty="0"/>
                  <a:t>Считаем энергию системы </a:t>
                </a:r>
                <a14:m>
                  <m:oMath xmlns:m="http://schemas.openxmlformats.org/officeDocument/2006/math">
                    <m:r>
                      <a:rPr lang="ru-RU" sz="2400">
                        <a:latin typeface="Cambria Math" panose="02040503050406030204" pitchFamily="18" charset="0"/>
                      </a:rPr>
                      <m:t>𝐸</m:t>
                    </m:r>
                  </m:oMath>
                </a14:m>
                <a:endParaRPr lang="ru-RU" sz="2400" dirty="0"/>
              </a:p>
              <a:p>
                <a:pPr marL="457200" indent="-457200">
                  <a:buFont typeface="+mj-lt"/>
                  <a:buAutoNum type="arabicPeriod"/>
                </a:pPr>
                <a:endParaRPr lang="ru-RU" dirty="0"/>
              </a:p>
              <a:p>
                <a:pPr marL="457200" indent="-457200">
                  <a:buFont typeface="+mj-lt"/>
                  <a:buAutoNum type="arabicPeriod"/>
                </a:pPr>
                <a:endParaRPr lang="en-US" sz="2400" dirty="0"/>
              </a:p>
            </p:txBody>
          </p:sp>
        </mc:Choice>
        <mc:Fallback xmlns="">
          <p:sp>
            <p:nvSpPr>
              <p:cNvPr id="6" name="TextBox 5">
                <a:extLst>
                  <a:ext uri="{FF2B5EF4-FFF2-40B4-BE49-F238E27FC236}">
                    <a16:creationId xmlns:a16="http://schemas.microsoft.com/office/drawing/2014/main" id="{E2B23BD3-8505-4FAF-A8DC-356478287B9E}"/>
                  </a:ext>
                </a:extLst>
              </p:cNvPr>
              <p:cNvSpPr txBox="1">
                <a:spLocks noRot="1" noChangeAspect="1" noMove="1" noResize="1" noEditPoints="1" noAdjustHandles="1" noChangeArrowheads="1" noChangeShapeType="1" noTextEdit="1"/>
              </p:cNvSpPr>
              <p:nvPr/>
            </p:nvSpPr>
            <p:spPr>
              <a:xfrm>
                <a:off x="1055687" y="1736725"/>
                <a:ext cx="10080624" cy="1477328"/>
              </a:xfrm>
              <a:prstGeom prst="rect">
                <a:avLst/>
              </a:prstGeom>
              <a:blipFill>
                <a:blip r:embed="rId3"/>
                <a:stretch>
                  <a:fillRect l="-967" t="-3719"/>
                </a:stretch>
              </a:blipFill>
            </p:spPr>
            <p:txBody>
              <a:bodyPr/>
              <a:lstStyle/>
              <a:p>
                <a:r>
                  <a:rPr lang="en-US">
                    <a:noFill/>
                  </a:rPr>
                  <a:t> </a:t>
                </a:r>
              </a:p>
            </p:txBody>
          </p:sp>
        </mc:Fallback>
      </mc:AlternateContent>
      <p:pic>
        <p:nvPicPr>
          <p:cNvPr id="4" name="Рисунок 3">
            <a:extLst>
              <a:ext uri="{FF2B5EF4-FFF2-40B4-BE49-F238E27FC236}">
                <a16:creationId xmlns:a16="http://schemas.microsoft.com/office/drawing/2014/main" id="{B316CFE6-3FB2-33B5-DA36-FC15AB8D2DED}"/>
              </a:ext>
            </a:extLst>
          </p:cNvPr>
          <p:cNvPicPr>
            <a:picLocks noChangeAspect="1"/>
          </p:cNvPicPr>
          <p:nvPr/>
        </p:nvPicPr>
        <p:blipFill>
          <a:blip r:embed="rId4"/>
          <a:stretch>
            <a:fillRect/>
          </a:stretch>
        </p:blipFill>
        <p:spPr>
          <a:xfrm>
            <a:off x="3407367" y="2744787"/>
            <a:ext cx="5649113" cy="3134162"/>
          </a:xfrm>
          <a:prstGeom prst="rect">
            <a:avLst/>
          </a:prstGeom>
        </p:spPr>
      </p:pic>
      <p:sp>
        <p:nvSpPr>
          <p:cNvPr id="3" name="TextBox 2">
            <a:extLst>
              <a:ext uri="{FF2B5EF4-FFF2-40B4-BE49-F238E27FC236}">
                <a16:creationId xmlns:a16="http://schemas.microsoft.com/office/drawing/2014/main" id="{DCC9A313-CF81-887C-F352-3CA4E9E83706}"/>
              </a:ext>
            </a:extLst>
          </p:cNvPr>
          <p:cNvSpPr txBox="1"/>
          <p:nvPr/>
        </p:nvSpPr>
        <p:spPr>
          <a:xfrm>
            <a:off x="11510319" y="6277232"/>
            <a:ext cx="438665" cy="377706"/>
          </a:xfrm>
          <a:prstGeom prst="rect">
            <a:avLst/>
          </a:prstGeom>
          <a:noFill/>
        </p:spPr>
        <p:txBody>
          <a:bodyPr wrap="square" rtlCol="0">
            <a:spAutoFit/>
          </a:bodyPr>
          <a:lstStyle/>
          <a:p>
            <a:fld id="{9C552BD2-5A63-4FC4-A35C-09FBB5EA732A}" type="slidenum">
              <a:rPr lang="en-US" smtClean="0"/>
              <a:t>18</a:t>
            </a:fld>
            <a:endParaRPr lang="en-US" dirty="0"/>
          </a:p>
        </p:txBody>
      </p:sp>
    </p:spTree>
    <p:extLst>
      <p:ext uri="{BB962C8B-B14F-4D97-AF65-F5344CB8AC3E}">
        <p14:creationId xmlns:p14="http://schemas.microsoft.com/office/powerpoint/2010/main" val="5431812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F78041-1A44-A417-4338-5D1CC3BF50E9}"/>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4DE49BD9-6AC3-1880-72D4-D6EC9A1AE053}"/>
              </a:ext>
            </a:extLst>
          </p:cNvPr>
          <p:cNvSpPr>
            <a:spLocks noGrp="1"/>
          </p:cNvSpPr>
          <p:nvPr>
            <p:ph type="title"/>
          </p:nvPr>
        </p:nvSpPr>
        <p:spPr>
          <a:xfrm>
            <a:off x="1055688" y="728663"/>
            <a:ext cx="10080625" cy="1008062"/>
          </a:xfrm>
        </p:spPr>
        <p:txBody>
          <a:bodyPr/>
          <a:lstStyle/>
          <a:p>
            <a:r>
              <a:rPr lang="ru-RU" sz="3600" b="1" dirty="0">
                <a:solidFill>
                  <a:srgbClr val="246AF3"/>
                </a:solidFill>
              </a:rPr>
              <a:t>Энергия системы</a:t>
            </a:r>
          </a:p>
        </p:txBody>
      </p:sp>
      <p:sp>
        <p:nvSpPr>
          <p:cNvPr id="3" name="TextBox 2">
            <a:extLst>
              <a:ext uri="{FF2B5EF4-FFF2-40B4-BE49-F238E27FC236}">
                <a16:creationId xmlns:a16="http://schemas.microsoft.com/office/drawing/2014/main" id="{FE1A9353-9765-A4BF-0E64-30A31BDFF21A}"/>
              </a:ext>
            </a:extLst>
          </p:cNvPr>
          <p:cNvSpPr txBox="1"/>
          <p:nvPr/>
        </p:nvSpPr>
        <p:spPr>
          <a:xfrm>
            <a:off x="11510319" y="6277232"/>
            <a:ext cx="438665" cy="377706"/>
          </a:xfrm>
          <a:prstGeom prst="rect">
            <a:avLst/>
          </a:prstGeom>
          <a:noFill/>
        </p:spPr>
        <p:txBody>
          <a:bodyPr wrap="square" rtlCol="0">
            <a:spAutoFit/>
          </a:bodyPr>
          <a:lstStyle/>
          <a:p>
            <a:fld id="{9C552BD2-5A63-4FC4-A35C-09FBB5EA732A}" type="slidenum">
              <a:rPr lang="en-US" smtClean="0"/>
              <a:t>19</a:t>
            </a:fld>
            <a:endParaRPr lang="en-US" dirty="0"/>
          </a:p>
        </p:txBody>
      </p:sp>
      <p:pic>
        <p:nvPicPr>
          <p:cNvPr id="7" name="Рисунок 6">
            <a:extLst>
              <a:ext uri="{FF2B5EF4-FFF2-40B4-BE49-F238E27FC236}">
                <a16:creationId xmlns:a16="http://schemas.microsoft.com/office/drawing/2014/main" id="{7E62E1EB-6BA4-EBEB-A5D5-544EED8E56F5}"/>
              </a:ext>
            </a:extLst>
          </p:cNvPr>
          <p:cNvPicPr>
            <a:picLocks noChangeAspect="1"/>
          </p:cNvPicPr>
          <p:nvPr/>
        </p:nvPicPr>
        <p:blipFill>
          <a:blip r:embed="rId3"/>
          <a:stretch>
            <a:fillRect/>
          </a:stretch>
        </p:blipFill>
        <p:spPr>
          <a:xfrm>
            <a:off x="2596882" y="3039618"/>
            <a:ext cx="7403125" cy="1719344"/>
          </a:xfrm>
          <a:prstGeom prst="rect">
            <a:avLst/>
          </a:prstGeom>
        </p:spPr>
      </p:pic>
      <p:sp>
        <p:nvSpPr>
          <p:cNvPr id="9" name="Прямоугольник: скругленные углы 8">
            <a:extLst>
              <a:ext uri="{FF2B5EF4-FFF2-40B4-BE49-F238E27FC236}">
                <a16:creationId xmlns:a16="http://schemas.microsoft.com/office/drawing/2014/main" id="{61C62FF3-FE06-98B8-5801-2B975CDAE9AA}"/>
              </a:ext>
            </a:extLst>
          </p:cNvPr>
          <p:cNvSpPr/>
          <p:nvPr/>
        </p:nvSpPr>
        <p:spPr>
          <a:xfrm>
            <a:off x="5926229" y="3039618"/>
            <a:ext cx="3725332" cy="685715"/>
          </a:xfrm>
          <a:prstGeom prst="round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96345326-44E4-A636-50E4-4261F5D2E559}"/>
              </a:ext>
            </a:extLst>
          </p:cNvPr>
          <p:cNvSpPr txBox="1"/>
          <p:nvPr/>
        </p:nvSpPr>
        <p:spPr>
          <a:xfrm>
            <a:off x="807287" y="1976734"/>
            <a:ext cx="4742004" cy="461665"/>
          </a:xfrm>
          <a:prstGeom prst="rect">
            <a:avLst/>
          </a:prstGeom>
          <a:noFill/>
        </p:spPr>
        <p:txBody>
          <a:bodyPr wrap="none" rtlCol="0">
            <a:spAutoFit/>
          </a:bodyPr>
          <a:lstStyle/>
          <a:p>
            <a:r>
              <a:rPr lang="ru-RU" sz="2400" dirty="0"/>
              <a:t>Коэффициент масштабирования</a:t>
            </a:r>
            <a:endParaRPr lang="en-US" sz="2400" dirty="0"/>
          </a:p>
        </p:txBody>
      </p:sp>
      <p:cxnSp>
        <p:nvCxnSpPr>
          <p:cNvPr id="18" name="Прямая со стрелкой 17">
            <a:extLst>
              <a:ext uri="{FF2B5EF4-FFF2-40B4-BE49-F238E27FC236}">
                <a16:creationId xmlns:a16="http://schemas.microsoft.com/office/drawing/2014/main" id="{771F77D1-B79C-9FB3-69AD-43F9994199E7}"/>
              </a:ext>
            </a:extLst>
          </p:cNvPr>
          <p:cNvCxnSpPr>
            <a:cxnSpLocks/>
          </p:cNvCxnSpPr>
          <p:nvPr/>
        </p:nvCxnSpPr>
        <p:spPr>
          <a:xfrm>
            <a:off x="5193823" y="2438399"/>
            <a:ext cx="350661" cy="756357"/>
          </a:xfrm>
          <a:prstGeom prst="straightConnector1">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21" name="Прямая соединительная линия 20">
            <a:extLst>
              <a:ext uri="{FF2B5EF4-FFF2-40B4-BE49-F238E27FC236}">
                <a16:creationId xmlns:a16="http://schemas.microsoft.com/office/drawing/2014/main" id="{58C59A3E-2E4F-C599-D186-CA0231620C78}"/>
              </a:ext>
            </a:extLst>
          </p:cNvPr>
          <p:cNvCxnSpPr>
            <a:cxnSpLocks/>
          </p:cNvCxnSpPr>
          <p:nvPr/>
        </p:nvCxnSpPr>
        <p:spPr>
          <a:xfrm flipH="1">
            <a:off x="1162756" y="2438399"/>
            <a:ext cx="4031067"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94033C5E-752E-7457-8E23-575EB7409923}"/>
              </a:ext>
            </a:extLst>
          </p:cNvPr>
          <p:cNvSpPr txBox="1"/>
          <p:nvPr/>
        </p:nvSpPr>
        <p:spPr>
          <a:xfrm>
            <a:off x="6707148" y="2572259"/>
            <a:ext cx="2310248" cy="461665"/>
          </a:xfrm>
          <a:prstGeom prst="rect">
            <a:avLst/>
          </a:prstGeom>
          <a:noFill/>
        </p:spPr>
        <p:txBody>
          <a:bodyPr wrap="none" rtlCol="0">
            <a:spAutoFit/>
          </a:bodyPr>
          <a:lstStyle/>
          <a:p>
            <a:r>
              <a:rPr lang="ru-RU" sz="2400" dirty="0"/>
              <a:t>Хаотичный шаг</a:t>
            </a:r>
            <a:endParaRPr lang="en-US" sz="2400" dirty="0"/>
          </a:p>
        </p:txBody>
      </p:sp>
    </p:spTree>
    <p:extLst>
      <p:ext uri="{BB962C8B-B14F-4D97-AF65-F5344CB8AC3E}">
        <p14:creationId xmlns:p14="http://schemas.microsoft.com/office/powerpoint/2010/main" val="28084502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2526C0-2FA2-9047-308B-52939BD03A2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A8CCA1B-8362-B733-4099-F748FC5F057D}"/>
              </a:ext>
            </a:extLst>
          </p:cNvPr>
          <p:cNvSpPr txBox="1"/>
          <p:nvPr/>
        </p:nvSpPr>
        <p:spPr>
          <a:xfrm>
            <a:off x="11510319" y="6277232"/>
            <a:ext cx="438665" cy="377706"/>
          </a:xfrm>
          <a:prstGeom prst="rect">
            <a:avLst/>
          </a:prstGeom>
          <a:noFill/>
        </p:spPr>
        <p:txBody>
          <a:bodyPr wrap="square" rtlCol="0">
            <a:spAutoFit/>
          </a:bodyPr>
          <a:lstStyle/>
          <a:p>
            <a:fld id="{9C552BD2-5A63-4FC4-A35C-09FBB5EA732A}" type="slidenum">
              <a:rPr lang="en-US" smtClean="0"/>
              <a:t>20</a:t>
            </a:fld>
            <a:endParaRPr lang="en-US" dirty="0"/>
          </a:p>
        </p:txBody>
      </p:sp>
      <p:pic>
        <p:nvPicPr>
          <p:cNvPr id="17" name="Рисунок 16">
            <a:extLst>
              <a:ext uri="{FF2B5EF4-FFF2-40B4-BE49-F238E27FC236}">
                <a16:creationId xmlns:a16="http://schemas.microsoft.com/office/drawing/2014/main" id="{B10BBD01-D82B-1412-CC4D-B98028A3FB49}"/>
              </a:ext>
            </a:extLst>
          </p:cNvPr>
          <p:cNvPicPr>
            <a:picLocks noChangeAspect="1"/>
          </p:cNvPicPr>
          <p:nvPr/>
        </p:nvPicPr>
        <p:blipFill>
          <a:blip r:embed="rId3"/>
          <a:stretch>
            <a:fillRect/>
          </a:stretch>
        </p:blipFill>
        <p:spPr>
          <a:xfrm>
            <a:off x="4189804" y="0"/>
            <a:ext cx="4252219" cy="6858000"/>
          </a:xfrm>
          <a:prstGeom prst="rect">
            <a:avLst/>
          </a:prstGeom>
        </p:spPr>
      </p:pic>
    </p:spTree>
    <p:extLst>
      <p:ext uri="{BB962C8B-B14F-4D97-AF65-F5344CB8AC3E}">
        <p14:creationId xmlns:p14="http://schemas.microsoft.com/office/powerpoint/2010/main" val="13232026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27BFD8-036A-01C9-11B8-33B28C6CBAE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DD644EC-5F09-0A3E-6232-EA266D65F0AF}"/>
              </a:ext>
            </a:extLst>
          </p:cNvPr>
          <p:cNvSpPr txBox="1"/>
          <p:nvPr/>
        </p:nvSpPr>
        <p:spPr>
          <a:xfrm>
            <a:off x="11510319" y="6277232"/>
            <a:ext cx="438665" cy="377706"/>
          </a:xfrm>
          <a:prstGeom prst="rect">
            <a:avLst/>
          </a:prstGeom>
          <a:noFill/>
        </p:spPr>
        <p:txBody>
          <a:bodyPr wrap="square" rtlCol="0">
            <a:spAutoFit/>
          </a:bodyPr>
          <a:lstStyle/>
          <a:p>
            <a:fld id="{9C552BD2-5A63-4FC4-A35C-09FBB5EA732A}" type="slidenum">
              <a:rPr lang="en-US" smtClean="0"/>
              <a:t>21</a:t>
            </a:fld>
            <a:endParaRPr lang="en-US" dirty="0"/>
          </a:p>
        </p:txBody>
      </p:sp>
      <p:pic>
        <p:nvPicPr>
          <p:cNvPr id="4" name="Рисунок 3">
            <a:extLst>
              <a:ext uri="{FF2B5EF4-FFF2-40B4-BE49-F238E27FC236}">
                <a16:creationId xmlns:a16="http://schemas.microsoft.com/office/drawing/2014/main" id="{192F2645-9D0D-4E20-702F-70C75B68C0B9}"/>
              </a:ext>
            </a:extLst>
          </p:cNvPr>
          <p:cNvPicPr>
            <a:picLocks noChangeAspect="1"/>
          </p:cNvPicPr>
          <p:nvPr/>
        </p:nvPicPr>
        <p:blipFill>
          <a:blip r:embed="rId3"/>
          <a:srcRect b="50000"/>
          <a:stretch>
            <a:fillRect/>
          </a:stretch>
        </p:blipFill>
        <p:spPr>
          <a:xfrm>
            <a:off x="2592503" y="0"/>
            <a:ext cx="7784242" cy="6277232"/>
          </a:xfrm>
          <a:prstGeom prst="rect">
            <a:avLst/>
          </a:prstGeom>
        </p:spPr>
      </p:pic>
    </p:spTree>
    <p:extLst>
      <p:ext uri="{BB962C8B-B14F-4D97-AF65-F5344CB8AC3E}">
        <p14:creationId xmlns:p14="http://schemas.microsoft.com/office/powerpoint/2010/main" val="18171191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048937-C58B-A5FA-7E7D-169BB6415D2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7126B50-32B8-60CC-CAAE-9D366F0BBF57}"/>
              </a:ext>
            </a:extLst>
          </p:cNvPr>
          <p:cNvSpPr txBox="1"/>
          <p:nvPr/>
        </p:nvSpPr>
        <p:spPr>
          <a:xfrm>
            <a:off x="11510319" y="6277232"/>
            <a:ext cx="438665" cy="377706"/>
          </a:xfrm>
          <a:prstGeom prst="rect">
            <a:avLst/>
          </a:prstGeom>
          <a:noFill/>
        </p:spPr>
        <p:txBody>
          <a:bodyPr wrap="square" rtlCol="0">
            <a:spAutoFit/>
          </a:bodyPr>
          <a:lstStyle/>
          <a:p>
            <a:fld id="{9C552BD2-5A63-4FC4-A35C-09FBB5EA732A}" type="slidenum">
              <a:rPr lang="en-US" smtClean="0"/>
              <a:t>22</a:t>
            </a:fld>
            <a:endParaRPr lang="en-US" dirty="0"/>
          </a:p>
        </p:txBody>
      </p:sp>
      <p:pic>
        <p:nvPicPr>
          <p:cNvPr id="4" name="Рисунок 3">
            <a:extLst>
              <a:ext uri="{FF2B5EF4-FFF2-40B4-BE49-F238E27FC236}">
                <a16:creationId xmlns:a16="http://schemas.microsoft.com/office/drawing/2014/main" id="{11FDE5D7-75F8-6D94-D459-E3B2F0BB783A}"/>
              </a:ext>
            </a:extLst>
          </p:cNvPr>
          <p:cNvPicPr>
            <a:picLocks noChangeAspect="1"/>
          </p:cNvPicPr>
          <p:nvPr/>
        </p:nvPicPr>
        <p:blipFill>
          <a:blip r:embed="rId3"/>
          <a:srcRect t="48439"/>
          <a:stretch>
            <a:fillRect/>
          </a:stretch>
        </p:blipFill>
        <p:spPr>
          <a:xfrm>
            <a:off x="2615653" y="456993"/>
            <a:ext cx="7697391" cy="6401007"/>
          </a:xfrm>
          <a:prstGeom prst="rect">
            <a:avLst/>
          </a:prstGeom>
        </p:spPr>
      </p:pic>
    </p:spTree>
    <p:extLst>
      <p:ext uri="{BB962C8B-B14F-4D97-AF65-F5344CB8AC3E}">
        <p14:creationId xmlns:p14="http://schemas.microsoft.com/office/powerpoint/2010/main" val="34271691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03517B-174F-24BA-D301-D8147DE3039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1D633CF-0A75-2B2C-010E-9778B62E2439}"/>
              </a:ext>
            </a:extLst>
          </p:cNvPr>
          <p:cNvSpPr txBox="1"/>
          <p:nvPr/>
        </p:nvSpPr>
        <p:spPr>
          <a:xfrm>
            <a:off x="11510319" y="6277232"/>
            <a:ext cx="438665" cy="377706"/>
          </a:xfrm>
          <a:prstGeom prst="rect">
            <a:avLst/>
          </a:prstGeom>
          <a:noFill/>
        </p:spPr>
        <p:txBody>
          <a:bodyPr wrap="square" rtlCol="0">
            <a:spAutoFit/>
          </a:bodyPr>
          <a:lstStyle/>
          <a:p>
            <a:fld id="{9C552BD2-5A63-4FC4-A35C-09FBB5EA732A}" type="slidenum">
              <a:rPr lang="en-US" smtClean="0"/>
              <a:t>23</a:t>
            </a:fld>
            <a:endParaRPr lang="en-US" dirty="0"/>
          </a:p>
        </p:txBody>
      </p:sp>
      <p:pic>
        <p:nvPicPr>
          <p:cNvPr id="4" name="Рисунок 3">
            <a:extLst>
              <a:ext uri="{FF2B5EF4-FFF2-40B4-BE49-F238E27FC236}">
                <a16:creationId xmlns:a16="http://schemas.microsoft.com/office/drawing/2014/main" id="{5E12C357-5210-C4E9-A7AB-DC7A098E48A4}"/>
              </a:ext>
            </a:extLst>
          </p:cNvPr>
          <p:cNvPicPr>
            <a:picLocks noChangeAspect="1"/>
          </p:cNvPicPr>
          <p:nvPr/>
        </p:nvPicPr>
        <p:blipFill>
          <a:blip r:embed="rId3"/>
          <a:srcRect b="50000"/>
          <a:stretch>
            <a:fillRect/>
          </a:stretch>
        </p:blipFill>
        <p:spPr>
          <a:xfrm>
            <a:off x="2592503" y="0"/>
            <a:ext cx="7784242" cy="6277232"/>
          </a:xfrm>
          <a:prstGeom prst="rect">
            <a:avLst/>
          </a:prstGeom>
        </p:spPr>
      </p:pic>
    </p:spTree>
    <p:extLst>
      <p:ext uri="{BB962C8B-B14F-4D97-AF65-F5344CB8AC3E}">
        <p14:creationId xmlns:p14="http://schemas.microsoft.com/office/powerpoint/2010/main" val="42414896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2EE310-5579-6288-DAE0-C41D734D66FB}"/>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923A66C1-7A88-FEB2-5E9C-6E86B91E2CCF}"/>
              </a:ext>
            </a:extLst>
          </p:cNvPr>
          <p:cNvSpPr>
            <a:spLocks noGrp="1"/>
          </p:cNvSpPr>
          <p:nvPr>
            <p:ph type="title"/>
          </p:nvPr>
        </p:nvSpPr>
        <p:spPr>
          <a:xfrm>
            <a:off x="1055688" y="728663"/>
            <a:ext cx="10080625" cy="1008062"/>
          </a:xfrm>
        </p:spPr>
        <p:txBody>
          <a:bodyPr/>
          <a:lstStyle/>
          <a:p>
            <a:r>
              <a:rPr lang="ru-RU" sz="3600" b="1" dirty="0">
                <a:solidFill>
                  <a:srgbClr val="246AF3"/>
                </a:solidFill>
              </a:rPr>
              <a:t>Вероятностные полёты Леви</a:t>
            </a:r>
          </a:p>
        </p:txBody>
      </p:sp>
      <p:pic>
        <p:nvPicPr>
          <p:cNvPr id="1026" name="Picture 2">
            <a:extLst>
              <a:ext uri="{FF2B5EF4-FFF2-40B4-BE49-F238E27FC236}">
                <a16:creationId xmlns:a16="http://schemas.microsoft.com/office/drawing/2014/main" id="{6F74F11B-84BE-8EDC-7A64-62E21A5B98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18607" y="3043230"/>
            <a:ext cx="5088466" cy="381635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8701224B-C5BC-ADD4-4D22-97276D9D74EF}"/>
              </a:ext>
            </a:extLst>
          </p:cNvPr>
          <p:cNvSpPr txBox="1"/>
          <p:nvPr/>
        </p:nvSpPr>
        <p:spPr>
          <a:xfrm>
            <a:off x="1055687" y="1736725"/>
            <a:ext cx="10080624" cy="1200329"/>
          </a:xfrm>
          <a:prstGeom prst="rect">
            <a:avLst/>
          </a:prstGeom>
          <a:noFill/>
        </p:spPr>
        <p:txBody>
          <a:bodyPr wrap="square">
            <a:spAutoFit/>
          </a:bodyPr>
          <a:lstStyle/>
          <a:p>
            <a:r>
              <a:rPr lang="ru-RU" sz="2400" dirty="0"/>
              <a:t>Благодаря тяжёлым хвостам распределение Леви отлично подходит для симуляции больших прыжков в пространстве с не нулевыми вероятностями, в отличие от нормального распределения.</a:t>
            </a:r>
            <a:endParaRPr lang="en-US" sz="2400" dirty="0"/>
          </a:p>
        </p:txBody>
      </p:sp>
      <p:sp>
        <p:nvSpPr>
          <p:cNvPr id="3" name="TextBox 2">
            <a:extLst>
              <a:ext uri="{FF2B5EF4-FFF2-40B4-BE49-F238E27FC236}">
                <a16:creationId xmlns:a16="http://schemas.microsoft.com/office/drawing/2014/main" id="{595D6E21-D0BC-8765-F01C-92B7CCF3C967}"/>
              </a:ext>
            </a:extLst>
          </p:cNvPr>
          <p:cNvSpPr txBox="1"/>
          <p:nvPr/>
        </p:nvSpPr>
        <p:spPr>
          <a:xfrm>
            <a:off x="11510319" y="6277232"/>
            <a:ext cx="438665" cy="377706"/>
          </a:xfrm>
          <a:prstGeom prst="rect">
            <a:avLst/>
          </a:prstGeom>
          <a:noFill/>
        </p:spPr>
        <p:txBody>
          <a:bodyPr wrap="square" rtlCol="0">
            <a:spAutoFit/>
          </a:bodyPr>
          <a:lstStyle/>
          <a:p>
            <a:fld id="{9C552BD2-5A63-4FC4-A35C-09FBB5EA732A}" type="slidenum">
              <a:rPr lang="en-US" smtClean="0"/>
              <a:t>24</a:t>
            </a:fld>
            <a:endParaRPr lang="en-US" dirty="0"/>
          </a:p>
        </p:txBody>
      </p:sp>
    </p:spTree>
    <p:extLst>
      <p:ext uri="{BB962C8B-B14F-4D97-AF65-F5344CB8AC3E}">
        <p14:creationId xmlns:p14="http://schemas.microsoft.com/office/powerpoint/2010/main" val="17841246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B9FE97-08D3-E0D6-74A9-A5F7B27D68E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0EF814E1-5272-9391-2E0A-50DE97DFDDB2}"/>
              </a:ext>
            </a:extLst>
          </p:cNvPr>
          <p:cNvSpPr>
            <a:spLocks noGrp="1"/>
          </p:cNvSpPr>
          <p:nvPr>
            <p:ph type="title"/>
          </p:nvPr>
        </p:nvSpPr>
        <p:spPr>
          <a:xfrm>
            <a:off x="1055688" y="728663"/>
            <a:ext cx="10080625" cy="1008062"/>
          </a:xfrm>
        </p:spPr>
        <p:txBody>
          <a:bodyPr/>
          <a:lstStyle/>
          <a:p>
            <a:r>
              <a:rPr lang="ru-RU" sz="3600" b="1" dirty="0">
                <a:solidFill>
                  <a:srgbClr val="246AF3"/>
                </a:solidFill>
              </a:rPr>
              <a:t>Сходимость</a:t>
            </a:r>
          </a:p>
        </p:txBody>
      </p:sp>
      <mc:AlternateContent xmlns:mc="http://schemas.openxmlformats.org/markup-compatibility/2006" xmlns:a14="http://schemas.microsoft.com/office/drawing/2010/main">
        <mc:Choice Requires="a14">
          <p:sp>
            <p:nvSpPr>
              <p:cNvPr id="3" name="Текст 2">
                <a:extLst>
                  <a:ext uri="{FF2B5EF4-FFF2-40B4-BE49-F238E27FC236}">
                    <a16:creationId xmlns:a16="http://schemas.microsoft.com/office/drawing/2014/main" id="{7F849691-07BF-5D78-7321-FB3792EB3810}"/>
                  </a:ext>
                </a:extLst>
              </p:cNvPr>
              <p:cNvSpPr txBox="1">
                <a:spLocks/>
              </p:cNvSpPr>
              <p:nvPr/>
            </p:nvSpPr>
            <p:spPr bwMode="auto">
              <a:xfrm>
                <a:off x="1055688" y="1736725"/>
                <a:ext cx="10080625" cy="439261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ru-RU" sz="2400" b="1" dirty="0">
                    <a:solidFill>
                      <a:srgbClr val="246AF3"/>
                    </a:solidFill>
                    <a:latin typeface="+mj-lt"/>
                    <a:ea typeface="+mj-ea"/>
                    <a:cs typeface="+mj-cs"/>
                  </a:rPr>
                  <a:t>Теорема</a:t>
                </a:r>
                <a:r>
                  <a:rPr lang="en-US" sz="2400" b="1" dirty="0">
                    <a:solidFill>
                      <a:srgbClr val="246AF3"/>
                    </a:solidFill>
                    <a:latin typeface="+mj-lt"/>
                    <a:ea typeface="+mj-ea"/>
                    <a:cs typeface="+mj-cs"/>
                  </a:rPr>
                  <a:t> ([Pavlyukevich I], 2007)</a:t>
                </a:r>
                <a:r>
                  <a:rPr lang="ru-RU" sz="2400" b="1" dirty="0">
                    <a:solidFill>
                      <a:srgbClr val="246AF3"/>
                    </a:solidFill>
                    <a:latin typeface="+mj-lt"/>
                    <a:ea typeface="+mj-ea"/>
                    <a:cs typeface="+mj-cs"/>
                  </a:rPr>
                  <a:t> </a:t>
                </a:r>
                <a:r>
                  <a:rPr lang="ru-RU" sz="2400" dirty="0"/>
                  <a:t>Пусть целевая функция </a:t>
                </a:r>
                <a14:m>
                  <m:oMath xmlns:m="http://schemas.openxmlformats.org/officeDocument/2006/math">
                    <m:r>
                      <a:rPr lang="ru-RU" sz="2400">
                        <a:latin typeface="Cambria Math" panose="02040503050406030204" pitchFamily="18" charset="0"/>
                      </a:rPr>
                      <m:t>𝑓</m:t>
                    </m:r>
                    <m:r>
                      <a:rPr lang="ru-RU" sz="2400">
                        <a:latin typeface="Cambria Math" panose="02040503050406030204" pitchFamily="18" charset="0"/>
                      </a:rPr>
                      <m:t>:</m:t>
                    </m:r>
                    <m:sSup>
                      <m:sSupPr>
                        <m:ctrlPr>
                          <a:rPr lang="en-US" sz="2400" i="1">
                            <a:latin typeface="Cambria Math" panose="02040503050406030204" pitchFamily="18" charset="0"/>
                          </a:rPr>
                        </m:ctrlPr>
                      </m:sSupPr>
                      <m:e>
                        <m:r>
                          <a:rPr lang="en-US" sz="2400">
                            <a:latin typeface="Cambria Math" panose="02040503050406030204" pitchFamily="18" charset="0"/>
                          </a:rPr>
                          <m:t>𝑅</m:t>
                        </m:r>
                      </m:e>
                      <m:sup>
                        <m:r>
                          <a:rPr lang="ru-RU" sz="2400">
                            <a:latin typeface="Cambria Math" panose="02040503050406030204" pitchFamily="18" charset="0"/>
                          </a:rPr>
                          <m:t>𝑑</m:t>
                        </m:r>
                      </m:sup>
                    </m:sSup>
                    <m:r>
                      <a:rPr lang="ru-RU" sz="2400">
                        <a:latin typeface="Cambria Math" panose="02040503050406030204" pitchFamily="18" charset="0"/>
                      </a:rPr>
                      <m:t>→</m:t>
                    </m:r>
                    <m:r>
                      <a:rPr lang="en-US" sz="2400">
                        <a:latin typeface="Cambria Math" panose="02040503050406030204" pitchFamily="18" charset="0"/>
                      </a:rPr>
                      <m:t>𝑅</m:t>
                    </m:r>
                  </m:oMath>
                </a14:m>
                <a:r>
                  <a:rPr lang="ru-RU" sz="2400" dirty="0"/>
                  <a:t> имеет конечное число локальных минимумов и быстро возрастает на бесконечности. Тогда алгоритм </a:t>
                </a:r>
                <a:r>
                  <a:rPr lang="en-US" sz="2400" dirty="0"/>
                  <a:t>GJO</a:t>
                </a:r>
                <a:r>
                  <a:rPr lang="ru-RU" sz="2400" dirty="0"/>
                  <a:t> с компонентой полёта Леви сходится к глобальному минимуму с вероятностью 1 при </a:t>
                </a:r>
                <a14:m>
                  <m:oMath xmlns:m="http://schemas.openxmlformats.org/officeDocument/2006/math">
                    <m:r>
                      <a:rPr lang="ru-RU" sz="2400">
                        <a:latin typeface="Cambria Math" panose="02040503050406030204" pitchFamily="18" charset="0"/>
                      </a:rPr>
                      <m:t>𝑇</m:t>
                    </m:r>
                    <m:r>
                      <a:rPr lang="ru-RU" sz="2400">
                        <a:latin typeface="Cambria Math" panose="02040503050406030204" pitchFamily="18" charset="0"/>
                      </a:rPr>
                      <m:t>→</m:t>
                    </m:r>
                    <m:r>
                      <a:rPr lang="ru-RU" sz="2400">
                        <a:latin typeface="Cambria Math" panose="02040503050406030204" pitchFamily="18" charset="0"/>
                      </a:rPr>
                      <m:t>∞</m:t>
                    </m:r>
                  </m:oMath>
                </a14:m>
                <a:r>
                  <a:rPr lang="ru-RU" sz="2400" dirty="0"/>
                  <a:t>.</a:t>
                </a:r>
              </a:p>
              <a:p>
                <a:pPr marL="0" indent="0">
                  <a:buNone/>
                </a:pPr>
                <a:r>
                  <a:rPr lang="ru-RU" sz="2400" b="1" dirty="0">
                    <a:solidFill>
                      <a:srgbClr val="246AF3"/>
                    </a:solidFill>
                    <a:latin typeface="+mj-lt"/>
                    <a:ea typeface="+mj-ea"/>
                    <a:cs typeface="+mj-cs"/>
                  </a:rPr>
                  <a:t>Следствие. </a:t>
                </a:r>
                <a:r>
                  <a:rPr lang="ru-RU" sz="2400" dirty="0"/>
                  <a:t>При </a:t>
                </a:r>
                <a14:m>
                  <m:oMath xmlns:m="http://schemas.openxmlformats.org/officeDocument/2006/math">
                    <m:r>
                      <a:rPr lang="ru-RU" sz="2400">
                        <a:latin typeface="Cambria Math" panose="02040503050406030204" pitchFamily="18" charset="0"/>
                      </a:rPr>
                      <m:t>𝑓</m:t>
                    </m:r>
                    <m:r>
                      <a:rPr lang="ru-RU" sz="2400">
                        <a:latin typeface="Cambria Math" panose="02040503050406030204" pitchFamily="18" charset="0"/>
                      </a:rPr>
                      <m:t>:</m:t>
                    </m:r>
                    <m:sSup>
                      <m:sSupPr>
                        <m:ctrlPr>
                          <a:rPr lang="en-US" sz="2400" i="1">
                            <a:latin typeface="Cambria Math" panose="02040503050406030204" pitchFamily="18" charset="0"/>
                          </a:rPr>
                        </m:ctrlPr>
                      </m:sSupPr>
                      <m:e>
                        <m:r>
                          <a:rPr lang="en-US" sz="2400">
                            <a:latin typeface="Cambria Math" panose="02040503050406030204" pitchFamily="18" charset="0"/>
                          </a:rPr>
                          <m:t>𝑅</m:t>
                        </m:r>
                      </m:e>
                      <m:sup>
                        <m:r>
                          <a:rPr lang="ru-RU" sz="2400">
                            <a:latin typeface="Cambria Math" panose="02040503050406030204" pitchFamily="18" charset="0"/>
                          </a:rPr>
                          <m:t>𝑑</m:t>
                        </m:r>
                      </m:sup>
                    </m:sSup>
                    <m:r>
                      <a:rPr lang="ru-RU" sz="2400">
                        <a:latin typeface="Cambria Math" panose="02040503050406030204" pitchFamily="18" charset="0"/>
                      </a:rPr>
                      <m:t>→</m:t>
                    </m:r>
                    <m:r>
                      <a:rPr lang="en-US" sz="2400">
                        <a:latin typeface="Cambria Math" panose="02040503050406030204" pitchFamily="18" charset="0"/>
                      </a:rPr>
                      <m:t>𝑅</m:t>
                    </m:r>
                  </m:oMath>
                </a14:m>
                <a:r>
                  <a:rPr lang="ru-RU" sz="2400" dirty="0"/>
                  <a:t>  быстро возрастающей на бесконечности, алгоритм </a:t>
                </a:r>
                <a:r>
                  <a:rPr lang="en-US" sz="2400" dirty="0"/>
                  <a:t>GJO</a:t>
                </a:r>
                <a:r>
                  <a:rPr lang="ru-RU" sz="2400" dirty="0"/>
                  <a:t> посетит глобальный минимум и застрянет в нём навсегда.</a:t>
                </a:r>
                <a:endParaRPr lang="en-US" sz="2400" dirty="0"/>
              </a:p>
              <a:p>
                <a:endParaRPr lang="ru-RU" dirty="0"/>
              </a:p>
            </p:txBody>
          </p:sp>
        </mc:Choice>
        <mc:Fallback xmlns="">
          <p:sp>
            <p:nvSpPr>
              <p:cNvPr id="3" name="Текст 2">
                <a:extLst>
                  <a:ext uri="{FF2B5EF4-FFF2-40B4-BE49-F238E27FC236}">
                    <a16:creationId xmlns:a16="http://schemas.microsoft.com/office/drawing/2014/main" id="{7F849691-07BF-5D78-7321-FB3792EB3810}"/>
                  </a:ext>
                </a:extLst>
              </p:cNvPr>
              <p:cNvSpPr txBox="1">
                <a:spLocks noRot="1" noChangeAspect="1" noMove="1" noResize="1" noEditPoints="1" noAdjustHandles="1" noChangeArrowheads="1" noChangeShapeType="1" noTextEdit="1"/>
              </p:cNvSpPr>
              <p:nvPr/>
            </p:nvSpPr>
            <p:spPr bwMode="auto">
              <a:xfrm>
                <a:off x="1055688" y="1736725"/>
                <a:ext cx="10080625" cy="4392613"/>
              </a:xfrm>
              <a:prstGeom prst="rect">
                <a:avLst/>
              </a:prstGeom>
              <a:blipFill>
                <a:blip r:embed="rId3"/>
                <a:stretch>
                  <a:fillRect l="-907" t="-1667"/>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6462ACD0-1294-865B-1296-4C9C6B62077A}"/>
              </a:ext>
            </a:extLst>
          </p:cNvPr>
          <p:cNvSpPr txBox="1"/>
          <p:nvPr/>
        </p:nvSpPr>
        <p:spPr>
          <a:xfrm>
            <a:off x="11510319" y="6277232"/>
            <a:ext cx="438665" cy="377706"/>
          </a:xfrm>
          <a:prstGeom prst="rect">
            <a:avLst/>
          </a:prstGeom>
          <a:noFill/>
        </p:spPr>
        <p:txBody>
          <a:bodyPr wrap="square" rtlCol="0">
            <a:spAutoFit/>
          </a:bodyPr>
          <a:lstStyle/>
          <a:p>
            <a:fld id="{9C552BD2-5A63-4FC4-A35C-09FBB5EA732A}" type="slidenum">
              <a:rPr lang="en-US" smtClean="0"/>
              <a:t>25</a:t>
            </a:fld>
            <a:endParaRPr lang="en-US" dirty="0"/>
          </a:p>
        </p:txBody>
      </p:sp>
    </p:spTree>
    <p:extLst>
      <p:ext uri="{BB962C8B-B14F-4D97-AF65-F5344CB8AC3E}">
        <p14:creationId xmlns:p14="http://schemas.microsoft.com/office/powerpoint/2010/main" val="8145140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15BDBC-5045-2726-D8E4-3143FC93D00F}"/>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7A5BCA25-B525-72C7-E37F-9D6DF6A69A95}"/>
              </a:ext>
            </a:extLst>
          </p:cNvPr>
          <p:cNvSpPr>
            <a:spLocks noGrp="1"/>
          </p:cNvSpPr>
          <p:nvPr>
            <p:ph type="title"/>
          </p:nvPr>
        </p:nvSpPr>
        <p:spPr>
          <a:xfrm>
            <a:off x="1055688" y="728663"/>
            <a:ext cx="10080625" cy="1008062"/>
          </a:xfrm>
        </p:spPr>
        <p:txBody>
          <a:bodyPr/>
          <a:lstStyle/>
          <a:p>
            <a:r>
              <a:rPr lang="ru-RU" sz="3600" b="1" dirty="0">
                <a:solidFill>
                  <a:srgbClr val="246AF3"/>
                </a:solidFill>
              </a:rPr>
              <a:t>Сходимость</a:t>
            </a:r>
          </a:p>
        </p:txBody>
      </p:sp>
      <p:sp>
        <p:nvSpPr>
          <p:cNvPr id="4" name="TextBox 3">
            <a:extLst>
              <a:ext uri="{FF2B5EF4-FFF2-40B4-BE49-F238E27FC236}">
                <a16:creationId xmlns:a16="http://schemas.microsoft.com/office/drawing/2014/main" id="{E1E0EC66-86C0-6A00-AEB4-BB2ACF3B49A5}"/>
              </a:ext>
            </a:extLst>
          </p:cNvPr>
          <p:cNvSpPr txBox="1"/>
          <p:nvPr/>
        </p:nvSpPr>
        <p:spPr>
          <a:xfrm>
            <a:off x="11510319" y="6277232"/>
            <a:ext cx="438665" cy="377706"/>
          </a:xfrm>
          <a:prstGeom prst="rect">
            <a:avLst/>
          </a:prstGeom>
          <a:noFill/>
        </p:spPr>
        <p:txBody>
          <a:bodyPr wrap="square" rtlCol="0">
            <a:spAutoFit/>
          </a:bodyPr>
          <a:lstStyle/>
          <a:p>
            <a:fld id="{9C552BD2-5A63-4FC4-A35C-09FBB5EA732A}" type="slidenum">
              <a:rPr lang="en-US" smtClean="0"/>
              <a:t>26</a:t>
            </a:fld>
            <a:endParaRPr lang="en-US" dirty="0"/>
          </a:p>
        </p:txBody>
      </p:sp>
      <p:pic>
        <p:nvPicPr>
          <p:cNvPr id="5" name="Рисунок 4">
            <a:extLst>
              <a:ext uri="{FF2B5EF4-FFF2-40B4-BE49-F238E27FC236}">
                <a16:creationId xmlns:a16="http://schemas.microsoft.com/office/drawing/2014/main" id="{F2032927-6CA5-4304-76D6-33592F194896}"/>
              </a:ext>
            </a:extLst>
          </p:cNvPr>
          <p:cNvPicPr>
            <a:picLocks noChangeAspect="1"/>
          </p:cNvPicPr>
          <p:nvPr/>
        </p:nvPicPr>
        <p:blipFill>
          <a:blip r:embed="rId3"/>
          <a:srcRect r="17170" b="2591"/>
          <a:stretch>
            <a:fillRect/>
          </a:stretch>
        </p:blipFill>
        <p:spPr>
          <a:xfrm>
            <a:off x="2650707" y="2073472"/>
            <a:ext cx="6646354" cy="4392613"/>
          </a:xfrm>
          <a:prstGeom prst="rect">
            <a:avLst/>
          </a:prstGeom>
          <a:ln>
            <a:noFill/>
          </a:ln>
        </p:spPr>
      </p:pic>
    </p:spTree>
    <p:extLst>
      <p:ext uri="{BB962C8B-B14F-4D97-AF65-F5344CB8AC3E}">
        <p14:creationId xmlns:p14="http://schemas.microsoft.com/office/powerpoint/2010/main" val="20973682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72123DA-8B7C-48AA-ECB5-8AEB1232F22E}"/>
            </a:ext>
          </a:extLst>
        </p:cNvPr>
        <p:cNvGrpSpPr/>
        <p:nvPr/>
      </p:nvGrpSpPr>
      <p:grpSpPr>
        <a:xfrm>
          <a:off x="0" y="0"/>
          <a:ext cx="0" cy="0"/>
          <a:chOff x="0" y="0"/>
          <a:chExt cx="0" cy="0"/>
        </a:xfrm>
      </p:grpSpPr>
      <p:pic>
        <p:nvPicPr>
          <p:cNvPr id="23" name="Рисунок 22">
            <a:extLst>
              <a:ext uri="{FF2B5EF4-FFF2-40B4-BE49-F238E27FC236}">
                <a16:creationId xmlns:a16="http://schemas.microsoft.com/office/drawing/2014/main" id="{A4606145-1F52-F171-A1FE-4BE2F0B0B7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0281" y="643466"/>
            <a:ext cx="2624663" cy="2624663"/>
          </a:xfrm>
          <a:prstGeom prst="rect">
            <a:avLst/>
          </a:prstGeom>
        </p:spPr>
      </p:pic>
      <p:pic>
        <p:nvPicPr>
          <p:cNvPr id="30" name="Рисунок 29" descr="Picture background">
            <a:extLst>
              <a:ext uri="{FF2B5EF4-FFF2-40B4-BE49-F238E27FC236}">
                <a16:creationId xmlns:a16="http://schemas.microsoft.com/office/drawing/2014/main" id="{DB84CD3A-E58E-9286-F45D-C1B4F1B693D8}"/>
              </a:ext>
            </a:extLst>
          </p:cNvPr>
          <p:cNvPicPr>
            <a:picLocks noChangeAspect="1"/>
          </p:cNvPicPr>
          <p:nvPr/>
        </p:nvPicPr>
        <p:blipFill>
          <a:blip r:embed="rId4"/>
          <a:stretch>
            <a:fillRect/>
          </a:stretch>
        </p:blipFill>
        <p:spPr>
          <a:xfrm>
            <a:off x="4243493" y="1347472"/>
            <a:ext cx="3743538" cy="1216649"/>
          </a:xfrm>
          <a:prstGeom prst="rect">
            <a:avLst/>
          </a:prstGeom>
        </p:spPr>
      </p:pic>
      <p:pic>
        <p:nvPicPr>
          <p:cNvPr id="29" name="Рисунок 28" descr="Picture background">
            <a:extLst>
              <a:ext uri="{FF2B5EF4-FFF2-40B4-BE49-F238E27FC236}">
                <a16:creationId xmlns:a16="http://schemas.microsoft.com/office/drawing/2014/main" id="{A65CD46F-4B4C-4874-9E0A-DB26CBD8FB89}"/>
              </a:ext>
            </a:extLst>
          </p:cNvPr>
          <p:cNvPicPr>
            <a:picLocks noChangeAspect="1"/>
          </p:cNvPicPr>
          <p:nvPr/>
        </p:nvPicPr>
        <p:blipFill>
          <a:blip r:embed="rId5"/>
          <a:stretch>
            <a:fillRect/>
          </a:stretch>
        </p:blipFill>
        <p:spPr>
          <a:xfrm>
            <a:off x="8616317" y="643466"/>
            <a:ext cx="2624662" cy="2624662"/>
          </a:xfrm>
          <a:prstGeom prst="rect">
            <a:avLst/>
          </a:prstGeom>
        </p:spPr>
      </p:pic>
      <p:pic>
        <p:nvPicPr>
          <p:cNvPr id="19" name="Рисунок 18">
            <a:extLst>
              <a:ext uri="{FF2B5EF4-FFF2-40B4-BE49-F238E27FC236}">
                <a16:creationId xmlns:a16="http://schemas.microsoft.com/office/drawing/2014/main" id="{7677B551-DEF0-2A6C-783F-A4DBCF4BBA3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43467" y="4082622"/>
            <a:ext cx="3278292" cy="1639146"/>
          </a:xfrm>
          <a:prstGeom prst="rect">
            <a:avLst/>
          </a:prstGeom>
        </p:spPr>
      </p:pic>
      <p:pic>
        <p:nvPicPr>
          <p:cNvPr id="28" name="Рисунок 27">
            <a:extLst>
              <a:ext uri="{FF2B5EF4-FFF2-40B4-BE49-F238E27FC236}">
                <a16:creationId xmlns:a16="http://schemas.microsoft.com/office/drawing/2014/main" id="{5EF574D2-64D8-A9A7-CD9C-5162E6527EC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243494" y="4079962"/>
            <a:ext cx="3743538" cy="1663794"/>
          </a:xfrm>
          <a:prstGeom prst="rect">
            <a:avLst/>
          </a:prstGeom>
        </p:spPr>
      </p:pic>
      <p:pic>
        <p:nvPicPr>
          <p:cNvPr id="9" name="Рисунок 8">
            <a:extLst>
              <a:ext uri="{FF2B5EF4-FFF2-40B4-BE49-F238E27FC236}">
                <a16:creationId xmlns:a16="http://schemas.microsoft.com/office/drawing/2014/main" id="{FF2FD33C-0494-0FD1-F45D-6679BFFCA8E6}"/>
              </a:ext>
            </a:extLst>
          </p:cNvPr>
          <p:cNvPicPr>
            <a:picLocks noChangeAspect="1"/>
          </p:cNvPicPr>
          <p:nvPr/>
        </p:nvPicPr>
        <p:blipFill>
          <a:blip r:embed="rId8"/>
          <a:stretch>
            <a:fillRect/>
          </a:stretch>
        </p:blipFill>
        <p:spPr>
          <a:xfrm>
            <a:off x="8752071" y="3589863"/>
            <a:ext cx="2353152" cy="2643992"/>
          </a:xfrm>
          <a:prstGeom prst="rect">
            <a:avLst/>
          </a:prstGeom>
        </p:spPr>
      </p:pic>
      <p:sp>
        <p:nvSpPr>
          <p:cNvPr id="4" name="TextBox 3">
            <a:extLst>
              <a:ext uri="{FF2B5EF4-FFF2-40B4-BE49-F238E27FC236}">
                <a16:creationId xmlns:a16="http://schemas.microsoft.com/office/drawing/2014/main" id="{59BE9580-DF3C-07A5-6AD6-D9A47F9627A3}"/>
              </a:ext>
            </a:extLst>
          </p:cNvPr>
          <p:cNvSpPr txBox="1"/>
          <p:nvPr/>
        </p:nvSpPr>
        <p:spPr>
          <a:xfrm>
            <a:off x="11510319" y="6277232"/>
            <a:ext cx="438665" cy="377706"/>
          </a:xfrm>
          <a:prstGeom prst="rect">
            <a:avLst/>
          </a:prstGeom>
          <a:noFill/>
        </p:spPr>
        <p:txBody>
          <a:bodyPr wrap="square" rtlCol="0">
            <a:spAutoFit/>
          </a:bodyPr>
          <a:lstStyle/>
          <a:p>
            <a:pPr>
              <a:spcAft>
                <a:spcPts val="600"/>
              </a:spcAft>
            </a:pPr>
            <a:fld id="{9C552BD2-5A63-4FC4-A35C-09FBB5EA732A}" type="slidenum">
              <a:rPr lang="en-US" smtClean="0"/>
              <a:pPr>
                <a:spcAft>
                  <a:spcPts val="600"/>
                </a:spcAft>
              </a:pPr>
              <a:t>27</a:t>
            </a:fld>
            <a:endParaRPr lang="en-US"/>
          </a:p>
        </p:txBody>
      </p:sp>
    </p:spTree>
    <p:extLst>
      <p:ext uri="{BB962C8B-B14F-4D97-AF65-F5344CB8AC3E}">
        <p14:creationId xmlns:p14="http://schemas.microsoft.com/office/powerpoint/2010/main" val="519385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D5A0A7-2F40-3BE2-501B-363BA9615BF1}"/>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C3BF6480-8CA6-B06B-37C5-4FA427C9B15D}"/>
              </a:ext>
            </a:extLst>
          </p:cNvPr>
          <p:cNvSpPr>
            <a:spLocks noGrp="1"/>
          </p:cNvSpPr>
          <p:nvPr>
            <p:ph type="title"/>
          </p:nvPr>
        </p:nvSpPr>
        <p:spPr>
          <a:xfrm>
            <a:off x="1055688" y="728663"/>
            <a:ext cx="10080625" cy="1008062"/>
          </a:xfrm>
        </p:spPr>
        <p:txBody>
          <a:bodyPr/>
          <a:lstStyle/>
          <a:p>
            <a:r>
              <a:rPr lang="ru-RU" sz="3600" b="1" dirty="0">
                <a:solidFill>
                  <a:srgbClr val="246AF3"/>
                </a:solidFill>
              </a:rPr>
              <a:t>Список литературы</a:t>
            </a:r>
          </a:p>
        </p:txBody>
      </p:sp>
      <p:sp>
        <p:nvSpPr>
          <p:cNvPr id="4" name="TextBox 3">
            <a:extLst>
              <a:ext uri="{FF2B5EF4-FFF2-40B4-BE49-F238E27FC236}">
                <a16:creationId xmlns:a16="http://schemas.microsoft.com/office/drawing/2014/main" id="{A1940A1F-750C-08F8-194A-4D1724FFBA17}"/>
              </a:ext>
            </a:extLst>
          </p:cNvPr>
          <p:cNvSpPr txBox="1"/>
          <p:nvPr/>
        </p:nvSpPr>
        <p:spPr>
          <a:xfrm>
            <a:off x="1055687" y="1736725"/>
            <a:ext cx="10080625" cy="4893647"/>
          </a:xfrm>
          <a:prstGeom prst="rect">
            <a:avLst/>
          </a:prstGeom>
          <a:noFill/>
        </p:spPr>
        <p:txBody>
          <a:bodyPr wrap="square">
            <a:spAutoFit/>
          </a:bodyPr>
          <a:lstStyle/>
          <a:p>
            <a:pPr marL="457200" indent="-457200">
              <a:buFont typeface="+mj-lt"/>
              <a:buAutoNum type="arabicPeriod"/>
            </a:pPr>
            <a:r>
              <a:rPr lang="en-US" sz="2400" dirty="0"/>
              <a:t>Chopra N., Ansari M. M. Golden jackal optimization: A novel nature-inspired optimizer for engineering applications //Expert Systems with Applications. – 2022. – Т. 198. – С. 116924.</a:t>
            </a:r>
          </a:p>
          <a:p>
            <a:pPr marL="457200" indent="-457200">
              <a:buFont typeface="+mj-lt"/>
              <a:buAutoNum type="arabicPeriod"/>
            </a:pPr>
            <a:r>
              <a:rPr lang="en-US" sz="2400" dirty="0"/>
              <a:t>Lou T. et al. Multi-UAV collaborative trajectory planning for 3D terrain based on CS-GJO algorithm //Complex System Modeling and Simulation. – 2024. – </a:t>
            </a:r>
            <a:r>
              <a:rPr lang="ru-RU" sz="2400" dirty="0"/>
              <a:t>Т. 4. – №. 3. – С. 274-291.</a:t>
            </a:r>
            <a:endParaRPr lang="en-US" sz="2400" dirty="0"/>
          </a:p>
          <a:p>
            <a:pPr marL="457200" indent="-457200">
              <a:buFont typeface="+mj-lt"/>
              <a:buAutoNum type="arabicPeriod"/>
            </a:pPr>
            <a:r>
              <a:rPr lang="en-US" sz="2400" dirty="0"/>
              <a:t>Pavlyukevich I. Lévy flights, non-local search and simulated annealing //journal of computational physics. – 2007. – Т. 226. – №. 2. – С. 1830-1844.</a:t>
            </a:r>
          </a:p>
          <a:p>
            <a:pPr marL="457200" indent="-457200">
              <a:buFont typeface="+mj-lt"/>
              <a:buAutoNum type="arabicPeriod"/>
            </a:pPr>
            <a:r>
              <a:rPr lang="en-US" sz="2400" dirty="0"/>
              <a:t>Li Y., Han M., Guo Q. Modified whale optimization algorithm based on tent chaotic mapping and its application in structural optimization //KSCE Journal of Civil Engineering. – 2020. – Т. 24. – №. 12. – С. 3703-3713.</a:t>
            </a:r>
          </a:p>
        </p:txBody>
      </p:sp>
      <p:sp>
        <p:nvSpPr>
          <p:cNvPr id="3" name="TextBox 2">
            <a:extLst>
              <a:ext uri="{FF2B5EF4-FFF2-40B4-BE49-F238E27FC236}">
                <a16:creationId xmlns:a16="http://schemas.microsoft.com/office/drawing/2014/main" id="{31DB4532-D819-4349-78FA-53C83DC4091A}"/>
              </a:ext>
            </a:extLst>
          </p:cNvPr>
          <p:cNvSpPr txBox="1"/>
          <p:nvPr/>
        </p:nvSpPr>
        <p:spPr>
          <a:xfrm>
            <a:off x="11510319" y="6277232"/>
            <a:ext cx="438665" cy="377706"/>
          </a:xfrm>
          <a:prstGeom prst="rect">
            <a:avLst/>
          </a:prstGeom>
          <a:noFill/>
        </p:spPr>
        <p:txBody>
          <a:bodyPr wrap="square" rtlCol="0">
            <a:spAutoFit/>
          </a:bodyPr>
          <a:lstStyle/>
          <a:p>
            <a:fld id="{9C552BD2-5A63-4FC4-A35C-09FBB5EA732A}" type="slidenum">
              <a:rPr lang="en-US" smtClean="0"/>
              <a:t>28</a:t>
            </a:fld>
            <a:endParaRPr lang="en-US" dirty="0"/>
          </a:p>
        </p:txBody>
      </p:sp>
    </p:spTree>
    <p:extLst>
      <p:ext uri="{BB962C8B-B14F-4D97-AF65-F5344CB8AC3E}">
        <p14:creationId xmlns:p14="http://schemas.microsoft.com/office/powerpoint/2010/main" val="13646341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DBE0E2-0DAB-324A-7B09-6D5098085EF1}"/>
            </a:ext>
          </a:extLst>
        </p:cNvPr>
        <p:cNvGrpSpPr/>
        <p:nvPr/>
      </p:nvGrpSpPr>
      <p:grpSpPr>
        <a:xfrm>
          <a:off x="0" y="0"/>
          <a:ext cx="0" cy="0"/>
          <a:chOff x="0" y="0"/>
          <a:chExt cx="0" cy="0"/>
        </a:xfrm>
      </p:grpSpPr>
      <p:sp>
        <p:nvSpPr>
          <p:cNvPr id="3" name="Подзаголовок 2">
            <a:extLst>
              <a:ext uri="{FF2B5EF4-FFF2-40B4-BE49-F238E27FC236}">
                <a16:creationId xmlns:a16="http://schemas.microsoft.com/office/drawing/2014/main" id="{00609A43-2F62-C898-EC36-D7D76FBB37F9}"/>
              </a:ext>
            </a:extLst>
          </p:cNvPr>
          <p:cNvSpPr>
            <a:spLocks noGrp="1"/>
          </p:cNvSpPr>
          <p:nvPr>
            <p:ph type="subTitle" idx="1"/>
          </p:nvPr>
        </p:nvSpPr>
        <p:spPr>
          <a:xfrm>
            <a:off x="1060767" y="3947823"/>
            <a:ext cx="6736125" cy="1856984"/>
          </a:xfrm>
        </p:spPr>
        <p:txBody>
          <a:bodyPr>
            <a:normAutofit/>
          </a:bodyPr>
          <a:lstStyle/>
          <a:p>
            <a:pPr algn="l">
              <a:lnSpc>
                <a:spcPct val="100000"/>
              </a:lnSpc>
            </a:pPr>
            <a:r>
              <a:rPr lang="ru-RU" dirty="0"/>
              <a:t>Выполнил: студент группы ПС–21 очной формы обучения Жуков Максим Игоревич</a:t>
            </a:r>
          </a:p>
          <a:p>
            <a:pPr algn="l"/>
            <a:r>
              <a:rPr lang="ru-RU" dirty="0"/>
              <a:t>Руководитель: доцент, кандидат </a:t>
            </a:r>
            <a:r>
              <a:rPr lang="ru-RU" dirty="0" err="1"/>
              <a:t>физ</a:t>
            </a:r>
            <a:r>
              <a:rPr lang="ru-RU" dirty="0"/>
              <a:t>-мат наук</a:t>
            </a:r>
            <a:br>
              <a:rPr lang="ru-RU" dirty="0"/>
            </a:br>
            <a:r>
              <a:rPr lang="ru-RU" dirty="0"/>
              <a:t>Козлов Александр Иванович</a:t>
            </a:r>
          </a:p>
        </p:txBody>
      </p:sp>
      <p:sp>
        <p:nvSpPr>
          <p:cNvPr id="5" name="TextBox 4">
            <a:extLst>
              <a:ext uri="{FF2B5EF4-FFF2-40B4-BE49-F238E27FC236}">
                <a16:creationId xmlns:a16="http://schemas.microsoft.com/office/drawing/2014/main" id="{D1D3F1EA-BEA6-07CC-7675-DEBEA70E6A4B}"/>
              </a:ext>
            </a:extLst>
          </p:cNvPr>
          <p:cNvSpPr txBox="1"/>
          <p:nvPr/>
        </p:nvSpPr>
        <p:spPr>
          <a:xfrm>
            <a:off x="1055688" y="1754791"/>
            <a:ext cx="10075545" cy="1446550"/>
          </a:xfrm>
          <a:prstGeom prst="rect">
            <a:avLst/>
          </a:prstGeom>
          <a:noFill/>
        </p:spPr>
        <p:txBody>
          <a:bodyPr wrap="square">
            <a:spAutoFit/>
          </a:bodyPr>
          <a:lstStyle/>
          <a:p>
            <a:pPr algn="ctr"/>
            <a:r>
              <a:rPr lang="ru-RU" sz="4400" dirty="0">
                <a:latin typeface="+mj-lt"/>
                <a:ea typeface="+mj-ea"/>
                <a:cs typeface="+mj-cs"/>
              </a:rPr>
              <a:t>Планирование траекторий полётов БПЛА в пространстве с ограничениями</a:t>
            </a:r>
            <a:endParaRPr lang="en-US" sz="4400" dirty="0">
              <a:latin typeface="+mj-lt"/>
              <a:ea typeface="+mj-ea"/>
              <a:cs typeface="+mj-cs"/>
            </a:endParaRPr>
          </a:p>
        </p:txBody>
      </p:sp>
    </p:spTree>
    <p:extLst>
      <p:ext uri="{BB962C8B-B14F-4D97-AF65-F5344CB8AC3E}">
        <p14:creationId xmlns:p14="http://schemas.microsoft.com/office/powerpoint/2010/main" val="2238024536"/>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3536</TotalTime>
  <Words>1690</Words>
  <Application>Microsoft Office PowerPoint</Application>
  <PresentationFormat>Широкоэкранный</PresentationFormat>
  <Paragraphs>163</Paragraphs>
  <Slides>29</Slides>
  <Notes>29</Notes>
  <HiddenSlides>1</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29</vt:i4>
      </vt:variant>
    </vt:vector>
  </HeadingPairs>
  <TitlesOfParts>
    <vt:vector size="34" baseType="lpstr">
      <vt:lpstr>Aptos</vt:lpstr>
      <vt:lpstr>Aptos Display</vt:lpstr>
      <vt:lpstr>Arial</vt:lpstr>
      <vt:lpstr>Cambria Math</vt:lpstr>
      <vt:lpstr>Тема Office</vt:lpstr>
      <vt:lpstr>Презентация PowerPoint</vt:lpstr>
      <vt:lpstr>Формулировка задачи</vt:lpstr>
      <vt:lpstr>Конкретизация вида задачи</vt:lpstr>
      <vt:lpstr>Цель</vt:lpstr>
      <vt:lpstr>Задачи</vt:lpstr>
      <vt:lpstr>Проверка вычислений</vt:lpstr>
      <vt:lpstr>Дискретизация задачи</vt:lpstr>
      <vt:lpstr>Ограничения задачи</vt:lpstr>
      <vt:lpstr>Ограничения задачи</vt:lpstr>
      <vt:lpstr>Ограничения задачи</vt:lpstr>
      <vt:lpstr>Ограничения задачи</vt:lpstr>
      <vt:lpstr>Ограничения задачи</vt:lpstr>
      <vt:lpstr>Ограничения задачи</vt:lpstr>
      <vt:lpstr>Сглаживание траектории</vt:lpstr>
      <vt:lpstr>Сложность алгоритмов</vt:lpstr>
      <vt:lpstr>Оптимизация золотистых шакалов</vt:lpstr>
      <vt:lpstr>Инициализация</vt:lpstr>
      <vt:lpstr>Поиск пути</vt:lpstr>
      <vt:lpstr>Энергия системы</vt:lpstr>
      <vt:lpstr>Презентация PowerPoint</vt:lpstr>
      <vt:lpstr>Презентация PowerPoint</vt:lpstr>
      <vt:lpstr>Презентация PowerPoint</vt:lpstr>
      <vt:lpstr>Презентация PowerPoint</vt:lpstr>
      <vt:lpstr>Вероятностные полёты Леви</vt:lpstr>
      <vt:lpstr>Сходимость</vt:lpstr>
      <vt:lpstr>Сходимость</vt:lpstr>
      <vt:lpstr>Презентация PowerPoint</vt:lpstr>
      <vt:lpstr>Список литературы</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Расстановка охранников  в художественной галерее</dc:title>
  <dc:creator>Степашка Модняш</dc:creator>
  <cp:lastModifiedBy>Максим Жуковм</cp:lastModifiedBy>
  <cp:revision>48</cp:revision>
  <dcterms:created xsi:type="dcterms:W3CDTF">2025-03-02T06:42:24Z</dcterms:created>
  <dcterms:modified xsi:type="dcterms:W3CDTF">2026-06-11T09:52:51Z</dcterms:modified>
</cp:coreProperties>
</file>