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359" r:id="rId3"/>
    <p:sldId id="259" r:id="rId4"/>
    <p:sldId id="262" r:id="rId5"/>
    <p:sldId id="291" r:id="rId6"/>
    <p:sldId id="293" r:id="rId7"/>
    <p:sldId id="261" r:id="rId8"/>
    <p:sldId id="277" r:id="rId9"/>
    <p:sldId id="361" r:id="rId10"/>
    <p:sldId id="364" r:id="rId11"/>
    <p:sldId id="363" r:id="rId12"/>
    <p:sldId id="362" r:id="rId13"/>
    <p:sldId id="365" r:id="rId14"/>
    <p:sldId id="360" r:id="rId15"/>
    <p:sldId id="288" r:id="rId16"/>
    <p:sldId id="263" r:id="rId17"/>
    <p:sldId id="270" r:id="rId18"/>
    <p:sldId id="265" r:id="rId19"/>
    <p:sldId id="271" r:id="rId20"/>
    <p:sldId id="273" r:id="rId21"/>
    <p:sldId id="281" r:id="rId22"/>
    <p:sldId id="257" r:id="rId23"/>
    <p:sldId id="272" r:id="rId24"/>
    <p:sldId id="283" r:id="rId25"/>
    <p:sldId id="274" r:id="rId26"/>
    <p:sldId id="275" r:id="rId27"/>
    <p:sldId id="286" r:id="rId28"/>
    <p:sldId id="285" r:id="rId29"/>
    <p:sldId id="279" r:id="rId30"/>
    <p:sldId id="287" r:id="rId31"/>
    <p:sldId id="290" r:id="rId32"/>
    <p:sldId id="289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6324"/>
    <a:srgbClr val="246AF3"/>
    <a:srgbClr val="1C7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6667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986FF-C254-4F4D-970E-EBA5E0147EDB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22E3D-766E-4CE8-99C1-DB828FEDF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17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 боевой группой стоит задача </a:t>
            </a:r>
            <a:r>
              <a:rPr lang="en-US" dirty="0"/>
              <a:t>“</a:t>
            </a:r>
            <a:r>
              <a:rPr lang="ru-RU" dirty="0"/>
              <a:t>С помощью БПЛА поразить несколько целей одновременно, причём сделать это с максимальной скоростью и вероятностью поражения</a:t>
            </a:r>
            <a:r>
              <a:rPr lang="en-US" dirty="0"/>
              <a:t>.”</a:t>
            </a:r>
            <a:r>
              <a:rPr lang="ru-RU" dirty="0"/>
              <a:t> Как построить траектории этих дронов</a:t>
            </a:r>
            <a:r>
              <a:rPr lang="en-US" dirty="0"/>
              <a:t>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22E3D-766E-4CE8-99C1-DB828FEDFC0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86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1. </a:t>
            </a:r>
            <a:r>
              <a:rPr lang="ru-RU" sz="1200" dirty="0"/>
              <a:t>Выполнению миссии могут помешать ПВО и радары. ПВО представлены цилиндры. Радары в виде сферы.</a:t>
            </a:r>
          </a:p>
          <a:p>
            <a:r>
              <a:rPr lang="ru-RU" dirty="0"/>
              <a:t>2. У дронов есть ограничения на скорость и максимальным углом подъёма и поворота.</a:t>
            </a:r>
          </a:p>
          <a:p>
            <a:r>
              <a:rPr lang="ru-RU" dirty="0"/>
              <a:t>3. Будем представлять траекторию как последовательность точек, которые должен посетить дрон.</a:t>
            </a:r>
          </a:p>
          <a:p>
            <a:r>
              <a:rPr lang="ru-RU" dirty="0"/>
              <a:t>4. Каждый сегмент траектории ограничен по длина сверху и снизу. </a:t>
            </a:r>
          </a:p>
          <a:p>
            <a:r>
              <a:rPr lang="ru-RU" dirty="0"/>
              <a:t>5. Суммарная длина всех сегментов не должна быть больше некоторого числа.</a:t>
            </a:r>
          </a:p>
          <a:p>
            <a:r>
              <a:rPr lang="ru-RU" dirty="0"/>
              <a:t>6. Цель – минимизировать длину пути, резкость смены высоты, гладкость и угрозы от ПВО и радаров.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22E3D-766E-4CE8-99C1-DB828FEDFC0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64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E47FAE-7CEB-1A8C-07CF-0A835A55A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FE4B55-3AE2-2F9C-865A-3CE6CB473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1C815E-B9CA-B7A4-6B23-9383689F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DD526F-CBC4-0AC5-A5DE-DDE3A3A2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DCA680-0AD8-6302-CBBB-4946ACAA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794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86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88644-0E93-3363-3ED5-F0605CBF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ED669B-9116-B294-8072-A35452047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78E6C-54A6-F97D-9E94-9602823C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061DC0-E238-6CD3-36D4-F5E0E6D4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182655-82CF-DE05-DD65-ED338ACB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11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84D4D-9753-D3A9-E24A-8F26BC8CC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3DF50E-439B-5297-0538-8D873C366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0A2CC4-8C45-718E-8748-56850C79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EC9CBC-1164-0D6B-3DDE-FCA552C7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FC1296-FFC1-D80C-5F05-236EE181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82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1B36E-A635-31E5-20FC-0A28C044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7DA0CE-33EB-ACB6-5D8C-62771B2C6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55FB84-3B62-11FC-BADB-0CC331F53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203222-BCF8-BC93-199A-FB0117EA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A7554A-E3FF-755B-791D-EA0C4C67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680759-B447-516E-6784-B830157C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720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83F4A-7B16-2DD9-D313-E9D893C9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5B86F8-F692-920D-005E-A59C50210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CD940E-B132-92E1-2C20-04B44AADE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CE11D4-8557-FA7E-D927-71CB8BF0B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C9D972-1075-143C-B071-2E1788BDA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5C52461-0BB6-1488-ECA3-9EE735B7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B6AA5F-FFFF-4FA9-5310-67F009D1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473069-0C6C-D3F7-BC81-C6DC0271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0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5F4A0-94D6-0D4C-C348-EF56CA7A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3EC721-A186-358E-F85C-D0F77F449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6EAB19-BA8F-EBBC-11E3-D375A887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C69F74-1E52-FF2F-8D0C-62EEC424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94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2EE020-CA6F-9108-4FF8-26A77D17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8DB28F2-528A-7DE4-AFCF-8C38E2AD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F57E9B-279D-DACC-2910-C5584558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91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455E4-588B-0775-6008-828B0A65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47F7F-BCF0-E21A-2815-ADCF7DF78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3AFC81-F203-EAFC-0025-66C06C636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AD4733-9180-06BF-F88D-EFAB9D394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EC1BBB-16DB-F7A9-B6A6-2BCDADFB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F6C7F0-D6BF-4AB3-9BEC-3B042560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54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2DED5-04C7-4AAE-DF4B-393982072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1EAA2A-1A22-06A7-1C92-EF67D656E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6676A4-CF17-4211-8EDE-3ED2696B8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DF13EE-27AF-BDC3-F473-83CB6B67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39E47E-6F7E-81A7-C925-1B194492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943A82-87B5-7738-E6F4-9A5C3CF9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30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EDFA2F-77F1-8EB3-684A-4E926B9F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BB0E2F-EE73-1E97-A84E-6F47F88AC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DC3890-4EDC-8027-03CC-95CA1C7A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35E2E5-3107-6C9E-560D-E110A60C2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4D7735-BC02-B7FF-ACAD-CB3D46C05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03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9D3597-2524-CD9D-AD3C-0DC905AFD1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CBE3D2-65C8-4853-31F6-C55F57818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A6249E-8C62-A318-9F82-E7F6D4F3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355BF8-3977-2E2A-4E85-641F45A97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3D9A94-207A-44F8-4B19-A5C6418E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27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1F760-EE1A-B1A1-CEC9-9330EF33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9959F-23B6-55D9-353A-FDD49907D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A2F3B0-A1C7-E96A-B0AA-5B3D1B7E6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B4CF7-4AF6-4F22-BEAD-2FF1E49FC008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9A8AFD-931A-32B7-8484-1510FD869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858EC8-F0E9-FD89-1484-1F138B393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63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7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223" userDrawn="1">
          <p15:clr>
            <a:srgbClr val="F26B43"/>
          </p15:clr>
        </p15:guide>
        <p15:guide id="4" orient="horz" pos="1457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pos="459" userDrawn="1">
          <p15:clr>
            <a:srgbClr val="F26B43"/>
          </p15:clr>
        </p15:guide>
        <p15:guide id="8" pos="665" userDrawn="1">
          <p15:clr>
            <a:srgbClr val="F26B43"/>
          </p15:clr>
        </p15:guide>
        <p15:guide id="9" pos="7015" userDrawn="1">
          <p15:clr>
            <a:srgbClr val="F26B43"/>
          </p15:clr>
        </p15:guide>
        <p15:guide id="10" orient="horz" pos="1094" userDrawn="1">
          <p15:clr>
            <a:srgbClr val="F26B43"/>
          </p15:clr>
        </p15:guide>
        <p15:guide id="11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67FEE4-C78F-3821-024E-152305C89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0767" y="3947823"/>
            <a:ext cx="6736125" cy="185698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ru-RU" dirty="0"/>
              <a:t>Выполнил: студент группы ПС–21 очной формы обучения Жуков Максим Игоревич</a:t>
            </a:r>
          </a:p>
          <a:p>
            <a:pPr algn="l"/>
            <a:r>
              <a:rPr lang="ru-RU" dirty="0"/>
              <a:t>Руководитель: доцент, кандидат </a:t>
            </a:r>
            <a:r>
              <a:rPr lang="ru-RU" dirty="0" err="1"/>
              <a:t>физ</a:t>
            </a:r>
            <a:r>
              <a:rPr lang="ru-RU" dirty="0"/>
              <a:t>-мат наук</a:t>
            </a:r>
            <a:br>
              <a:rPr lang="ru-RU" dirty="0"/>
            </a:br>
            <a:r>
              <a:rPr lang="ru-RU" dirty="0"/>
              <a:t>Козлов Александр Иванович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7B1535-9ABB-7021-8313-1801EA0DB845}"/>
              </a:ext>
            </a:extLst>
          </p:cNvPr>
          <p:cNvSpPr txBox="1"/>
          <p:nvPr/>
        </p:nvSpPr>
        <p:spPr>
          <a:xfrm>
            <a:off x="1055688" y="1754791"/>
            <a:ext cx="1007554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dirty="0">
                <a:latin typeface="+mj-lt"/>
                <a:ea typeface="+mj-ea"/>
                <a:cs typeface="+mj-cs"/>
              </a:rPr>
              <a:t>Планирование траекторий полётов БПЛА в пространстве с ограничениями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0407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D4DDBC7-271B-424E-A9E0-76951E5B619B}"/>
              </a:ext>
            </a:extLst>
          </p:cNvPr>
          <p:cNvSpPr/>
          <p:nvPr/>
        </p:nvSpPr>
        <p:spPr>
          <a:xfrm>
            <a:off x="1200150" y="2168525"/>
            <a:ext cx="4535810" cy="2484438"/>
          </a:xfrm>
          <a:prstGeom prst="roundRect">
            <a:avLst>
              <a:gd name="adj" fmla="val 2814"/>
            </a:avLst>
          </a:prstGeom>
          <a:solidFill>
            <a:srgbClr val="FEEEE7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4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187B45C-3986-45A3-9B52-3E122E4B3132}"/>
              </a:ext>
            </a:extLst>
          </p:cNvPr>
          <p:cNvSpPr/>
          <p:nvPr/>
        </p:nvSpPr>
        <p:spPr>
          <a:xfrm>
            <a:off x="1487488" y="2492896"/>
            <a:ext cx="3960440" cy="936104"/>
          </a:xfrm>
          <a:prstGeom prst="roundRect">
            <a:avLst>
              <a:gd name="adj" fmla="val 8435"/>
            </a:avLst>
          </a:prstGeom>
          <a:solidFill>
            <a:srgbClr val="F36324"/>
          </a:solidFill>
          <a:ln>
            <a:solidFill>
              <a:srgbClr val="F363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Цвет акцентный </a:t>
            </a:r>
            <a:r>
              <a:rPr lang="en-US" sz="2800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# F36324</a:t>
            </a:r>
            <a:endParaRPr lang="ru-RU" sz="2800" dirty="0">
              <a:latin typeface="Lato Medium" panose="020F0502020204030203" pitchFamily="34" charset="0"/>
              <a:ea typeface="Lato Medium" panose="020F0502020204030203" pitchFamily="34" charset="0"/>
              <a:cs typeface="Lato Medium" panose="020F0502020204030203" pitchFamily="34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38A5D9E-2CCA-4F64-A6DB-7F9AA349238C}"/>
              </a:ext>
            </a:extLst>
          </p:cNvPr>
          <p:cNvSpPr/>
          <p:nvPr/>
        </p:nvSpPr>
        <p:spPr>
          <a:xfrm>
            <a:off x="6672064" y="2177281"/>
            <a:ext cx="4535810" cy="2475682"/>
          </a:xfrm>
          <a:prstGeom prst="roundRect">
            <a:avLst>
              <a:gd name="adj" fmla="val 2814"/>
            </a:avLst>
          </a:prstGeom>
          <a:solidFill>
            <a:srgbClr val="F0F5FE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4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AF70A73-454B-41E5-BDEF-7B31F17145AF}"/>
              </a:ext>
            </a:extLst>
          </p:cNvPr>
          <p:cNvSpPr/>
          <p:nvPr/>
        </p:nvSpPr>
        <p:spPr>
          <a:xfrm>
            <a:off x="6959749" y="2492896"/>
            <a:ext cx="3960440" cy="936104"/>
          </a:xfrm>
          <a:prstGeom prst="roundRect">
            <a:avLst>
              <a:gd name="adj" fmla="val 8435"/>
            </a:avLst>
          </a:prstGeom>
          <a:solidFill>
            <a:srgbClr val="246AF3"/>
          </a:solidFill>
          <a:ln>
            <a:solidFill>
              <a:srgbClr val="246A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Цвет акцентный </a:t>
            </a:r>
            <a:r>
              <a:rPr lang="en-US" sz="2800" dirty="0">
                <a:latin typeface="Lato Medium" panose="020F0502020204030203" pitchFamily="34" charset="0"/>
                <a:ea typeface="Lato Medium" panose="020F0502020204030203" pitchFamily="34" charset="0"/>
                <a:cs typeface="Lato Medium" panose="020F0502020204030203" pitchFamily="34" charset="0"/>
              </a:rPr>
              <a:t>#246AF3</a:t>
            </a:r>
            <a:endParaRPr lang="ru-RU" sz="2800" dirty="0">
              <a:latin typeface="Lato Medium" panose="020F0502020204030203" pitchFamily="34" charset="0"/>
              <a:ea typeface="Lato Medium" panose="020F0502020204030203" pitchFamily="34" charset="0"/>
              <a:cs typeface="Lato Medium" panose="020F0502020204030203" pitchFamily="34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F6EAF511-22A4-4ED9-A42C-E49C51CDA9C9}"/>
              </a:ext>
            </a:extLst>
          </p:cNvPr>
          <p:cNvSpPr/>
          <p:nvPr/>
        </p:nvSpPr>
        <p:spPr>
          <a:xfrm>
            <a:off x="1487488" y="3717032"/>
            <a:ext cx="3744416" cy="648072"/>
          </a:xfrm>
          <a:prstGeom prst="roundRect">
            <a:avLst>
              <a:gd name="adj" fmla="val 9318"/>
            </a:avLst>
          </a:prstGeom>
          <a:solidFill>
            <a:srgbClr val="FEEEE7"/>
          </a:solidFill>
          <a:ln>
            <a:solidFill>
              <a:srgbClr val="E0E0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Цвет плашки </a:t>
            </a:r>
            <a:r>
              <a:rPr lang="en-US" sz="18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#FEEEE7</a:t>
            </a:r>
            <a:endParaRPr lang="ru-RU" sz="1800" dirty="0">
              <a:solidFill>
                <a:srgbClr val="0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3FDA845-C413-4B4A-97E3-1D838D818DBA}"/>
              </a:ext>
            </a:extLst>
          </p:cNvPr>
          <p:cNvSpPr/>
          <p:nvPr/>
        </p:nvSpPr>
        <p:spPr>
          <a:xfrm>
            <a:off x="6960096" y="3797287"/>
            <a:ext cx="3744416" cy="648072"/>
          </a:xfrm>
          <a:prstGeom prst="roundRect">
            <a:avLst>
              <a:gd name="adj" fmla="val 9318"/>
            </a:avLst>
          </a:prstGeom>
          <a:solidFill>
            <a:srgbClr val="F0F5FE"/>
          </a:solidFill>
          <a:ln>
            <a:solidFill>
              <a:srgbClr val="F0F5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Цвет плашки </a:t>
            </a:r>
            <a:r>
              <a:rPr 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#F0F5FE</a:t>
            </a:r>
            <a:endParaRPr lang="ru-RU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9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DABDE-1979-0E88-26E9-520CE993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1005566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Формулировка 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A2457-4FEB-ECD4-F70D-729B358CAE0B}"/>
              </a:ext>
            </a:extLst>
          </p:cNvPr>
          <p:cNvSpPr txBox="1"/>
          <p:nvPr/>
        </p:nvSpPr>
        <p:spPr>
          <a:xfrm>
            <a:off x="1063852" y="1741519"/>
            <a:ext cx="10072460" cy="1756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ru-RU" sz="2400" dirty="0"/>
              <a:t>Перед боевой группой стоит задача</a:t>
            </a:r>
            <a:r>
              <a:rPr lang="en-US" sz="2400" dirty="0"/>
              <a:t>: c</a:t>
            </a:r>
            <a:r>
              <a:rPr lang="ru-RU" sz="2400" dirty="0"/>
              <a:t> помощью БПЛА поразить несколько целей одновременно, причём сделать это с максимальной скоростью и вероятностью поражения</a:t>
            </a:r>
            <a:r>
              <a:rPr lang="en-US" sz="2400" dirty="0"/>
              <a:t>.</a:t>
            </a:r>
            <a:r>
              <a:rPr lang="ru-RU" sz="2400" dirty="0"/>
              <a:t> Как построить траектории этих дронов так, чтобы они были безопасными</a:t>
            </a:r>
            <a:r>
              <a:rPr lang="en-US" sz="2400" dirty="0"/>
              <a:t>?</a:t>
            </a:r>
          </a:p>
        </p:txBody>
      </p:sp>
      <p:pic>
        <p:nvPicPr>
          <p:cNvPr id="9" name="Picture 6" descr="Фрагмент">
            <a:extLst>
              <a:ext uri="{FF2B5EF4-FFF2-40B4-BE49-F238E27FC236}">
                <a16:creationId xmlns:a16="http://schemas.microsoft.com/office/drawing/2014/main" id="{ADF16622-1C41-1D86-1579-527F8AB6E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683" y="3559376"/>
            <a:ext cx="5442780" cy="29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16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91649-35E0-4BD9-D93F-F594B857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1008062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Конкретизация вида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2E1678-DE54-C589-8605-47B84DF81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748011"/>
            <a:ext cx="10080625" cy="4852760"/>
          </a:xfrm>
        </p:spPr>
        <p:txBody>
          <a:bodyPr>
            <a:normAutofit/>
          </a:bodyPr>
          <a:lstStyle/>
          <a:p>
            <a:pPr marL="548640" lvl="0" indent="-457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ru-RU" sz="2400" dirty="0"/>
              <a:t>Выполнению миссии могут помешать ПВО и радары. ПВО представлены цилиндры. Радары в виде сферы.</a:t>
            </a:r>
          </a:p>
          <a:p>
            <a:pPr marL="548640" indent="-457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У дронов есть ограничения на скорость и максимальным углом подъёма и поворота. </a:t>
            </a:r>
          </a:p>
          <a:p>
            <a:pPr marL="548640" indent="-457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Длина траектории не должна быть больше некоторого числа.</a:t>
            </a:r>
          </a:p>
          <a:p>
            <a:pPr marL="548640" indent="-4572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Цель – минимизировать длину пути, резкость смены высоты, гладкость и угрозы от ПВО и радаров.</a:t>
            </a:r>
          </a:p>
          <a:p>
            <a:pPr marL="91440" indent="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73950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23139-BDEE-F4FF-FA2D-E225B9D24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1736724"/>
            <a:ext cx="10080625" cy="573933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Цель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C5081-628C-A892-B00F-6D2A4CC1D261}"/>
              </a:ext>
            </a:extLst>
          </p:cNvPr>
          <p:cNvSpPr txBox="1"/>
          <p:nvPr/>
        </p:nvSpPr>
        <p:spPr>
          <a:xfrm>
            <a:off x="1055689" y="2320794"/>
            <a:ext cx="10080624" cy="1231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14000"/>
              </a:lnSpc>
              <a:spcAft>
                <a:spcPts val="600"/>
              </a:spcAft>
              <a:buNone/>
            </a:pPr>
            <a:r>
              <a:rPr lang="ru-RU" sz="2200" dirty="0"/>
              <a:t>Написать программный модуль, реализующий работу алгоритма, находящего оптимальную траекторию для каждого дрона в кластере БПЛА с учётом наличия радаров и систем ПВО и других БПЛА.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05617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91649-35E0-4BD9-D93F-F594B857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7" y="734332"/>
            <a:ext cx="9816193" cy="1012121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Задачи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981EC-CED5-5E85-91FA-55BE88DE2230}"/>
              </a:ext>
            </a:extLst>
          </p:cNvPr>
          <p:cNvSpPr txBox="1"/>
          <p:nvPr/>
        </p:nvSpPr>
        <p:spPr>
          <a:xfrm>
            <a:off x="1069782" y="1746453"/>
            <a:ext cx="10066531" cy="2408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>
              <a:lnSpc>
                <a:spcPct val="114000"/>
              </a:lnSpc>
              <a:spcAft>
                <a:spcPts val="600"/>
              </a:spcAft>
              <a:buFont typeface="+mj-lt"/>
              <a:buAutoNum type="arabicPeriod"/>
              <a:tabLst>
                <a:tab pos="803275" algn="l"/>
              </a:tabLst>
            </a:pPr>
            <a:r>
              <a:rPr lang="ru-RU" sz="2400" dirty="0"/>
              <a:t>Проанализировать существующие алгоритмы.</a:t>
            </a:r>
            <a:endParaRPr lang="en-US" sz="2400" dirty="0"/>
          </a:p>
          <a:p>
            <a:pPr marL="342900" marR="0" lvl="0" indent="-342900" algn="l">
              <a:lnSpc>
                <a:spcPct val="114000"/>
              </a:lnSpc>
              <a:spcAft>
                <a:spcPts val="600"/>
              </a:spcAft>
              <a:buFont typeface="+mj-lt"/>
              <a:buAutoNum type="arabicPeriod"/>
              <a:tabLst>
                <a:tab pos="803275" algn="l"/>
              </a:tabLst>
            </a:pPr>
            <a:r>
              <a:rPr lang="ru-RU" sz="2400" dirty="0"/>
              <a:t>Оценить сложность выбранного алгоритма и обосновать его применимость.</a:t>
            </a:r>
            <a:endParaRPr lang="en-US" sz="2400" dirty="0"/>
          </a:p>
          <a:p>
            <a:pPr marL="342900" marR="0" lvl="0" indent="-342900" algn="l">
              <a:lnSpc>
                <a:spcPct val="114000"/>
              </a:lnSpc>
              <a:spcAft>
                <a:spcPts val="600"/>
              </a:spcAft>
              <a:buFont typeface="+mj-lt"/>
              <a:buAutoNum type="arabicPeriod"/>
              <a:tabLst>
                <a:tab pos="803275" algn="l"/>
              </a:tabLst>
            </a:pPr>
            <a:r>
              <a:rPr lang="ru-RU" sz="2400" dirty="0"/>
              <a:t>Разработать программу, реализующую алгоритм.</a:t>
            </a:r>
            <a:endParaRPr lang="en-US" sz="2400" dirty="0"/>
          </a:p>
          <a:p>
            <a:pPr marL="342900" marR="0" lvl="0" indent="-342900" algn="l">
              <a:lnSpc>
                <a:spcPct val="114000"/>
              </a:lnSpc>
              <a:spcAft>
                <a:spcPts val="600"/>
              </a:spcAft>
              <a:buFont typeface="+mj-lt"/>
              <a:buAutoNum type="arabicPeriod"/>
              <a:tabLst>
                <a:tab pos="803275" algn="l"/>
              </a:tabLst>
            </a:pPr>
            <a:r>
              <a:rPr lang="ru-RU" sz="2400" dirty="0"/>
              <a:t>Протестировать алгоритм на тестовых и на реальных данных.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00807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B363FD-6FE4-A032-0C54-EE8EDDB9B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633" y="730705"/>
            <a:ext cx="10077680" cy="962025"/>
          </a:xfrm>
        </p:spPr>
        <p:txBody>
          <a:bodyPr>
            <a:normAutofit/>
          </a:bodyPr>
          <a:lstStyle/>
          <a:p>
            <a:r>
              <a:rPr lang="ru-RU" sz="3600" dirty="0"/>
              <a:t>Математическая 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B0EF4C-D9B9-FA62-DF05-F967F4B3D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8633" y="1692729"/>
                <a:ext cx="10077680" cy="398961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Под многоугольником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мы понимаем часть плоскости, ограниченной простой, не самопересекающейся замкнутой ломанной.</a:t>
                </a:r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Для многоугольника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2400" dirty="0"/>
                  <a:t> и целого минимально возможного числа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400" dirty="0"/>
                  <a:t> требуется определить, существует ли множество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2400" dirty="0"/>
                  <a:t> из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400" dirty="0"/>
                  <a:t> охранников</a:t>
                </a:r>
                <a:br>
                  <a:rPr lang="ru-RU" sz="2400" dirty="0"/>
                </a:br>
                <a:r>
                  <a:rPr lang="ru-RU" sz="2400" dirty="0"/>
                  <a:t>внутри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2400" dirty="0"/>
                  <a:t>, такое, что каждая точка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/>
                  <a:t>видна хотя бы одному</a:t>
                </a:r>
                <a:br>
                  <a:rPr lang="ru-RU" sz="2400" dirty="0"/>
                </a:br>
                <a:r>
                  <a:rPr lang="ru-RU" sz="2400" dirty="0"/>
                  <a:t>охраннику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𝑔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2400" dirty="0"/>
                  <a:t>.</a:t>
                </a:r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Каждый охранник соответствует точке в многоугольнике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,</a:t>
                </a:r>
                <a:br>
                  <a:rPr lang="ru-RU" sz="2400" dirty="0"/>
                </a:br>
                <a:r>
                  <a:rPr lang="ru-RU" sz="2400" dirty="0"/>
                  <a:t>и охранник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ru-RU" sz="2400" dirty="0"/>
                  <a:t> видит точку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dirty="0"/>
                  <a:t>, если отрезок прямой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𝑝𝑔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содержится в </a:t>
                </a:r>
                <a14:m>
                  <m:oMath xmlns:m="http://schemas.openxmlformats.org/officeDocument/2006/math">
                    <m:r>
                      <a:rPr lang="ru-RU" sz="240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B0EF4C-D9B9-FA62-DF05-F967F4B3D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8633" y="1692729"/>
                <a:ext cx="10077680" cy="3989613"/>
              </a:xfrm>
              <a:blipFill>
                <a:blip r:embed="rId2"/>
                <a:stretch>
                  <a:fillRect l="-968" t="-1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128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51D08-4E36-3C59-C285-A8981916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826965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Дискретизация задачи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A6B241-AA3E-942F-EEDF-0E7B669FE535}"/>
                  </a:ext>
                </a:extLst>
              </p:cNvPr>
              <p:cNvSpPr txBox="1"/>
              <p:nvPr/>
            </p:nvSpPr>
            <p:spPr>
              <a:xfrm>
                <a:off x="1063851" y="5179270"/>
                <a:ext cx="10072461" cy="9496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ru-RU" sz="2400" dirty="0"/>
                  <a:t>Будем представлять траекторию дрона как последовательность точек 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пространстве, которые этот дрон должен посетить.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A6B241-AA3E-942F-EEDF-0E7B669FE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51" y="5179270"/>
                <a:ext cx="10072461" cy="949684"/>
              </a:xfrm>
              <a:prstGeom prst="rect">
                <a:avLst/>
              </a:prstGeom>
              <a:blipFill>
                <a:blip r:embed="rId2"/>
                <a:stretch>
                  <a:fillRect l="-969" r="-1332" b="-1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FF2C830-229A-107F-1839-EF85EE9F5B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" t="3121" r="699"/>
          <a:stretch>
            <a:fillRect/>
          </a:stretch>
        </p:blipFill>
        <p:spPr>
          <a:xfrm>
            <a:off x="3072384" y="1721906"/>
            <a:ext cx="5386769" cy="329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92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FBA77-D3B0-8116-3D7B-A70BDB831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88644-E40D-3AB9-A1D7-AAA8BBE5B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826965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952F1A-8696-7C96-78F5-9538C11ADCCC}"/>
                  </a:ext>
                </a:extLst>
              </p:cNvPr>
              <p:cNvSpPr txBox="1"/>
              <p:nvPr/>
            </p:nvSpPr>
            <p:spPr>
              <a:xfrm>
                <a:off x="1055688" y="5607241"/>
                <a:ext cx="10072461" cy="508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ru-RU" sz="2400" dirty="0"/>
                  <a:t>Будем учитывает предельные углы подъёма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/>
                        </m:ctrlPr>
                      </m:sSubPr>
                      <m:e>
                        <m:r>
                          <a:rPr lang="ru-RU" sz="2400"/>
                          <m:t>𝜑</m:t>
                        </m:r>
                      </m:e>
                      <m:sub>
                        <m:r>
                          <a:rPr lang="ru-RU" sz="2400"/>
                          <m:t>𝑚𝑎𝑥</m:t>
                        </m:r>
                      </m:sub>
                    </m:sSub>
                  </m:oMath>
                </a14:m>
                <a:r>
                  <a:rPr lang="ru-RU" sz="2400" dirty="0"/>
                  <a:t> и поворота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/>
                        </m:ctrlPr>
                      </m:sSubPr>
                      <m:e>
                        <m:r>
                          <a:rPr lang="ru-RU" sz="2400"/>
                          <m:t>𝜃</m:t>
                        </m:r>
                      </m:e>
                      <m:sub>
                        <m:r>
                          <a:rPr lang="ru-RU" sz="2400"/>
                          <m:t>𝑚𝑎𝑥</m:t>
                        </m:r>
                      </m:sub>
                    </m:sSub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952F1A-8696-7C96-78F5-9538C11AD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688" y="5607241"/>
                <a:ext cx="10072461" cy="508088"/>
              </a:xfrm>
              <a:prstGeom prst="rect">
                <a:avLst/>
              </a:prstGeom>
              <a:blipFill>
                <a:blip r:embed="rId2"/>
                <a:stretch>
                  <a:fillRect l="-908" b="-27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1">
            <a:extLst>
              <a:ext uri="{FF2B5EF4-FFF2-40B4-BE49-F238E27FC236}">
                <a16:creationId xmlns:a16="http://schemas.microsoft.com/office/drawing/2014/main" id="{369F8DA6-A40F-CC0D-2478-4C38DA485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191" y="1736725"/>
            <a:ext cx="4360322" cy="3408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6834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3FE44-C3CB-405E-7196-836100E9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96E44E-237F-485C-5152-3D72C033D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826965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CD17A7-D376-2926-454A-B9D7A722CABB}"/>
              </a:ext>
            </a:extLst>
          </p:cNvPr>
          <p:cNvSpPr txBox="1"/>
          <p:nvPr/>
        </p:nvSpPr>
        <p:spPr>
          <a:xfrm>
            <a:off x="1063852" y="5214985"/>
            <a:ext cx="10072461" cy="91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lang="ru-RU" sz="2400" dirty="0"/>
              <a:t>Так же для обеспечения гладкости пути будем штрафовать решения, у которых изменение угла отклонения от точки к точке резкое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79F670-2337-5833-FC28-0439A8BEF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853" y="2320380"/>
            <a:ext cx="5032148" cy="213423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F1F8625-BE57-7CC8-1EA5-54DACCF9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720"/>
          <a:stretch>
            <a:fillRect/>
          </a:stretch>
        </p:blipFill>
        <p:spPr>
          <a:xfrm>
            <a:off x="6104166" y="2320380"/>
            <a:ext cx="5032148" cy="214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77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FF0B0-490D-7F71-4C44-3C5DB17C7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73B5A-4355-031E-2B61-813D2BBD7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826965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607B2-16AF-1659-CFF0-751C60CC465E}"/>
              </a:ext>
            </a:extLst>
          </p:cNvPr>
          <p:cNvSpPr txBox="1"/>
          <p:nvPr/>
        </p:nvSpPr>
        <p:spPr>
          <a:xfrm>
            <a:off x="1063852" y="5214985"/>
            <a:ext cx="10072461" cy="91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ru-RU" sz="2400" dirty="0"/>
              <a:t>Так как для дронов многократные изменения высоты является сложной задачей. Будем минимизировать дисперсию высоты.</a:t>
            </a:r>
            <a:endParaRPr lang="en-US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9A3746-C139-7B1C-1C4C-A3B2F813C2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25" r="537"/>
          <a:stretch>
            <a:fillRect/>
          </a:stretch>
        </p:blipFill>
        <p:spPr>
          <a:xfrm>
            <a:off x="3366136" y="1759391"/>
            <a:ext cx="5272526" cy="319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38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7E8C0-4B83-8ED1-01C5-0F7473ACF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85C59-D66E-60B6-5587-51316C369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826965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E52B5F-6238-76F0-D4F3-FBDEA2ADEAB2}"/>
              </a:ext>
            </a:extLst>
          </p:cNvPr>
          <p:cNvSpPr txBox="1"/>
          <p:nvPr/>
        </p:nvSpPr>
        <p:spPr>
          <a:xfrm>
            <a:off x="1063851" y="5179270"/>
            <a:ext cx="10072461" cy="953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ru-RU" sz="2400" dirty="0"/>
              <a:t>Будем считать коэффициент опасности в зависимости от расстояния до угроз в каждом сегменте пути.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60A894-C6E3-0CEE-4CE7-978B4757A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59" r="734"/>
          <a:stretch>
            <a:fillRect/>
          </a:stretch>
        </p:blipFill>
        <p:spPr>
          <a:xfrm>
            <a:off x="3525548" y="1736725"/>
            <a:ext cx="4765965" cy="289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75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3C099-C644-0611-548B-71E1FD5C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12A127-733F-0AE7-8B4E-80A1FE79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826965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Ограничения задачи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40174-F0CE-2530-03CA-546F22591ACC}"/>
              </a:ext>
            </a:extLst>
          </p:cNvPr>
          <p:cNvSpPr txBox="1"/>
          <p:nvPr/>
        </p:nvSpPr>
        <p:spPr>
          <a:xfrm>
            <a:off x="1055688" y="1736725"/>
            <a:ext cx="10072461" cy="509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ru-RU" sz="2400" dirty="0"/>
              <a:t>Функция угроз от расстояния выглядит так</a:t>
            </a:r>
            <a:r>
              <a:rPr lang="en-US" sz="2400" dirty="0"/>
              <a:t>:</a:t>
            </a:r>
            <a:endParaRPr lang="ru-RU" sz="24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F8CFA5E-D246-AC25-E42E-BF1B94EC8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224" y="2400469"/>
            <a:ext cx="8249552" cy="365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59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CF58F-87A2-F810-5C0D-DA666AB4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9B5F5-B459-6A82-F844-4B29CF23C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6827"/>
            <a:ext cx="10072461" cy="995278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246AF3"/>
                </a:solidFill>
              </a:rPr>
              <a:t>Сглаживание траектории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C4AC22-7338-FBA5-4065-6C4F397163C7}"/>
                  </a:ext>
                </a:extLst>
              </p:cNvPr>
              <p:cNvSpPr txBox="1"/>
              <p:nvPr/>
            </p:nvSpPr>
            <p:spPr>
              <a:xfrm>
                <a:off x="1063851" y="5179270"/>
                <a:ext cx="10072461" cy="951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ru-RU" sz="2400" dirty="0"/>
                  <a:t>После получения последовательность точек, будем применять кубическую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𝑠𝑝𝑙𝑖𝑛𝑒</m:t>
                    </m:r>
                  </m:oMath>
                </a14:m>
                <a:r>
                  <a:rPr lang="ru-RU" sz="2400" dirty="0"/>
                  <a:t> интерполяцию, для сглаживания траектории.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C4AC22-7338-FBA5-4065-6C4F39716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51" y="5179270"/>
                <a:ext cx="10072461" cy="951286"/>
              </a:xfrm>
              <a:prstGeom prst="rect">
                <a:avLst/>
              </a:prstGeom>
              <a:blipFill>
                <a:blip r:embed="rId2"/>
                <a:stretch>
                  <a:fillRect l="-969" b="-14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A048A6B-DC8E-CEDF-C45B-235ED2D0CC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" t="3204" r="657" b="783"/>
          <a:stretch>
            <a:fillRect/>
          </a:stretch>
        </p:blipFill>
        <p:spPr>
          <a:xfrm>
            <a:off x="3050286" y="1732105"/>
            <a:ext cx="5429249" cy="328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90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C4E43-432F-FF98-376F-55D04A47F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4" y="736827"/>
            <a:ext cx="10072459" cy="999897"/>
          </a:xfrm>
        </p:spPr>
        <p:txBody>
          <a:bodyPr>
            <a:normAutofit/>
          </a:bodyPr>
          <a:lstStyle/>
          <a:p>
            <a:r>
              <a:rPr lang="ru-RU" sz="3600" dirty="0"/>
              <a:t>Многоугольник с покрытыми стенами</a:t>
            </a:r>
          </a:p>
        </p:txBody>
      </p:sp>
      <p:pic>
        <p:nvPicPr>
          <p:cNvPr id="5" name="Объект 4" descr="Изображение выглядит как линия, диаграмма, Параллельный, График&#10;&#10;Автоматически созданное описание">
            <a:extLst>
              <a:ext uri="{FF2B5EF4-FFF2-40B4-BE49-F238E27FC236}">
                <a16:creationId xmlns:a16="http://schemas.microsoft.com/office/drawing/2014/main" id="{7FBEAAA4-25BF-5F5A-A161-054399257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049" y="1825625"/>
            <a:ext cx="3681901" cy="4351338"/>
          </a:xfrm>
        </p:spPr>
      </p:pic>
    </p:spTree>
    <p:extLst>
      <p:ext uri="{BB962C8B-B14F-4D97-AF65-F5344CB8AC3E}">
        <p14:creationId xmlns:p14="http://schemas.microsoft.com/office/powerpoint/2010/main" val="2571953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B4E1DD-F430-E0D5-C82C-5B128FEB9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3050041"/>
            <a:ext cx="9724571" cy="757918"/>
          </a:xfrm>
        </p:spPr>
        <p:txBody>
          <a:bodyPr>
            <a:normAutofit/>
          </a:bodyPr>
          <a:lstStyle/>
          <a:p>
            <a:r>
              <a:rPr lang="ru-RU" sz="4000" dirty="0"/>
              <a:t>Разрешима ли задача?</a:t>
            </a:r>
          </a:p>
        </p:txBody>
      </p:sp>
    </p:spTree>
    <p:extLst>
      <p:ext uri="{BB962C8B-B14F-4D97-AF65-F5344CB8AC3E}">
        <p14:creationId xmlns:p14="http://schemas.microsoft.com/office/powerpoint/2010/main" val="1478404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7FB6D-43C9-68BC-0361-EB27ED63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728663"/>
            <a:ext cx="10080625" cy="688068"/>
          </a:xfrm>
        </p:spPr>
        <p:txBody>
          <a:bodyPr>
            <a:normAutofit/>
          </a:bodyPr>
          <a:lstStyle/>
          <a:p>
            <a:r>
              <a:rPr lang="ru-RU" sz="3600" dirty="0"/>
              <a:t>Доказательство Стива Фикса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D26CB17-5505-F7F5-DBF0-EB424FE91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958" y="1954599"/>
            <a:ext cx="6934593" cy="4299552"/>
          </a:xfrm>
        </p:spPr>
      </p:pic>
    </p:spTree>
    <p:extLst>
      <p:ext uri="{BB962C8B-B14F-4D97-AF65-F5344CB8AC3E}">
        <p14:creationId xmlns:p14="http://schemas.microsoft.com/office/powerpoint/2010/main" val="1576146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7FB6D-43C9-68BC-0361-EB27ED63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Доказательство Стива Фикса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D26CB17-5505-F7F5-DBF0-EB424FE91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4958" y="1954599"/>
            <a:ext cx="6934593" cy="4299552"/>
          </a:xfrm>
        </p:spPr>
      </p:pic>
    </p:spTree>
    <p:extLst>
      <p:ext uri="{BB962C8B-B14F-4D97-AF65-F5344CB8AC3E}">
        <p14:creationId xmlns:p14="http://schemas.microsoft.com/office/powerpoint/2010/main" val="3094283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7FB6D-43C9-68BC-0361-EB27ED63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Доказательство Стива Фикса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Текст 14">
                <a:extLst>
                  <a:ext uri="{FF2B5EF4-FFF2-40B4-BE49-F238E27FC236}">
                    <a16:creationId xmlns:a16="http://schemas.microsoft.com/office/drawing/2014/main" id="{D29A95E9-ECD6-9092-C4CA-6ADCC571B4C9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sz="1800" dirty="0"/>
                  <a:t>Всего </a:t>
                </a:r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ru-RU" sz="1800" dirty="0"/>
                  <a:t> вершин: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ru-RU" sz="1800" dirty="0"/>
                  <a:t> фиолетовых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ru-RU" sz="1800" dirty="0"/>
                  <a:t> красных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800" dirty="0"/>
                  <a:t>зеленых</a:t>
                </a:r>
              </a:p>
            </p:txBody>
          </p:sp>
        </mc:Choice>
        <mc:Fallback xmlns="">
          <p:sp>
            <p:nvSpPr>
              <p:cNvPr id="15" name="Текст 14">
                <a:extLst>
                  <a:ext uri="{FF2B5EF4-FFF2-40B4-BE49-F238E27FC236}">
                    <a16:creationId xmlns:a16="http://schemas.microsoft.com/office/drawing/2014/main" id="{D29A95E9-ECD6-9092-C4CA-6ADCC571B4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1395" t="-16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D774AC44-056B-8856-C4B4-96C84003F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058" y="1523206"/>
            <a:ext cx="6213154" cy="381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36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7FB6D-43C9-68BC-0361-EB27ED63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Минимальное число охранников</a:t>
            </a:r>
          </a:p>
        </p:txBody>
      </p:sp>
      <p:pic>
        <p:nvPicPr>
          <p:cNvPr id="7" name="Объект 6" descr="Изображение выглядит как линия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0C29A138-14CE-F2D5-0BE7-65A0564B8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00" y="1690688"/>
            <a:ext cx="7391400" cy="4602379"/>
          </a:xfrm>
        </p:spPr>
      </p:pic>
    </p:spTree>
    <p:extLst>
      <p:ext uri="{BB962C8B-B14F-4D97-AF65-F5344CB8AC3E}">
        <p14:creationId xmlns:p14="http://schemas.microsoft.com/office/powerpoint/2010/main" val="793942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33F6D-7D49-58CE-C2CF-A91088094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2312988"/>
            <a:ext cx="10080625" cy="831396"/>
          </a:xfrm>
        </p:spPr>
        <p:txBody>
          <a:bodyPr>
            <a:noAutofit/>
          </a:bodyPr>
          <a:lstStyle/>
          <a:p>
            <a:r>
              <a:rPr lang="ru-RU" sz="5400" b="1" dirty="0">
                <a:solidFill>
                  <a:srgbClr val="246AF3"/>
                </a:solidFill>
              </a:rPr>
              <a:t>Проверка вычислений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16459EE-9A88-AC03-3A66-CFF0D1C8BDC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055688" y="3429000"/>
                <a:ext cx="10080625" cy="270033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14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ru-RU" dirty="0">
                    <a:solidFill>
                      <a:schemeClr val="tx1"/>
                    </a:solidFill>
                  </a:rPr>
                  <a:t>Предположим, что задано множество зон ПВО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>
                            <a:solidFill>
                              <a:schemeClr val="tx1"/>
                            </a:solidFill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>
                                <a:solidFill>
                                  <a:schemeClr val="tx1"/>
                                </a:solidFill>
                              </a:rPr>
                            </m:ctrlPr>
                          </m:sSubPr>
                          <m:e>
                            <m:r>
                              <a:rPr lang="ar-AE">
                                <a:solidFill>
                                  <a:schemeClr val="tx1"/>
                                </a:solidFill>
                              </a:rPr>
                              <m:t>𝑍</m:t>
                            </m:r>
                          </m:e>
                          <m:sub>
                            <m:r>
                              <a:rPr lang="ar-AE">
                                <a:solidFill>
                                  <a:schemeClr val="tx1"/>
                                </a:solidFill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>
                                <a:solidFill>
                                  <a:schemeClr val="tx1"/>
                                </a:solidFill>
                              </a:rPr>
                            </m:ctrlPr>
                          </m:sSubPr>
                          <m:e>
                            <m:r>
                              <a:rPr lang="ar-AE">
                                <a:solidFill>
                                  <a:schemeClr val="tx1"/>
                                </a:solidFill>
                              </a:rPr>
                              <m:t>𝑍</m:t>
                            </m:r>
                          </m:e>
                          <m:sub>
                            <m:r>
                              <a:rPr lang="ar-AE">
                                <a:solidFill>
                                  <a:schemeClr val="tx1"/>
                                </a:solidFill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>
                            <a:solidFill>
                              <a:schemeClr val="tx1"/>
                            </a:solidFill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>
                                <a:solidFill>
                                  <a:schemeClr val="tx1"/>
                                </a:solidFill>
                              </a:rPr>
                            </m:ctrlPr>
                          </m:sSubPr>
                          <m:e>
                            <m:r>
                              <a:rPr lang="ar-AE">
                                <a:solidFill>
                                  <a:schemeClr val="tx1"/>
                                </a:solidFill>
                              </a:rPr>
                              <m:t>𝑍</m:t>
                            </m:r>
                          </m:e>
                          <m:sub>
                            <m:r>
                              <a:rPr lang="ar-AE">
                                <a:solidFill>
                                  <a:schemeClr val="tx1"/>
                                </a:solidFill>
                              </a:rPr>
                              <m:t>𝑈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и положительное целое число </a:t>
                </a:r>
                <a14:m>
                  <m:oMath xmlns:m="http://schemas.openxmlformats.org/officeDocument/2006/math">
                    <m:r>
                      <a:rPr lang="ru-RU">
                        <a:solidFill>
                          <a:schemeClr val="tx1"/>
                        </a:solidFill>
                      </a:rPr>
                      <m:t>𝑘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. Можно ли за полиномиальное время определить, существует ли набор из не более чем </a:t>
                </a:r>
                <a14:m>
                  <m:oMath xmlns:m="http://schemas.openxmlformats.org/officeDocument/2006/math">
                    <m:r>
                      <a:rPr lang="ru-RU">
                        <a:solidFill>
                          <a:schemeClr val="tx1"/>
                        </a:solidFill>
                      </a:rPr>
                      <m:t>𝑘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путевых точек, при котором маршрут БПЛА обходит все зоны ПВО?  </a:t>
                </a:r>
              </a:p>
              <a:p>
                <a:pPr>
                  <a:lnSpc>
                    <a:spcPct val="114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endParaRPr lang="ru-RU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ru-RU" dirty="0">
                    <a:solidFill>
                      <a:schemeClr val="tx1"/>
                    </a:solidFill>
                  </a:rPr>
                  <a:t>Задача является NP-полной.</a:t>
                </a:r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16459EE-9A88-AC03-3A66-CFF0D1C8BD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55688" y="3429000"/>
                <a:ext cx="10080625" cy="2700338"/>
              </a:xfrm>
              <a:blipFill>
                <a:blip r:embed="rId2"/>
                <a:stretch>
                  <a:fillRect l="-907" t="-679" r="-363" b="-6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454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4B6CA-C406-DB7D-47B2-4B1BCAA6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588" y="1736725"/>
            <a:ext cx="10080725" cy="1692275"/>
          </a:xfrm>
        </p:spPr>
        <p:txBody>
          <a:bodyPr>
            <a:normAutofit/>
          </a:bodyPr>
          <a:lstStyle/>
          <a:p>
            <a:r>
              <a:rPr lang="ru-RU" sz="5400" b="1" dirty="0">
                <a:solidFill>
                  <a:srgbClr val="246AF3"/>
                </a:solidFill>
              </a:rPr>
              <a:t>Обзор существующих алгоритмов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DD8282-D544-2045-7135-90748072C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0854" y="3429001"/>
            <a:ext cx="10065459" cy="481518"/>
          </a:xfrm>
        </p:spPr>
        <p:txBody>
          <a:bodyPr>
            <a:normAutofit/>
          </a:bodyPr>
          <a:lstStyle/>
          <a:p>
            <a:r>
              <a:rPr lang="ru-RU" dirty="0"/>
              <a:t>Всего </a:t>
            </a:r>
            <a:r>
              <a:rPr lang="en-US" dirty="0"/>
              <a:t>3</a:t>
            </a:r>
            <a:r>
              <a:rPr lang="ru-RU" dirty="0"/>
              <a:t> алгоритма для моей вариации задачи.</a:t>
            </a:r>
          </a:p>
        </p:txBody>
      </p:sp>
    </p:spTree>
    <p:extLst>
      <p:ext uri="{BB962C8B-B14F-4D97-AF65-F5344CB8AC3E}">
        <p14:creationId xmlns:p14="http://schemas.microsoft.com/office/powerpoint/2010/main" val="205409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008C7D-5B2D-B6C1-6269-CDB6B430A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алгоритмы будем рассматривать?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0FA868-02B3-401F-2342-EEDFD0B88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Точный алгоритм — обычный, но медленный.</a:t>
            </a:r>
          </a:p>
          <a:p>
            <a:pPr marL="0" indent="0">
              <a:buNone/>
            </a:pPr>
            <a:r>
              <a:rPr lang="ru-RU" sz="1800" dirty="0"/>
              <a:t>Эвристический — быстрый, но неточный.</a:t>
            </a:r>
          </a:p>
          <a:p>
            <a:pPr marL="0" indent="0">
              <a:buNone/>
            </a:pPr>
            <a:r>
              <a:rPr lang="ru-RU" sz="1800" dirty="0"/>
              <a:t>Аппроксимационный — не идеальный, но близкий к цели и быстрый.</a:t>
            </a:r>
          </a:p>
        </p:txBody>
      </p:sp>
    </p:spTree>
    <p:extLst>
      <p:ext uri="{BB962C8B-B14F-4D97-AF65-F5344CB8AC3E}">
        <p14:creationId xmlns:p14="http://schemas.microsoft.com/office/powerpoint/2010/main" val="3534079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65FF69-21BB-AE65-BB3E-F39E91983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аппроксимации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03D824-F84B-8689-ACDF-4DE1843C3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Алгоритм, возвращающий неоптимальные решения для задачи оптимизации, называется алгоритмом аппроксимации.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000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755FF9-92B0-07BD-B7DC-B06196AD3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Лучшие алгоритмы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9CC9AFD-FE81-3C99-FD17-8A2664CBF2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29934804"/>
                  </p:ext>
                </p:extLst>
              </p:nvPr>
            </p:nvGraphicFramePr>
            <p:xfrm>
              <a:off x="2152650" y="2098040"/>
              <a:ext cx="7886700" cy="2021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102614732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690613314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1351149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Название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Тип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Сложность </a:t>
                          </a:r>
                          <a:r>
                            <a:rPr lang="en-US" dirty="0"/>
                            <a:t>Big-O 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6426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Кранцлера и Крюгера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Точный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Экспоненциальная (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worst-case)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21114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Гоша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log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⁡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81311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Эйденбенца, Стамма и Видмайера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log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⁡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  <a:p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193959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9CC9AFD-FE81-3C99-FD17-8A2664CBF2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29934804"/>
                  </p:ext>
                </p:extLst>
              </p:nvPr>
            </p:nvGraphicFramePr>
            <p:xfrm>
              <a:off x="2152650" y="2098040"/>
              <a:ext cx="7886700" cy="2021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102614732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690613314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1351149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Название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Тип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Сложность </a:t>
                          </a:r>
                          <a:r>
                            <a:rPr lang="en-US" dirty="0"/>
                            <a:t>Big-O 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642615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Кранцлера и Крюгера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Точный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Экспоненциальная (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worst-case)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21114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Гоша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64" t="-278689" r="-464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813114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Эйденбенца, Стамма и Видмайера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64" t="-220000" r="-464" b="-1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93959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5853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47927-2A09-2C90-A659-D29D0248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Выведение алгоритма Гоша</a:t>
            </a:r>
          </a:p>
        </p:txBody>
      </p:sp>
    </p:spTree>
    <p:extLst>
      <p:ext uri="{BB962C8B-B14F-4D97-AF65-F5344CB8AC3E}">
        <p14:creationId xmlns:p14="http://schemas.microsoft.com/office/powerpoint/2010/main" val="4181373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8C700-55ED-5E41-CACA-44899BC6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Вееры</a:t>
            </a:r>
          </a:p>
        </p:txBody>
      </p:sp>
      <p:pic>
        <p:nvPicPr>
          <p:cNvPr id="4" name="Рисунок 3" descr="Изображение выглядит как линия, круг&#10;&#10;Автоматически созданное описание">
            <a:extLst>
              <a:ext uri="{FF2B5EF4-FFF2-40B4-BE49-F238E27FC236}">
                <a16:creationId xmlns:a16="http://schemas.microsoft.com/office/drawing/2014/main" id="{36CA5531-0CC4-A435-C571-D03258964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085" y="2008420"/>
            <a:ext cx="3997829" cy="39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462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D40ABE-2962-F9AF-4CC3-2B8975D9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Фрагмент видимости</a:t>
            </a:r>
          </a:p>
        </p:txBody>
      </p:sp>
    </p:spTree>
    <p:extLst>
      <p:ext uri="{BB962C8B-B14F-4D97-AF65-F5344CB8AC3E}">
        <p14:creationId xmlns:p14="http://schemas.microsoft.com/office/powerpoint/2010/main" val="23960358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C4E43-432F-FF98-376F-55D04A47F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Многоугольник с покрытыми стенами</a:t>
            </a:r>
          </a:p>
        </p:txBody>
      </p:sp>
      <p:pic>
        <p:nvPicPr>
          <p:cNvPr id="5" name="Объект 4" descr="Изображение выглядит как линия, диаграмма, Параллельный, График&#10;&#10;Автоматически созданное описание">
            <a:extLst>
              <a:ext uri="{FF2B5EF4-FFF2-40B4-BE49-F238E27FC236}">
                <a16:creationId xmlns:a16="http://schemas.microsoft.com/office/drawing/2014/main" id="{7FBEAAA4-25BF-5F5A-A161-054399257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049" y="1825625"/>
            <a:ext cx="3681901" cy="4351338"/>
          </a:xfrm>
        </p:spPr>
      </p:pic>
    </p:spTree>
    <p:extLst>
      <p:ext uri="{BB962C8B-B14F-4D97-AF65-F5344CB8AC3E}">
        <p14:creationId xmlns:p14="http://schemas.microsoft.com/office/powerpoint/2010/main" val="17902869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29FDF-5D61-41E2-54CE-E6BC7A4F5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Лемма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2E4449-C2CC-C92A-FA19-3FE153601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Простой многоугольник называется веером, если существует вершина, которая видна из всех точек внутри многоугольника. </a:t>
            </a:r>
          </a:p>
        </p:txBody>
      </p:sp>
    </p:spTree>
    <p:extLst>
      <p:ext uri="{BB962C8B-B14F-4D97-AF65-F5344CB8AC3E}">
        <p14:creationId xmlns:p14="http://schemas.microsoft.com/office/powerpoint/2010/main" val="2653548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51D08-4E36-3C59-C285-A8981916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Сведение к вееру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A6B241-AA3E-942F-EEDF-0E7B669FE535}"/>
                  </a:ext>
                </a:extLst>
              </p:cNvPr>
              <p:cNvSpPr txBox="1"/>
              <p:nvPr/>
            </p:nvSpPr>
            <p:spPr>
              <a:xfrm>
                <a:off x="1669815" y="5401464"/>
                <a:ext cx="88523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ru-RU" sz="1800" b="1" dirty="0"/>
                  <a:t>Королларий </a:t>
                </a:r>
                <a:r>
                  <a:rPr lang="ru-RU" sz="1800" dirty="0"/>
                  <a:t>- Для каждой вершины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800" dirty="0"/>
                  <a:t> из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1800" dirty="0"/>
                  <a:t>, </a:t>
                </a:r>
                <a:r>
                  <a:rPr lang="ru-RU" dirty="0"/>
                  <a:t>веер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,</a:t>
                </a:r>
                <a:r>
                  <a:rPr lang="ru-RU" sz="1800" dirty="0"/>
                  <a:t> это объединение некоторых выпуклых компонентов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1800" dirty="0"/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A6B241-AA3E-942F-EEDF-0E7B669FE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815" y="5401464"/>
                <a:ext cx="8852370" cy="646331"/>
              </a:xfrm>
              <a:prstGeom prst="rect">
                <a:avLst/>
              </a:prstGeom>
              <a:blipFill>
                <a:blip r:embed="rId2"/>
                <a:stretch>
                  <a:fillRect l="-620" t="-3774" r="-207" b="-150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Объект 3">
            <a:extLst>
              <a:ext uri="{FF2B5EF4-FFF2-40B4-BE49-F238E27FC236}">
                <a16:creationId xmlns:a16="http://schemas.microsoft.com/office/drawing/2014/main" id="{42E07A01-12D9-B74F-F6FC-D9FD92A4F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19241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F9ED2-E623-F791-924E-5C5AE9C12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Минимальное покрытие множеств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36CA5298-7C21-7200-6C14-9D599889A17F}"/>
              </a:ext>
            </a:extLst>
          </p:cNvPr>
          <p:cNvSpPr/>
          <p:nvPr/>
        </p:nvSpPr>
        <p:spPr>
          <a:xfrm>
            <a:off x="5725177" y="2675236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87A471E0-E7BA-A3A0-A4BF-AEBD6F2C6890}"/>
              </a:ext>
            </a:extLst>
          </p:cNvPr>
          <p:cNvSpPr/>
          <p:nvPr/>
        </p:nvSpPr>
        <p:spPr>
          <a:xfrm>
            <a:off x="4723796" y="2675236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352E168-6D39-0ECF-B6C3-3BC87366477D}"/>
              </a:ext>
            </a:extLst>
          </p:cNvPr>
          <p:cNvSpPr/>
          <p:nvPr/>
        </p:nvSpPr>
        <p:spPr>
          <a:xfrm>
            <a:off x="6726558" y="2675237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C344E232-BB96-646D-1A80-2FC592BFA6FB}"/>
              </a:ext>
            </a:extLst>
          </p:cNvPr>
          <p:cNvSpPr/>
          <p:nvPr/>
        </p:nvSpPr>
        <p:spPr>
          <a:xfrm>
            <a:off x="5725177" y="3323967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3C4DD965-5CBC-E08C-D7D9-609CA0C02AC8}"/>
              </a:ext>
            </a:extLst>
          </p:cNvPr>
          <p:cNvSpPr/>
          <p:nvPr/>
        </p:nvSpPr>
        <p:spPr>
          <a:xfrm>
            <a:off x="4723796" y="3323967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F9823872-924B-2122-69CE-6E513566986C}"/>
              </a:ext>
            </a:extLst>
          </p:cNvPr>
          <p:cNvSpPr/>
          <p:nvPr/>
        </p:nvSpPr>
        <p:spPr>
          <a:xfrm>
            <a:off x="6726558" y="3323968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AD0AA00-E293-5205-F2F2-72DDD4B187BE}"/>
              </a:ext>
            </a:extLst>
          </p:cNvPr>
          <p:cNvSpPr/>
          <p:nvPr/>
        </p:nvSpPr>
        <p:spPr>
          <a:xfrm>
            <a:off x="5725177" y="3972698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429C1C95-A94E-E5B6-D8A4-4E5C9326E7AC}"/>
              </a:ext>
            </a:extLst>
          </p:cNvPr>
          <p:cNvSpPr/>
          <p:nvPr/>
        </p:nvSpPr>
        <p:spPr>
          <a:xfrm>
            <a:off x="4723796" y="3972698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3EA37454-C7C1-EF56-7736-6193E0BB7ADA}"/>
              </a:ext>
            </a:extLst>
          </p:cNvPr>
          <p:cNvSpPr/>
          <p:nvPr/>
        </p:nvSpPr>
        <p:spPr>
          <a:xfrm>
            <a:off x="6726558" y="3972699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94900891-A796-B462-2E54-F2D7B9C8D087}"/>
              </a:ext>
            </a:extLst>
          </p:cNvPr>
          <p:cNvSpPr/>
          <p:nvPr/>
        </p:nvSpPr>
        <p:spPr>
          <a:xfrm>
            <a:off x="5725177" y="4621429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C085BBDF-308F-DFB1-AFDE-FBF75BC1DD83}"/>
              </a:ext>
            </a:extLst>
          </p:cNvPr>
          <p:cNvSpPr/>
          <p:nvPr/>
        </p:nvSpPr>
        <p:spPr>
          <a:xfrm>
            <a:off x="4723796" y="4621429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C03B6B4C-76A4-ECB7-9979-2B60933D837A}"/>
              </a:ext>
            </a:extLst>
          </p:cNvPr>
          <p:cNvSpPr/>
          <p:nvPr/>
        </p:nvSpPr>
        <p:spPr>
          <a:xfrm>
            <a:off x="6726558" y="4621430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12EBC4D-A19A-F223-FF7B-07D6A60259B7}"/>
              </a:ext>
            </a:extLst>
          </p:cNvPr>
          <p:cNvSpPr/>
          <p:nvPr/>
        </p:nvSpPr>
        <p:spPr>
          <a:xfrm>
            <a:off x="4511489" y="2366682"/>
            <a:ext cx="625288" cy="2736477"/>
          </a:xfrm>
          <a:prstGeom prst="rect">
            <a:avLst/>
          </a:prstGeom>
          <a:solidFill>
            <a:srgbClr val="1C777C">
              <a:alpha val="20000"/>
            </a:srgbClr>
          </a:solidFill>
          <a:ln>
            <a:solidFill>
              <a:srgbClr val="1C77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B5E0E7F-74A1-47E3-BC82-0C39ECC6B976}"/>
              </a:ext>
            </a:extLst>
          </p:cNvPr>
          <p:cNvSpPr/>
          <p:nvPr/>
        </p:nvSpPr>
        <p:spPr>
          <a:xfrm>
            <a:off x="5517565" y="2366682"/>
            <a:ext cx="625288" cy="273647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00ECBD3-29B2-F4AD-97F0-E474262D4573}"/>
              </a:ext>
            </a:extLst>
          </p:cNvPr>
          <p:cNvSpPr/>
          <p:nvPr/>
        </p:nvSpPr>
        <p:spPr>
          <a:xfrm>
            <a:off x="6523641" y="2366681"/>
            <a:ext cx="625288" cy="2736477"/>
          </a:xfrm>
          <a:prstGeom prst="rect">
            <a:avLst/>
          </a:prstGeom>
          <a:solidFill>
            <a:srgbClr val="002060">
              <a:alpha val="2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A5370BB-3BFA-5039-A3AA-C0FF79D8B4D9}"/>
              </a:ext>
            </a:extLst>
          </p:cNvPr>
          <p:cNvSpPr/>
          <p:nvPr/>
        </p:nvSpPr>
        <p:spPr>
          <a:xfrm>
            <a:off x="4294594" y="2502700"/>
            <a:ext cx="2016741" cy="1198334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DBF5C4E-FA24-E19D-DC4A-0DB03B4296C0}"/>
              </a:ext>
            </a:extLst>
          </p:cNvPr>
          <p:cNvSpPr/>
          <p:nvPr/>
        </p:nvSpPr>
        <p:spPr>
          <a:xfrm>
            <a:off x="5399729" y="3085100"/>
            <a:ext cx="916302" cy="1198334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4BFBB6C-BB03-26C8-AF6B-44119DE96DCC}"/>
              </a:ext>
            </a:extLst>
          </p:cNvPr>
          <p:cNvSpPr/>
          <p:nvPr/>
        </p:nvSpPr>
        <p:spPr>
          <a:xfrm>
            <a:off x="6314002" y="3085100"/>
            <a:ext cx="1001198" cy="615934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2919883-C3E9-CC88-1E57-C24D25E01245}"/>
              </a:ext>
            </a:extLst>
          </p:cNvPr>
          <p:cNvSpPr/>
          <p:nvPr/>
        </p:nvSpPr>
        <p:spPr>
          <a:xfrm>
            <a:off x="6394472" y="2502699"/>
            <a:ext cx="920728" cy="505855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4C0AB78-A195-E6AC-14A4-D0E6B31FB750}"/>
              </a:ext>
            </a:extLst>
          </p:cNvPr>
          <p:cNvSpPr/>
          <p:nvPr/>
        </p:nvSpPr>
        <p:spPr>
          <a:xfrm>
            <a:off x="4294594" y="3759455"/>
            <a:ext cx="3020606" cy="531159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0282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2715</TotalTime>
  <Words>758</Words>
  <Application>Microsoft Office PowerPoint</Application>
  <PresentationFormat>Широкоэкранный</PresentationFormat>
  <Paragraphs>92</Paragraphs>
  <Slides>32</Slides>
  <Notes>2</Notes>
  <HiddenSlides>4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Aptos</vt:lpstr>
      <vt:lpstr>Aptos Display</vt:lpstr>
      <vt:lpstr>Arial</vt:lpstr>
      <vt:lpstr>Cambria Math</vt:lpstr>
      <vt:lpstr>Lato</vt:lpstr>
      <vt:lpstr>Lato Medium</vt:lpstr>
      <vt:lpstr>Тема Office</vt:lpstr>
      <vt:lpstr>Презентация PowerPoint</vt:lpstr>
      <vt:lpstr>Презентация PowerPoint</vt:lpstr>
      <vt:lpstr>Формулировка задачи</vt:lpstr>
      <vt:lpstr>Конкретизация вида задачи</vt:lpstr>
      <vt:lpstr>Цель</vt:lpstr>
      <vt:lpstr>Задачи</vt:lpstr>
      <vt:lpstr>Математическая модель</vt:lpstr>
      <vt:lpstr>Дискретизация задачи</vt:lpstr>
      <vt:lpstr>Ограничения задачи</vt:lpstr>
      <vt:lpstr>Ограничения задачи</vt:lpstr>
      <vt:lpstr>Ограничения задачи</vt:lpstr>
      <vt:lpstr>Ограничения задачи</vt:lpstr>
      <vt:lpstr>Ограничения задачи</vt:lpstr>
      <vt:lpstr>Сглаживание траектории</vt:lpstr>
      <vt:lpstr>Многоугольник с покрытыми стенами</vt:lpstr>
      <vt:lpstr>Разрешима ли задача?</vt:lpstr>
      <vt:lpstr>Доказательство Стива Фикса</vt:lpstr>
      <vt:lpstr>Доказательство Стива Фикса</vt:lpstr>
      <vt:lpstr>Доказательство Стива Фикса</vt:lpstr>
      <vt:lpstr>Минимальное число охранников</vt:lpstr>
      <vt:lpstr>Проверка вычислений</vt:lpstr>
      <vt:lpstr>Обзор существующих алгоритмов</vt:lpstr>
      <vt:lpstr>Какие алгоритмы будем рассматривать?</vt:lpstr>
      <vt:lpstr>Определение аппроксимации</vt:lpstr>
      <vt:lpstr>Лучшие алгоритмы</vt:lpstr>
      <vt:lpstr>Выведение алгоритма Гоша</vt:lpstr>
      <vt:lpstr>Вееры</vt:lpstr>
      <vt:lpstr>Фрагмент видимости</vt:lpstr>
      <vt:lpstr>Многоугольник с покрытыми стенами</vt:lpstr>
      <vt:lpstr>Лемма</vt:lpstr>
      <vt:lpstr>Сведение к вееру</vt:lpstr>
      <vt:lpstr>Минимальное покрытие множеств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Расстановка охранников  в художественной галерее</dc:title>
  <dc:creator>Степашка Модняш</dc:creator>
  <cp:lastModifiedBy>Максим Жуковм</cp:lastModifiedBy>
  <cp:revision>30</cp:revision>
  <dcterms:created xsi:type="dcterms:W3CDTF">2025-03-02T06:42:24Z</dcterms:created>
  <dcterms:modified xsi:type="dcterms:W3CDTF">2026-04-18T20:27:14Z</dcterms:modified>
</cp:coreProperties>
</file>