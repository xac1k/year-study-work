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62" r:id="rId4"/>
    <p:sldId id="291" r:id="rId5"/>
    <p:sldId id="293" r:id="rId6"/>
    <p:sldId id="371" r:id="rId7"/>
    <p:sldId id="277" r:id="rId8"/>
    <p:sldId id="361" r:id="rId9"/>
    <p:sldId id="372" r:id="rId10"/>
    <p:sldId id="364" r:id="rId11"/>
    <p:sldId id="362" r:id="rId12"/>
    <p:sldId id="365" r:id="rId13"/>
    <p:sldId id="360" r:id="rId14"/>
    <p:sldId id="373" r:id="rId15"/>
    <p:sldId id="275" r:id="rId16"/>
    <p:sldId id="369" r:id="rId17"/>
    <p:sldId id="368" r:id="rId18"/>
    <p:sldId id="366" r:id="rId19"/>
    <p:sldId id="370" r:id="rId20"/>
    <p:sldId id="374" r:id="rId21"/>
    <p:sldId id="375" r:id="rId22"/>
    <p:sldId id="376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6AF3"/>
    <a:srgbClr val="F36324"/>
    <a:srgbClr val="1C7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788" autoAdjust="0"/>
  </p:normalViewPr>
  <p:slideViewPr>
    <p:cSldViewPr snapToGrid="0">
      <p:cViewPr varScale="1">
        <p:scale>
          <a:sx n="62" d="100"/>
          <a:sy n="62" d="100"/>
        </p:scale>
        <p:origin x="141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986FF-C254-4F4D-970E-EBA5E0147ED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22E3D-766E-4CE8-99C1-DB828FEDF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17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22E3D-766E-4CE8-99C1-DB828FEDFC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86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1. </a:t>
            </a:r>
            <a:r>
              <a:rPr lang="ru-RU" sz="1200" dirty="0"/>
              <a:t>Выполнению миссии могут помешать ПВО и радары. ПВО представлены цилиндры. Радары в виде сферы.</a:t>
            </a:r>
          </a:p>
          <a:p>
            <a:r>
              <a:rPr lang="ru-RU" dirty="0"/>
              <a:t>2. У дронов есть ограничения на скорость и максимальным углом подъёма и поворота.</a:t>
            </a:r>
          </a:p>
          <a:p>
            <a:r>
              <a:rPr lang="ru-RU" dirty="0"/>
              <a:t>3. Будем представлять траекторию как последовательность точек, которые должен посетить дрон.</a:t>
            </a:r>
          </a:p>
          <a:p>
            <a:r>
              <a:rPr lang="ru-RU" dirty="0"/>
              <a:t>4. Каждый сегмент траектории ограничен по длина сверху и снизу. </a:t>
            </a:r>
          </a:p>
          <a:p>
            <a:r>
              <a:rPr lang="ru-RU" dirty="0"/>
              <a:t>5. Суммарная длина всех сегментов не должна быть больше некоторого числа.</a:t>
            </a:r>
          </a:p>
          <a:p>
            <a:r>
              <a:rPr lang="ru-RU" dirty="0"/>
              <a:t>6. Цель – минимизировать длину пути, резкость смены высоты, гладкость и угрозы от ПВО и радаров.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22E3D-766E-4CE8-99C1-DB828FEDFC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64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dirty="0"/>
                  <a:t>При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20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ru-RU" sz="1200">
                        <a:latin typeface="Cambria Math" panose="02040503050406030204" pitchFamily="18" charset="0"/>
                      </a:rPr>
                      <m:t>≥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sz="1200" dirty="0"/>
                  <a:t> особи разлетаются по всему пространству поиска </a:t>
                </a:r>
                <a:r>
                  <a:rPr lang="ru-RU" sz="1200" dirty="0">
                    <a:solidFill>
                      <a:srgbClr val="F36324"/>
                    </a:solidFill>
                  </a:rPr>
                  <a:t>Почему? Должны смочь объяснить</a:t>
                </a:r>
                <a:r>
                  <a:rPr lang="ru-RU" sz="1200" dirty="0"/>
                  <a:t>, не концентрируясь вблизи текущего лучшего решения. Это позволяет обнаружить перспективные области, которые далеки от начального положения популяции и избежать преждевременной сходимости к локальному оптимуму. Иначе особи концентрируются вблизи лучшего найденного решения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120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ru-RU" sz="12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1200">
                            <a:latin typeface="Cambria Math" panose="02040503050406030204" pitchFamily="18" charset="0"/>
                          </a:rPr>
                          <m:t>𝐹𝑀</m:t>
                        </m:r>
                      </m:sub>
                    </m:sSub>
                  </m:oMath>
                </a14:m>
                <a:r>
                  <a:rPr lang="ru-RU" sz="1200" dirty="0"/>
                  <a:t> и уточняют его с высокой точностью. Локальное уточнение позволяет найти точное положение оптимума в той области, которую обнаружила стадия исследования.</a:t>
                </a:r>
                <a:endParaRPr lang="en-US" sz="1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1200" dirty="0"/>
                  <a:t>При </a:t>
                </a:r>
                <a:r>
                  <a:rPr lang="en-US" sz="1200" i="0">
                    <a:latin typeface="Cambria Math" panose="02040503050406030204" pitchFamily="18" charset="0"/>
                  </a:rPr>
                  <a:t>|</a:t>
                </a:r>
                <a:r>
                  <a:rPr lang="ru-RU" sz="1200" i="0">
                    <a:latin typeface="Cambria Math" panose="02040503050406030204" pitchFamily="18" charset="0"/>
                  </a:rPr>
                  <a:t>𝐸|≥1</a:t>
                </a:r>
                <a:r>
                  <a:rPr lang="ru-RU" sz="1200" dirty="0"/>
                  <a:t> особи разлетаются по всему пространству поиска </a:t>
                </a:r>
                <a:r>
                  <a:rPr lang="ru-RU" sz="1200" dirty="0">
                    <a:solidFill>
                      <a:srgbClr val="F36324"/>
                    </a:solidFill>
                  </a:rPr>
                  <a:t>Почему? Должны смочь объяснить</a:t>
                </a:r>
                <a:r>
                  <a:rPr lang="ru-RU" sz="1200" dirty="0"/>
                  <a:t>, не концентрируясь вблизи текущего лучшего решения. Это позволяет обнаружить перспективные области, которые далеки от начального положения популяции и избежать преждевременной сходимости к локальному оптимуму. Иначе особи концентрируются вблизи лучшего найденного решения </a:t>
                </a:r>
                <a:r>
                  <a:rPr lang="ru-RU" sz="1200" i="0">
                    <a:latin typeface="Cambria Math" panose="02040503050406030204" pitchFamily="18" charset="0"/>
                  </a:rPr>
                  <a:t>𝑋</a:t>
                </a:r>
                <a:r>
                  <a:rPr lang="en-US" sz="1200" i="0">
                    <a:latin typeface="Cambria Math" panose="02040503050406030204" pitchFamily="18" charset="0"/>
                  </a:rPr>
                  <a:t>_</a:t>
                </a:r>
                <a:r>
                  <a:rPr lang="ru-RU" sz="1200" i="0">
                    <a:latin typeface="Cambria Math" panose="02040503050406030204" pitchFamily="18" charset="0"/>
                  </a:rPr>
                  <a:t>𝑀, 𝑋</a:t>
                </a:r>
                <a:r>
                  <a:rPr lang="en-US" sz="1200" i="0">
                    <a:latin typeface="Cambria Math" panose="02040503050406030204" pitchFamily="18" charset="0"/>
                  </a:rPr>
                  <a:t>_</a:t>
                </a:r>
                <a:r>
                  <a:rPr lang="ru-RU" sz="1200" i="0">
                    <a:latin typeface="Cambria Math" panose="02040503050406030204" pitchFamily="18" charset="0"/>
                  </a:rPr>
                  <a:t>𝐹𝑀</a:t>
                </a:r>
                <a:r>
                  <a:rPr lang="ru-RU" sz="1200" dirty="0"/>
                  <a:t> и уточняют его с высокой точностью. Локальное уточнение позволяет найти точное положение оптимума в той области, которую обнаружила стадия исследования.</a:t>
                </a:r>
                <a:endParaRPr lang="en-US" sz="1200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22E3D-766E-4CE8-99C1-DB828FEDFC0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29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47FAE-7CEB-1A8C-07CF-0A835A55A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FE4B55-3AE2-2F9C-865A-3CE6CB473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1C815E-B9CA-B7A4-6B23-9383689F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DD526F-CBC4-0AC5-A5DE-DDE3A3A2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DCA680-0AD8-6302-CBBB-4946ACAA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794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86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88644-0E93-3363-3ED5-F0605CBF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ED669B-9116-B294-8072-A35452047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78E6C-54A6-F97D-9E94-9602823C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061DC0-E238-6CD3-36D4-F5E0E6D4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182655-82CF-DE05-DD65-ED338ACB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11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84D4D-9753-D3A9-E24A-8F26BC8CC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3DF50E-439B-5297-0538-8D873C366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0A2CC4-8C45-718E-8748-56850C79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C9CBC-1164-0D6B-3DDE-FCA552C7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FC1296-FFC1-D80C-5F05-236EE181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82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1B36E-A635-31E5-20FC-0A28C044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7DA0CE-33EB-ACB6-5D8C-62771B2C6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55FB84-3B62-11FC-BADB-0CC331F53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203222-BCF8-BC93-199A-FB0117EA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A7554A-E3FF-755B-791D-EA0C4C67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680759-B447-516E-6784-B830157C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72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83F4A-7B16-2DD9-D313-E9D893C9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B86F8-F692-920D-005E-A59C50210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CD940E-B132-92E1-2C20-04B44AADE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CE11D4-8557-FA7E-D927-71CB8BF0B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C9D972-1075-143C-B071-2E1788BDA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5C52461-0BB6-1488-ECA3-9EE735B7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B6AA5F-FFFF-4FA9-5310-67F009D1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473069-0C6C-D3F7-BC81-C6DC0271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0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5F4A0-94D6-0D4C-C348-EF56CA7A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3EC721-A186-358E-F85C-D0F77F44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6EAB19-BA8F-EBBC-11E3-D375A887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C69F74-1E52-FF2F-8D0C-62EEC424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94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2EE020-CA6F-9108-4FF8-26A77D17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DB28F2-528A-7DE4-AFCF-8C38E2AD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F57E9B-279D-DACC-2910-C5584558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91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455E4-588B-0775-6008-828B0A65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47F7F-BCF0-E21A-2815-ADCF7DF78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3AFC81-F203-EAFC-0025-66C06C636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AD4733-9180-06BF-F88D-EFAB9D39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EC1BBB-16DB-F7A9-B6A6-2BCDADFB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F6C7F0-D6BF-4AB3-9BEC-3B042560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54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2DED5-04C7-4AAE-DF4B-39398207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1EAA2A-1A22-06A7-1C92-EF67D656E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6676A4-CF17-4211-8EDE-3ED2696B8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DF13EE-27AF-BDC3-F473-83CB6B67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39E47E-6F7E-81A7-C925-1B194492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943A82-87B5-7738-E6F4-9A5C3CF9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30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DFA2F-77F1-8EB3-684A-4E926B9F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BB0E2F-EE73-1E97-A84E-6F47F88AC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DC3890-4EDC-8027-03CC-95CA1C7A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35E2E5-3107-6C9E-560D-E110A60C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4D7735-BC02-B7FF-ACAD-CB3D46C0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03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9D3597-2524-CD9D-AD3C-0DC905AFD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CBE3D2-65C8-4853-31F6-C55F57818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A6249E-8C62-A318-9F82-E7F6D4F3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355BF8-3977-2E2A-4E85-641F45A97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3D9A94-207A-44F8-4B19-A5C6418E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7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1F760-EE1A-B1A1-CEC9-9330EF33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9959F-23B6-55D9-353A-FDD49907D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A2F3B0-A1C7-E96A-B0AA-5B3D1B7E6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B4CF7-4AF6-4F22-BEAD-2FF1E49FC00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9A8AFD-931A-32B7-8484-1510FD869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858EC8-F0E9-FD89-1484-1F138B393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63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7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223" userDrawn="1">
          <p15:clr>
            <a:srgbClr val="F26B43"/>
          </p15:clr>
        </p15:guide>
        <p15:guide id="4" orient="horz" pos="1457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pos="459" userDrawn="1">
          <p15:clr>
            <a:srgbClr val="F26B43"/>
          </p15:clr>
        </p15:guide>
        <p15:guide id="8" pos="665" userDrawn="1">
          <p15:clr>
            <a:srgbClr val="F26B43"/>
          </p15:clr>
        </p15:guide>
        <p15:guide id="9" pos="7015" userDrawn="1">
          <p15:clr>
            <a:srgbClr val="F26B43"/>
          </p15:clr>
        </p15:guide>
        <p15:guide id="10" orient="horz" pos="1094" userDrawn="1">
          <p15:clr>
            <a:srgbClr val="F26B43"/>
          </p15:clr>
        </p15:guide>
        <p15:guide id="11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67FEE4-C78F-3821-024E-152305C89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0767" y="3947823"/>
            <a:ext cx="6736125" cy="185698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dirty="0"/>
              <a:t>Выполнил: студент группы ПС–21 очной формы обучения Жуков Максим Игоревич</a:t>
            </a:r>
          </a:p>
          <a:p>
            <a:pPr algn="l"/>
            <a:r>
              <a:rPr lang="ru-RU" dirty="0"/>
              <a:t>Руководитель: доцент, кандидат </a:t>
            </a:r>
            <a:r>
              <a:rPr lang="ru-RU" dirty="0" err="1"/>
              <a:t>физ</a:t>
            </a:r>
            <a:r>
              <a:rPr lang="ru-RU" dirty="0"/>
              <a:t>-мат наук</a:t>
            </a:r>
            <a:br>
              <a:rPr lang="ru-RU" dirty="0"/>
            </a:br>
            <a:r>
              <a:rPr lang="ru-RU" dirty="0"/>
              <a:t>Козлов Александр Иванович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B1535-9ABB-7021-8313-1801EA0DB845}"/>
              </a:ext>
            </a:extLst>
          </p:cNvPr>
          <p:cNvSpPr txBox="1"/>
          <p:nvPr/>
        </p:nvSpPr>
        <p:spPr>
          <a:xfrm>
            <a:off x="1055688" y="1754791"/>
            <a:ext cx="100755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dirty="0">
                <a:latin typeface="+mj-lt"/>
                <a:ea typeface="+mj-ea"/>
                <a:cs typeface="+mj-cs"/>
              </a:rPr>
              <a:t>Планирование траекторий полётов БПЛА в пространстве с ограничениями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0407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DABDE-1979-0E88-26E9-520CE993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1005566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Формулировка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A2457-4FEB-ECD4-F70D-729B358CAE0B}"/>
              </a:ext>
            </a:extLst>
          </p:cNvPr>
          <p:cNvSpPr txBox="1"/>
          <p:nvPr/>
        </p:nvSpPr>
        <p:spPr>
          <a:xfrm>
            <a:off x="1063852" y="1741519"/>
            <a:ext cx="10072460" cy="1742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</a:pPr>
            <a:r>
              <a:rPr lang="ru-RU" sz="2400" dirty="0"/>
              <a:t>Перед боевой группой стоит задача </a:t>
            </a:r>
            <a:r>
              <a:rPr lang="en-US" sz="2400" dirty="0"/>
              <a:t>“</a:t>
            </a:r>
            <a:r>
              <a:rPr lang="ru-RU" sz="2400" dirty="0"/>
              <a:t>С помощью БПЛА поразить несколько целей одновременно, причём сделать это с максимальной скоростью и вероятностью поражения</a:t>
            </a:r>
            <a:r>
              <a:rPr lang="en-US" sz="2400" dirty="0"/>
              <a:t>.”</a:t>
            </a:r>
            <a:r>
              <a:rPr lang="ru-RU" sz="2400" dirty="0"/>
              <a:t> Каким образом мы должны построить траектории этих дронов</a:t>
            </a:r>
            <a:r>
              <a:rPr lang="en-US" sz="2400" dirty="0"/>
              <a:t>?</a:t>
            </a:r>
          </a:p>
        </p:txBody>
      </p:sp>
      <p:pic>
        <p:nvPicPr>
          <p:cNvPr id="9" name="Picture 6" descr="Фрагмент">
            <a:extLst>
              <a:ext uri="{FF2B5EF4-FFF2-40B4-BE49-F238E27FC236}">
                <a16:creationId xmlns:a16="http://schemas.microsoft.com/office/drawing/2014/main" id="{ADF16622-1C41-1D86-1579-527F8AB6E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83" y="3559376"/>
            <a:ext cx="5442780" cy="29108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86F106-D051-381C-CA7B-342C6291CD1B}"/>
              </a:ext>
            </a:extLst>
          </p:cNvPr>
          <p:cNvSpPr txBox="1"/>
          <p:nvPr/>
        </p:nvSpPr>
        <p:spPr>
          <a:xfrm>
            <a:off x="11510319" y="6285606"/>
            <a:ext cx="30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51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91649-35E0-4BD9-D93F-F594B857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Конкретизация вида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2E1678-DE54-C589-8605-47B84DF81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748011"/>
            <a:ext cx="10080625" cy="4852760"/>
          </a:xfrm>
        </p:spPr>
        <p:txBody>
          <a:bodyPr>
            <a:normAutofit/>
          </a:bodyPr>
          <a:lstStyle/>
          <a:p>
            <a:pPr marL="548640" lvl="0" indent="-457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ru-RU" sz="2400" dirty="0"/>
              <a:t>Выполнению миссии могут помешать ПВО и радары. </a:t>
            </a:r>
            <a:endParaRPr lang="en-US" sz="2400" dirty="0"/>
          </a:p>
          <a:p>
            <a:pPr marL="548640" lvl="0" indent="-457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ru-RU" sz="2400" dirty="0"/>
              <a:t>У дронов есть ограничения на скорость и максимальным углом подъёма и поворота. </a:t>
            </a:r>
          </a:p>
          <a:p>
            <a:pPr marL="548640" indent="-457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Длина траектории не должна быть больше некоторого числа.</a:t>
            </a:r>
          </a:p>
          <a:p>
            <a:pPr marL="548640" indent="-457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Цель – минимизировать длину пути, резкость смены высоты, гладкость и угрозы от ПВО и радаров.</a:t>
            </a:r>
          </a:p>
          <a:p>
            <a:pPr marL="9144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D05A4-6539-C74D-3851-2C109575FBB8}"/>
              </a:ext>
            </a:extLst>
          </p:cNvPr>
          <p:cNvSpPr txBox="1"/>
          <p:nvPr/>
        </p:nvSpPr>
        <p:spPr>
          <a:xfrm>
            <a:off x="11510319" y="6285606"/>
            <a:ext cx="30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5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23139-BDEE-F4FF-FA2D-E225B9D24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1736724"/>
            <a:ext cx="10080625" cy="573933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Цель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C5081-628C-A892-B00F-6D2A4CC1D261}"/>
              </a:ext>
            </a:extLst>
          </p:cNvPr>
          <p:cNvSpPr txBox="1"/>
          <p:nvPr/>
        </p:nvSpPr>
        <p:spPr>
          <a:xfrm>
            <a:off x="1055689" y="2320794"/>
            <a:ext cx="10080624" cy="1335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14000"/>
              </a:lnSpc>
              <a:spcAft>
                <a:spcPts val="600"/>
              </a:spcAft>
              <a:buNone/>
            </a:pPr>
            <a:r>
              <a:rPr lang="ru-RU" sz="2400" dirty="0"/>
              <a:t>Написать программный модуль, реализующий работу алгоритма, находящего оптимальную траекторию для каждого дрона в кластере БПЛА с учётом наличия радаров и систем ПВО и других БПЛА.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08FAEF-1AD0-3677-35D0-C197EE7B784D}"/>
              </a:ext>
            </a:extLst>
          </p:cNvPr>
          <p:cNvSpPr txBox="1"/>
          <p:nvPr/>
        </p:nvSpPr>
        <p:spPr>
          <a:xfrm>
            <a:off x="11510319" y="6285606"/>
            <a:ext cx="30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1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91649-35E0-4BD9-D93F-F594B857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7" y="734332"/>
            <a:ext cx="9816193" cy="1012121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Задачи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981EC-CED5-5E85-91FA-55BE88DE2230}"/>
              </a:ext>
            </a:extLst>
          </p:cNvPr>
          <p:cNvSpPr txBox="1"/>
          <p:nvPr/>
        </p:nvSpPr>
        <p:spPr>
          <a:xfrm>
            <a:off x="1069782" y="1746453"/>
            <a:ext cx="10066531" cy="2408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  <a:tabLst>
                <a:tab pos="803275" algn="l"/>
              </a:tabLst>
            </a:pPr>
            <a:r>
              <a:rPr lang="ru-RU" sz="2400" dirty="0"/>
              <a:t>Проанализировать существующие алгоритмы.</a:t>
            </a:r>
            <a:endParaRPr lang="en-US" sz="2400" dirty="0"/>
          </a:p>
          <a:p>
            <a:pPr marL="342900" marR="0" lvl="0" indent="-342900" algn="l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  <a:tabLst>
                <a:tab pos="803275" algn="l"/>
              </a:tabLst>
            </a:pPr>
            <a:r>
              <a:rPr lang="ru-RU" sz="2400" dirty="0"/>
              <a:t>Оценить сложность выбранного алгоритма и обосновать его применимость.</a:t>
            </a:r>
            <a:endParaRPr lang="en-US" sz="2400" dirty="0"/>
          </a:p>
          <a:p>
            <a:pPr marL="342900" marR="0" lvl="0" indent="-342900" algn="l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  <a:tabLst>
                <a:tab pos="803275" algn="l"/>
              </a:tabLst>
            </a:pPr>
            <a:r>
              <a:rPr lang="ru-RU" sz="2400" dirty="0"/>
              <a:t>Разработать программу, реализующую алгоритм.</a:t>
            </a:r>
            <a:endParaRPr lang="en-US" sz="2400" dirty="0"/>
          </a:p>
          <a:p>
            <a:pPr marL="342900" marR="0" lvl="0" indent="-342900" algn="l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  <a:tabLst>
                <a:tab pos="803275" algn="l"/>
              </a:tabLst>
            </a:pPr>
            <a:r>
              <a:rPr lang="ru-RU" sz="2400" dirty="0"/>
              <a:t>Протестировать алгоритм на тестовых и на реальных данных.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39695-90C5-D320-4326-ECD50E14BD80}"/>
              </a:ext>
            </a:extLst>
          </p:cNvPr>
          <p:cNvSpPr txBox="1"/>
          <p:nvPr/>
        </p:nvSpPr>
        <p:spPr>
          <a:xfrm>
            <a:off x="11510319" y="6285606"/>
            <a:ext cx="30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807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BB97B-FE9D-43D3-0E52-77CE5895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B123F-5867-7DBB-55E7-2FA6446F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7" y="734332"/>
            <a:ext cx="9816193" cy="1012121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Проверка вычислений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Текст 2">
                <a:extLst>
                  <a:ext uri="{FF2B5EF4-FFF2-40B4-BE49-F238E27FC236}">
                    <a16:creationId xmlns:a16="http://schemas.microsoft.com/office/drawing/2014/main" id="{F1679661-3607-EC4F-67A5-694EDA5DC2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5688" y="1755260"/>
                <a:ext cx="10080625" cy="437407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Предположим, что задано множество зон ПВО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dirty="0"/>
                  <a:t> и положительное целое число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400" dirty="0"/>
                  <a:t>. Можно ли за полиномиальное время определить, существует ли набор из не более чем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400" dirty="0"/>
                  <a:t> путевых точек, при котором маршрут БПЛА обходит все зоны ПВО?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Задача является NP-полной.</a:t>
                </a:r>
              </a:p>
            </p:txBody>
          </p:sp>
        </mc:Choice>
        <mc:Fallback xmlns="">
          <p:sp>
            <p:nvSpPr>
              <p:cNvPr id="6" name="Текст 2">
                <a:extLst>
                  <a:ext uri="{FF2B5EF4-FFF2-40B4-BE49-F238E27FC236}">
                    <a16:creationId xmlns:a16="http://schemas.microsoft.com/office/drawing/2014/main" id="{F1679661-3607-EC4F-67A5-694EDA5DC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688" y="1755260"/>
                <a:ext cx="10080625" cy="4374078"/>
              </a:xfrm>
              <a:prstGeom prst="rect">
                <a:avLst/>
              </a:prstGeom>
              <a:blipFill>
                <a:blip r:embed="rId2"/>
                <a:stretch>
                  <a:fillRect l="-907" r="-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15ED5C9-94BA-851E-99BC-4FC4989410AD}"/>
              </a:ext>
            </a:extLst>
          </p:cNvPr>
          <p:cNvSpPr txBox="1"/>
          <p:nvPr/>
        </p:nvSpPr>
        <p:spPr>
          <a:xfrm>
            <a:off x="11510319" y="6285606"/>
            <a:ext cx="30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9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51D08-4E36-3C59-C285-A8981916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1018296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Дискретизация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6B241-AA3E-942F-EEDF-0E7B669FE535}"/>
                  </a:ext>
                </a:extLst>
              </p:cNvPr>
              <p:cNvSpPr txBox="1"/>
              <p:nvPr/>
            </p:nvSpPr>
            <p:spPr>
              <a:xfrm>
                <a:off x="1063851" y="1755123"/>
                <a:ext cx="10072461" cy="949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ru-RU" sz="2400" dirty="0"/>
                  <a:t>Будем представлять траекторию дрона как последовательность точек 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пространстве, которые этот дрон должен посетить.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6B241-AA3E-942F-EEDF-0E7B669FE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51" y="1755123"/>
                <a:ext cx="10072461" cy="949684"/>
              </a:xfrm>
              <a:prstGeom prst="rect">
                <a:avLst/>
              </a:prstGeom>
              <a:blipFill>
                <a:blip r:embed="rId2"/>
                <a:stretch>
                  <a:fillRect l="-969" r="-1332" b="-1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FF2C830-229A-107F-1839-EF85EE9F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" t="3121" r="699"/>
          <a:stretch>
            <a:fillRect/>
          </a:stretch>
        </p:blipFill>
        <p:spPr>
          <a:xfrm>
            <a:off x="3198845" y="3439071"/>
            <a:ext cx="5386769" cy="32940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6AE273-2D92-E251-7C43-0C51031F4EBD}"/>
              </a:ext>
            </a:extLst>
          </p:cNvPr>
          <p:cNvSpPr txBox="1"/>
          <p:nvPr/>
        </p:nvSpPr>
        <p:spPr>
          <a:xfrm>
            <a:off x="11510319" y="6285606"/>
            <a:ext cx="30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392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FBA77-D3B0-8116-3D7B-A70BDB83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88644-E40D-3AB9-A1D7-AAA8BBE5B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989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952F1A-8696-7C96-78F5-9538C11ADCCC}"/>
                  </a:ext>
                </a:extLst>
              </p:cNvPr>
              <p:cNvSpPr txBox="1"/>
              <p:nvPr/>
            </p:nvSpPr>
            <p:spPr>
              <a:xfrm>
                <a:off x="1055688" y="1784260"/>
                <a:ext cx="10072461" cy="508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ru-RU" sz="2400" dirty="0"/>
                  <a:t>Будем учитывает предельные углы подъёма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ru-RU" sz="2400" dirty="0"/>
                  <a:t> и поворота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952F1A-8696-7C96-78F5-9538C11AD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688" y="1784260"/>
                <a:ext cx="10072461" cy="508088"/>
              </a:xfrm>
              <a:prstGeom prst="rect">
                <a:avLst/>
              </a:prstGeom>
              <a:blipFill>
                <a:blip r:embed="rId2"/>
                <a:stretch>
                  <a:fillRect l="-908" b="-27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">
            <a:extLst>
              <a:ext uri="{FF2B5EF4-FFF2-40B4-BE49-F238E27FC236}">
                <a16:creationId xmlns:a16="http://schemas.microsoft.com/office/drawing/2014/main" id="{369F8DA6-A40F-CC0D-2478-4C38DA485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191" y="2709495"/>
            <a:ext cx="4360322" cy="34085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3B897E-707F-F601-0AA7-A6A001E1031A}"/>
              </a:ext>
            </a:extLst>
          </p:cNvPr>
          <p:cNvSpPr txBox="1"/>
          <p:nvPr/>
        </p:nvSpPr>
        <p:spPr>
          <a:xfrm>
            <a:off x="11510319" y="6285606"/>
            <a:ext cx="30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834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53C4A-38FF-51D2-95D8-D8D7B56C6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F8872-495C-12EB-CD2A-170B927D3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989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DB7C88-046D-DBC8-D7E2-9FD89FD5DF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25" r="537"/>
          <a:stretch>
            <a:fillRect/>
          </a:stretch>
        </p:blipFill>
        <p:spPr>
          <a:xfrm>
            <a:off x="3366136" y="3452007"/>
            <a:ext cx="5272526" cy="31902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8FD139-FC80-400E-C5D3-45347AA79900}"/>
              </a:ext>
            </a:extLst>
          </p:cNvPr>
          <p:cNvSpPr txBox="1"/>
          <p:nvPr/>
        </p:nvSpPr>
        <p:spPr>
          <a:xfrm>
            <a:off x="1063852" y="1751928"/>
            <a:ext cx="10072461" cy="91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ru-RU" sz="2400" dirty="0"/>
              <a:t>Так как для дронов многократные изменения высоты является сложной задачей. Будем минимизировать дисперсию высоты.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44870-10C1-EDBA-8FA3-5D8D467DCBCF}"/>
              </a:ext>
            </a:extLst>
          </p:cNvPr>
          <p:cNvSpPr txBox="1"/>
          <p:nvPr/>
        </p:nvSpPr>
        <p:spPr>
          <a:xfrm>
            <a:off x="11510319" y="6285606"/>
            <a:ext cx="30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937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FE44-C3CB-405E-7196-836100E9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96E44E-237F-485C-5152-3D72C033D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989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CD17A7-D376-2926-454A-B9D7A722CABB}"/>
              </a:ext>
            </a:extLst>
          </p:cNvPr>
          <p:cNvSpPr txBox="1"/>
          <p:nvPr/>
        </p:nvSpPr>
        <p:spPr>
          <a:xfrm>
            <a:off x="1063852" y="1751928"/>
            <a:ext cx="10072461" cy="91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ru-RU" sz="2400" dirty="0"/>
              <a:t>Так же для обеспечения гладкости пути будем штрафовать решения, у которых изменение угла отклонения от точки к точке резкое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79F670-2337-5833-FC28-0439A8BEF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853" y="3439068"/>
            <a:ext cx="5032148" cy="21342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1F8625-BE57-7CC8-1EA5-54DACCF9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720"/>
          <a:stretch>
            <a:fillRect/>
          </a:stretch>
        </p:blipFill>
        <p:spPr>
          <a:xfrm>
            <a:off x="6104166" y="3439068"/>
            <a:ext cx="5032148" cy="21453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1F4378-D060-5CF0-A30B-BF8BA7228A17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677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E8C0-4B83-8ED1-01C5-0F7473AC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85C59-D66E-60B6-5587-51316C369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989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E52B5F-6238-76F0-D4F3-FBDEA2ADEAB2}"/>
              </a:ext>
            </a:extLst>
          </p:cNvPr>
          <p:cNvSpPr txBox="1"/>
          <p:nvPr/>
        </p:nvSpPr>
        <p:spPr>
          <a:xfrm>
            <a:off x="1063851" y="1755122"/>
            <a:ext cx="10072461" cy="95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ru-RU" sz="2400" dirty="0"/>
              <a:t>Будем считать коэффициент опасности в зависимости от расстояния до угроз в каждом сегменте пути.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60A894-C6E3-0CEE-4CE7-978B4757A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59" r="734"/>
          <a:stretch>
            <a:fillRect/>
          </a:stretch>
        </p:blipFill>
        <p:spPr>
          <a:xfrm>
            <a:off x="3525548" y="3439071"/>
            <a:ext cx="4765965" cy="2894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421E43-C4DC-3CDB-7822-ACDE4BDB0F8B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175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3C099-C644-0611-548B-71E1FD5C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12A127-733F-0AE7-8B4E-80A1FE79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989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40174-F0CE-2530-03CA-546F22591ACC}"/>
              </a:ext>
            </a:extLst>
          </p:cNvPr>
          <p:cNvSpPr txBox="1"/>
          <p:nvPr/>
        </p:nvSpPr>
        <p:spPr>
          <a:xfrm>
            <a:off x="1055688" y="1736725"/>
            <a:ext cx="10072461" cy="509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ru-RU" sz="2400" dirty="0"/>
              <a:t>Функция угроз от расстояния выглядит так</a:t>
            </a:r>
            <a:r>
              <a:rPr lang="en-US" sz="2400" dirty="0"/>
              <a:t>:</a:t>
            </a:r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8CFA5E-D246-AC25-E42E-BF1B94EC8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224" y="2400469"/>
            <a:ext cx="8249552" cy="3652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CB6FD3-C142-0DA2-FFF1-A22BC1D38EBD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59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CF58F-87A2-F810-5C0D-DA666AB4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9B5F5-B459-6A82-F844-4B29CF23C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527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Сглаживание траектории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C4AC22-7338-FBA5-4065-6C4F397163C7}"/>
                  </a:ext>
                </a:extLst>
              </p:cNvPr>
              <p:cNvSpPr txBox="1"/>
              <p:nvPr/>
            </p:nvSpPr>
            <p:spPr>
              <a:xfrm>
                <a:off x="1063851" y="1755128"/>
                <a:ext cx="10072461" cy="951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ru-RU" sz="2400" dirty="0"/>
                  <a:t>После получения последовательность точек, будем применять кубическую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𝑠𝑝𝑙𝑖𝑛𝑒</m:t>
                    </m:r>
                  </m:oMath>
                </a14:m>
                <a:r>
                  <a:rPr lang="ru-RU" sz="2400" dirty="0"/>
                  <a:t> интерполяцию, для сглаживания траектории.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C4AC22-7338-FBA5-4065-6C4F39716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51" y="1755128"/>
                <a:ext cx="10072461" cy="951286"/>
              </a:xfrm>
              <a:prstGeom prst="rect">
                <a:avLst/>
              </a:prstGeom>
              <a:blipFill>
                <a:blip r:embed="rId2"/>
                <a:stretch>
                  <a:fillRect l="-969" b="-1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A048A6B-DC8E-CEDF-C45B-235ED2D0C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" t="3204" r="657" b="783"/>
          <a:stretch>
            <a:fillRect/>
          </a:stretch>
        </p:blipFill>
        <p:spPr>
          <a:xfrm>
            <a:off x="3050286" y="3444182"/>
            <a:ext cx="5429249" cy="32838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A56B66-0E46-4CB4-9957-48AE644884DE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090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96E88-D48A-BF29-0BA2-739184C54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1D777C-6D31-BC35-FEC9-FB6B072E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527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Сложность алгоритмов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Объект 3">
                <a:extLst>
                  <a:ext uri="{FF2B5EF4-FFF2-40B4-BE49-F238E27FC236}">
                    <a16:creationId xmlns:a16="http://schemas.microsoft.com/office/drawing/2014/main" id="{45881022-F1DE-B6A4-2B62-3193410A4D6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88108240"/>
                  </p:ext>
                </p:extLst>
              </p:nvPr>
            </p:nvGraphicFramePr>
            <p:xfrm>
              <a:off x="1055688" y="2312988"/>
              <a:ext cx="10080723" cy="21107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360241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3360241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3360241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517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Сложность </a:t>
                          </a:r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Big-O </a:t>
                          </a:r>
                          <a:endParaRPr lang="ru-RU" sz="24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55929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24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sz="2400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24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Эвристический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40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i="1" kern="1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 sz="2400" kern="1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ru-RU" sz="2400" kern="1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ru-RU" sz="24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517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𝑃𝑆𝑂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Эвристический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40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2400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𝑇𝑁𝑑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24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8131142"/>
                      </a:ext>
                    </a:extLst>
                  </a:tr>
                  <a:tr h="517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𝐺𝐽𝑂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Эвристический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400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40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2400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𝑇𝑁𝑑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24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19395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Объект 3">
                <a:extLst>
                  <a:ext uri="{FF2B5EF4-FFF2-40B4-BE49-F238E27FC236}">
                    <a16:creationId xmlns:a16="http://schemas.microsoft.com/office/drawing/2014/main" id="{45881022-F1DE-B6A4-2B62-3193410A4D6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88108240"/>
                  </p:ext>
                </p:extLst>
              </p:nvPr>
            </p:nvGraphicFramePr>
            <p:xfrm>
              <a:off x="1055688" y="2312988"/>
              <a:ext cx="10080723" cy="21107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360241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3360241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3360241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517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Сложность </a:t>
                          </a:r>
                          <a:r>
                            <a:rPr lang="en-US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Big-O </a:t>
                          </a:r>
                          <a:endParaRPr lang="ru-RU" sz="24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5592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1" t="-101087" r="-200544" b="-198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Эвристический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63" t="-101087" r="-363" b="-1989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517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𝑃𝑆𝑂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Эвристический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63" t="-217647" r="-363" b="-11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8131142"/>
                      </a:ext>
                    </a:extLst>
                  </a:tr>
                  <a:tr h="5171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𝐺𝐽𝑂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Эвристический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63" t="-317647" r="-363" b="-15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93959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02C53D0-2CBF-9422-27FD-29C8A3731F6F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914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47927-2A09-2C90-A659-D29D0248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1736724"/>
            <a:ext cx="8633062" cy="1692275"/>
          </a:xfrm>
        </p:spPr>
        <p:txBody>
          <a:bodyPr>
            <a:normAutofit fontScale="90000"/>
          </a:bodyPr>
          <a:lstStyle/>
          <a:p>
            <a:r>
              <a:rPr lang="ru-RU" sz="6000" b="1" dirty="0">
                <a:solidFill>
                  <a:srgbClr val="246AF3"/>
                </a:solidFill>
              </a:rPr>
              <a:t>Оптимизация золотистых шакалов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12740-FE7E-6077-5E49-73E24D770632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373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D3CAA-1D69-DAEF-5EFA-F10E2646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522521-423F-2982-9195-A0C79361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/>
          <a:lstStyle/>
          <a:p>
            <a:r>
              <a:rPr lang="ru-RU" sz="3600" b="1" dirty="0">
                <a:solidFill>
                  <a:srgbClr val="246AF3"/>
                </a:solidFill>
              </a:rPr>
              <a:t>Инициализация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22D27-EDFE-1A4D-8FDB-6FE0F070776A}"/>
              </a:ext>
            </a:extLst>
          </p:cNvPr>
          <p:cNvSpPr txBox="1"/>
          <p:nvPr/>
        </p:nvSpPr>
        <p:spPr>
          <a:xfrm>
            <a:off x="1055687" y="1736725"/>
            <a:ext cx="10080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Будем использовать хаотичное картографирование палаток для улучшения равномерности, хаотичности и эргодичности инициализации особей.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7CD1DA-E0BC-66D4-414F-E3A6FB69E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240" y="3044533"/>
            <a:ext cx="4422945" cy="33363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EB1E29-6104-CA4E-16E3-E4A5C98A7657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769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EEFF-0314-0BFD-4CB9-57BCDEE7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1F015-E40B-C3B2-96D6-ADE24D281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/>
          <a:lstStyle/>
          <a:p>
            <a:r>
              <a:rPr lang="ru-RU" sz="3600" b="1" dirty="0">
                <a:solidFill>
                  <a:srgbClr val="246AF3"/>
                </a:solidFill>
              </a:rPr>
              <a:t>Поиск пути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B23BD3-8505-4FAF-A8DC-356478287B9E}"/>
                  </a:ext>
                </a:extLst>
              </p:cNvPr>
              <p:cNvSpPr txBox="1"/>
              <p:nvPr/>
            </p:nvSpPr>
            <p:spPr>
              <a:xfrm>
                <a:off x="1055687" y="1736725"/>
                <a:ext cx="10080624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ru-RU" sz="2400" dirty="0"/>
                  <a:t>Найдем </a:t>
                </a:r>
                <a:r>
                  <a:rPr lang="ru-RU" sz="2400" dirty="0">
                    <a:solidFill>
                      <a:schemeClr val="tx1"/>
                    </a:solidFill>
                  </a:rPr>
                  <a:t>две лучшие особи и обозначим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chemeClr val="tx1"/>
                    </a:solidFill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𝐹𝑀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chemeClr val="tx1"/>
                    </a:solidFill>
                  </a:rPr>
                  <a:t> </a:t>
                </a:r>
                <a:endParaRPr lang="ru-RU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400" dirty="0"/>
                  <a:t>Считаем энергию системы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ru-RU" sz="2400" dirty="0"/>
              </a:p>
              <a:p>
                <a:pPr marL="457200" indent="-457200">
                  <a:buFont typeface="+mj-lt"/>
                  <a:buAutoNum type="arabicPeriod"/>
                </a:pPr>
                <a:endParaRPr lang="ru-RU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B23BD3-8505-4FAF-A8DC-356478287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687" y="1736725"/>
                <a:ext cx="10080624" cy="1477328"/>
              </a:xfrm>
              <a:prstGeom prst="rect">
                <a:avLst/>
              </a:prstGeom>
              <a:blipFill>
                <a:blip r:embed="rId3"/>
                <a:stretch>
                  <a:fillRect l="-967" t="-3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16CFE6-3FB2-33B5-DA36-FC15AB8D2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367" y="2744787"/>
            <a:ext cx="5649113" cy="313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C9A313-CF81-887C-F352-3CA4E9E83706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181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EE310-5579-6288-DAE0-C41D734D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A66C1-7A88-FEB2-5E9C-6E86B91E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/>
          <a:lstStyle/>
          <a:p>
            <a:r>
              <a:rPr lang="ru-RU" sz="3600" b="1" dirty="0">
                <a:solidFill>
                  <a:srgbClr val="246AF3"/>
                </a:solidFill>
              </a:rPr>
              <a:t>Вероятностные полёты Леви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74F11B-84BE-8EDC-7A64-62E21A5B9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607" y="3043230"/>
            <a:ext cx="5088466" cy="381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01224B-C5BC-ADD4-4D22-97276D9D74EF}"/>
              </a:ext>
            </a:extLst>
          </p:cNvPr>
          <p:cNvSpPr txBox="1"/>
          <p:nvPr/>
        </p:nvSpPr>
        <p:spPr>
          <a:xfrm>
            <a:off x="1055687" y="1736725"/>
            <a:ext cx="10080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Благодаря тяжёлым хвостам распределение Леви отлично подходит для симуляции больших прыжков в пространстве с не нулевыми вероятностями, в отличие от нормального распределения.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5D6E21-D0BC-8765-F01C-92B7CCF3C967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24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FE97-08D3-E0D6-74A9-A5F7B27D6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814E1-5272-9391-2E0A-50DE97DFD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/>
          <a:lstStyle/>
          <a:p>
            <a:r>
              <a:rPr lang="ru-RU" sz="3600" b="1" dirty="0">
                <a:solidFill>
                  <a:srgbClr val="246AF3"/>
                </a:solidFill>
              </a:rPr>
              <a:t>Сходимость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F849691-07BF-5D78-7321-FB3792EB38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5688" y="1736725"/>
                <a:ext cx="10080625" cy="4392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400" b="1" dirty="0">
                    <a:solidFill>
                      <a:srgbClr val="246AF3"/>
                    </a:solidFill>
                    <a:latin typeface="+mj-lt"/>
                    <a:ea typeface="+mj-ea"/>
                    <a:cs typeface="+mj-cs"/>
                  </a:rPr>
                  <a:t>Теорема. </a:t>
                </a:r>
                <a:r>
                  <a:rPr lang="ru-RU" sz="2400" dirty="0"/>
                  <a:t>Пусть целевая функция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ru-RU" sz="24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ru-RU" sz="2400" dirty="0"/>
                  <a:t> имеет конечное число локальных минимумов и быстро возрастает на бесконечности. Тогда алгоритм </a:t>
                </a:r>
                <a:r>
                  <a:rPr lang="en-US" sz="2400" dirty="0"/>
                  <a:t>GJO</a:t>
                </a:r>
                <a:r>
                  <a:rPr lang="ru-RU" sz="2400" dirty="0"/>
                  <a:t> с компонентой полёта Леви сходится к глобальному минимуму с вероятностью 1 при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rgbClr val="246AF3"/>
                    </a:solidFill>
                    <a:latin typeface="+mj-lt"/>
                    <a:ea typeface="+mj-ea"/>
                    <a:cs typeface="+mj-cs"/>
                  </a:rPr>
                  <a:t>Следствие. </a:t>
                </a:r>
                <a:r>
                  <a:rPr lang="ru-RU" sz="2400" dirty="0"/>
                  <a:t>При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ru-RU" sz="24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ru-RU" sz="2400" dirty="0"/>
                  <a:t>  быстро возрастающей на бесконечности, алгоритм </a:t>
                </a:r>
                <a:r>
                  <a:rPr lang="en-US" sz="2400" dirty="0"/>
                  <a:t>GJO</a:t>
                </a:r>
                <a:r>
                  <a:rPr lang="ru-RU" sz="2400" dirty="0"/>
                  <a:t> посетит глобальный минимум и застрянет в нём навсегда.</a:t>
                </a:r>
                <a:endParaRPr lang="en-US" sz="24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F849691-07BF-5D78-7321-FB3792EB3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688" y="1736725"/>
                <a:ext cx="10080625" cy="4392613"/>
              </a:xfrm>
              <a:prstGeom prst="rect">
                <a:avLst/>
              </a:prstGeom>
              <a:blipFill>
                <a:blip r:embed="rId2"/>
                <a:stretch>
                  <a:fillRect l="-907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462ACD0-1294-865B-1296-4C9C6B62077A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514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78AD-D60B-5B55-A4D7-47CD0508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D4D14-1319-F97D-A496-4EC5270B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/>
          <a:lstStyle/>
          <a:p>
            <a:r>
              <a:rPr lang="ru-RU" sz="3600" b="1" dirty="0">
                <a:solidFill>
                  <a:srgbClr val="246AF3"/>
                </a:solidFill>
              </a:rPr>
              <a:t>Список литературы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31AA0-E95D-490D-2CFE-90199CA2CBF7}"/>
              </a:ext>
            </a:extLst>
          </p:cNvPr>
          <p:cNvSpPr txBox="1"/>
          <p:nvPr/>
        </p:nvSpPr>
        <p:spPr>
          <a:xfrm>
            <a:off x="1055687" y="1736725"/>
            <a:ext cx="1008062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Hart P. E., Nilsson N. J., Raphael B. A formal basis for the heuristic determination of minimum cost paths //IEEE transactions on Systems Science and Cybernetics. – 1968. – Т. 4. – №. 2. – С. 100-107.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Kennedy J., Eberhart R. Particle swarm optimization //Proceedings of ICNN'95-international conference on neural networks. – </a:t>
            </a:r>
            <a:r>
              <a:rPr lang="en-US" sz="2400" dirty="0" err="1"/>
              <a:t>ieee</a:t>
            </a:r>
            <a:r>
              <a:rPr lang="en-US" sz="2400" dirty="0"/>
              <a:t>, 1995. – </a:t>
            </a:r>
            <a:r>
              <a:rPr lang="ru-RU" sz="2400" dirty="0"/>
              <a:t>Т. 4. – С. 1942-1948.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Pedersen M. E. H., Chipperfield A. J. Simplifying particle swarm optimization //Applied Soft Computing. – 2010. – Т. 10. – №. 2. – С. 618-628.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Pedersen M. E. H. Tuning &amp; simplifying </a:t>
            </a:r>
            <a:r>
              <a:rPr lang="en-US" sz="2400" dirty="0" err="1"/>
              <a:t>heuristical</a:t>
            </a:r>
            <a:r>
              <a:rPr lang="en-US" sz="2400" dirty="0"/>
              <a:t> optimization : </a:t>
            </a:r>
            <a:r>
              <a:rPr lang="en-US" sz="2400" dirty="0" err="1"/>
              <a:t>дис</a:t>
            </a:r>
            <a:r>
              <a:rPr lang="en-US" sz="2400" dirty="0"/>
              <a:t>. – University of Southampton, 2010.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DA9C0-7463-094A-D0B3-804BA43ACE7D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87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5A0A7-2F40-3BE2-501B-363BA961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F6480-8CA6-B06B-37C5-4FA427C9B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/>
          <a:lstStyle/>
          <a:p>
            <a:r>
              <a:rPr lang="ru-RU" sz="3600" b="1" dirty="0">
                <a:solidFill>
                  <a:srgbClr val="246AF3"/>
                </a:solidFill>
              </a:rPr>
              <a:t>Список литературы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40A1F-750C-08F8-194A-4D1724FFBA17}"/>
              </a:ext>
            </a:extLst>
          </p:cNvPr>
          <p:cNvSpPr txBox="1"/>
          <p:nvPr/>
        </p:nvSpPr>
        <p:spPr>
          <a:xfrm>
            <a:off x="1055687" y="1736725"/>
            <a:ext cx="100806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Chopra N., Ansari M. M. Golden jackal optimization: A novel nature-inspired optimizer for engineering applications //Expert Systems with Applications. – 2022. – Т. 198. – С. 116924.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Lou T. et al. Multi-UAV collaborative trajectory planning for 3D terrain based on CS-GJO algorithm //Complex System Modeling and Simulation. – 2024. – </a:t>
            </a:r>
            <a:r>
              <a:rPr lang="ru-RU" sz="2400" dirty="0"/>
              <a:t>Т. 4. – №. 3. – С. 274-291.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Pavlyukevich I. Lévy flights, non-local search and simulated annealing //journal of computational physics. – 2007. – Т. 226. – №. 2. – С. 1830-1844.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 Y., Han M., Guo Q. Modified whale optimization algorithm based on tent chaotic mapping and its application in structural optimization //KSCE Journal of Civil Engineering. – 2020. – Т. 24. – №. 12. – С. 3703-3713.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B4532-D819-4349-78FA-53C83DC4091A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634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4840C-8E12-6A63-20ED-09C8C054F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FF747-45C7-CD58-309E-C37CFAB66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/>
          <a:lstStyle/>
          <a:p>
            <a:r>
              <a:rPr lang="ru-RU" sz="3600" b="1" dirty="0">
                <a:solidFill>
                  <a:srgbClr val="246AF3"/>
                </a:solidFill>
              </a:rPr>
              <a:t>Список литературы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AFEDB-88D2-9425-4F14-E28FC1D0DDBB}"/>
              </a:ext>
            </a:extLst>
          </p:cNvPr>
          <p:cNvSpPr txBox="1"/>
          <p:nvPr/>
        </p:nvSpPr>
        <p:spPr>
          <a:xfrm>
            <a:off x="1055687" y="1736725"/>
            <a:ext cx="10080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Shan L. et al. Chaotic optimization algorithm based on Tent map //Control and Decision. – 2005. – Т. 20. – №. 2. – С. 179-182.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A3FBA-1A61-C653-D0F3-E3ED14596846}"/>
              </a:ext>
            </a:extLst>
          </p:cNvPr>
          <p:cNvSpPr txBox="1"/>
          <p:nvPr/>
        </p:nvSpPr>
        <p:spPr>
          <a:xfrm>
            <a:off x="11510319" y="6277232"/>
            <a:ext cx="438665" cy="37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C552BD2-5A63-4FC4-A35C-09FBB5EA732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0904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2881</TotalTime>
  <Words>1029</Words>
  <Application>Microsoft Office PowerPoint</Application>
  <PresentationFormat>Широкоэкранный</PresentationFormat>
  <Paragraphs>101</Paragraphs>
  <Slides>22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Тема Office</vt:lpstr>
      <vt:lpstr>Презентация PowerPoint</vt:lpstr>
      <vt:lpstr>Формулировка задачи</vt:lpstr>
      <vt:lpstr>Конкретизация вида задачи</vt:lpstr>
      <vt:lpstr>Цель</vt:lpstr>
      <vt:lpstr>Задачи</vt:lpstr>
      <vt:lpstr>Проверка вычислений</vt:lpstr>
      <vt:lpstr>Дискретизация задачи</vt:lpstr>
      <vt:lpstr>Ограничения задачи</vt:lpstr>
      <vt:lpstr>Ограничения задачи</vt:lpstr>
      <vt:lpstr>Ограничения задачи</vt:lpstr>
      <vt:lpstr>Ограничения задачи</vt:lpstr>
      <vt:lpstr>Ограничения задачи</vt:lpstr>
      <vt:lpstr>Сглаживание траектории</vt:lpstr>
      <vt:lpstr>Сложность алгоритмов</vt:lpstr>
      <vt:lpstr>Оптимизация золотистых шакалов</vt:lpstr>
      <vt:lpstr>Инициализация</vt:lpstr>
      <vt:lpstr>Поиск пути</vt:lpstr>
      <vt:lpstr>Вероятностные полёты Леви</vt:lpstr>
      <vt:lpstr>Сходимость</vt:lpstr>
      <vt:lpstr>Список литературы</vt:lpstr>
      <vt:lpstr>Список литературы</vt:lpstr>
      <vt:lpstr>Список литературы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Расстановка охранников  в художественной галерее</dc:title>
  <dc:creator>Степашка Модняш</dc:creator>
  <cp:lastModifiedBy>Максим Жуковм</cp:lastModifiedBy>
  <cp:revision>39</cp:revision>
  <dcterms:created xsi:type="dcterms:W3CDTF">2025-03-02T06:42:24Z</dcterms:created>
  <dcterms:modified xsi:type="dcterms:W3CDTF">2026-04-23T07:28:32Z</dcterms:modified>
</cp:coreProperties>
</file>