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59" r:id="rId3"/>
    <p:sldId id="259" r:id="rId4"/>
    <p:sldId id="262" r:id="rId5"/>
    <p:sldId id="291" r:id="rId6"/>
    <p:sldId id="293" r:id="rId7"/>
    <p:sldId id="261" r:id="rId8"/>
    <p:sldId id="277" r:id="rId9"/>
    <p:sldId id="361" r:id="rId10"/>
    <p:sldId id="363" r:id="rId11"/>
    <p:sldId id="364" r:id="rId12"/>
    <p:sldId id="362" r:id="rId13"/>
    <p:sldId id="365" r:id="rId14"/>
    <p:sldId id="360" r:id="rId15"/>
    <p:sldId id="281" r:id="rId16"/>
    <p:sldId id="257" r:id="rId17"/>
    <p:sldId id="274" r:id="rId18"/>
    <p:sldId id="275" r:id="rId19"/>
    <p:sldId id="369" r:id="rId20"/>
    <p:sldId id="368" r:id="rId21"/>
    <p:sldId id="370" r:id="rId22"/>
    <p:sldId id="366" r:id="rId23"/>
    <p:sldId id="287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324"/>
    <a:srgbClr val="246AF3"/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666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986FF-C254-4F4D-970E-EBA5E0147ED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22E3D-766E-4CE8-99C1-DB828FEDF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1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боевой группой стоит задача </a:t>
            </a:r>
            <a:r>
              <a:rPr lang="en-US" dirty="0"/>
              <a:t>“</a:t>
            </a:r>
            <a:r>
              <a:rPr lang="ru-RU" dirty="0"/>
              <a:t>С помощью БПЛА поразить несколько целей одновременно, причём сделать это с максимальной скоростью и вероятностью поражения</a:t>
            </a:r>
            <a:r>
              <a:rPr lang="en-US" dirty="0"/>
              <a:t>.”</a:t>
            </a:r>
            <a:r>
              <a:rPr lang="ru-RU" dirty="0"/>
              <a:t> Как построить траектории этих дронов</a:t>
            </a:r>
            <a:r>
              <a:rPr lang="en-US" dirty="0"/>
              <a:t>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86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</a:t>
            </a:r>
            <a:r>
              <a:rPr lang="ru-RU" sz="1200" dirty="0"/>
              <a:t>Выполнению миссии могут помешать ПВО и радары. ПВО представлены цилиндры. Радары в виде сферы.</a:t>
            </a:r>
          </a:p>
          <a:p>
            <a:r>
              <a:rPr lang="ru-RU" dirty="0"/>
              <a:t>2. У дронов есть ограничения на скорость и максимальным углом подъёма и поворота.</a:t>
            </a:r>
          </a:p>
          <a:p>
            <a:r>
              <a:rPr lang="ru-RU" dirty="0"/>
              <a:t>3. Будем представлять траекторию как последовательность точек, которые должен посетить дрон.</a:t>
            </a:r>
          </a:p>
          <a:p>
            <a:r>
              <a:rPr lang="ru-RU" dirty="0"/>
              <a:t>4. Каждый сегмент траектории ограничен по длина сверху и снизу. </a:t>
            </a:r>
          </a:p>
          <a:p>
            <a:r>
              <a:rPr lang="ru-RU" dirty="0"/>
              <a:t>5. Суммарная длина всех сегментов не должна быть больше некоторого числа.</a:t>
            </a:r>
          </a:p>
          <a:p>
            <a:r>
              <a:rPr lang="ru-RU" dirty="0"/>
              <a:t>6. Цель – минимизировать длину пути, резкость смены высоты, гладкость и угрозы от ПВО и радаров.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7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23" userDrawn="1">
          <p15:clr>
            <a:srgbClr val="F26B43"/>
          </p15:clr>
        </p15:guide>
        <p15:guide id="4" orient="horz" pos="1457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pos="459" userDrawn="1">
          <p15:clr>
            <a:srgbClr val="F26B43"/>
          </p15:clr>
        </p15:guide>
        <p15:guide id="8" pos="665" userDrawn="1">
          <p15:clr>
            <a:srgbClr val="F26B43"/>
          </p15:clr>
        </p15:guide>
        <p15:guide id="9" pos="7015" userDrawn="1">
          <p15:clr>
            <a:srgbClr val="F26B43"/>
          </p15:clr>
        </p15:guide>
        <p15:guide id="10" orient="horz" pos="1094" userDrawn="1">
          <p15:clr>
            <a:srgbClr val="F26B43"/>
          </p15:clr>
        </p15:guide>
        <p15:guide id="11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Жуков Максим Игоревич</a:t>
            </a:r>
          </a:p>
          <a:p>
            <a:pPr algn="l"/>
            <a:r>
              <a:rPr lang="ru-RU" dirty="0"/>
              <a:t>Руководитель: доцент, кандидат </a:t>
            </a:r>
            <a:r>
              <a:rPr lang="ru-RU" dirty="0" err="1"/>
              <a:t>физ</a:t>
            </a:r>
            <a:r>
              <a:rPr lang="ru-RU" dirty="0"/>
              <a:t>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1535-9ABB-7021-8313-1801EA0DB845}"/>
              </a:ext>
            </a:extLst>
          </p:cNvPr>
          <p:cNvSpPr txBox="1"/>
          <p:nvPr/>
        </p:nvSpPr>
        <p:spPr>
          <a:xfrm>
            <a:off x="1055688" y="1754791"/>
            <a:ext cx="100755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atin typeface="+mj-lt"/>
                <a:ea typeface="+mj-ea"/>
                <a:cs typeface="+mj-cs"/>
              </a:rPr>
              <a:t>Планирование траекторий полётов БПЛА в пространстве с ограничениями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D4DDBC7-271B-424E-A9E0-76951E5B619B}"/>
              </a:ext>
            </a:extLst>
          </p:cNvPr>
          <p:cNvSpPr/>
          <p:nvPr/>
        </p:nvSpPr>
        <p:spPr>
          <a:xfrm>
            <a:off x="1200150" y="2168525"/>
            <a:ext cx="4535810" cy="2484438"/>
          </a:xfrm>
          <a:prstGeom prst="roundRect">
            <a:avLst>
              <a:gd name="adj" fmla="val 2814"/>
            </a:avLst>
          </a:prstGeom>
          <a:solidFill>
            <a:srgbClr val="FEEEE7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187B45C-3986-45A3-9B52-3E122E4B3132}"/>
              </a:ext>
            </a:extLst>
          </p:cNvPr>
          <p:cNvSpPr/>
          <p:nvPr/>
        </p:nvSpPr>
        <p:spPr>
          <a:xfrm>
            <a:off x="1487488" y="2492896"/>
            <a:ext cx="3960440" cy="936104"/>
          </a:xfrm>
          <a:prstGeom prst="roundRect">
            <a:avLst>
              <a:gd name="adj" fmla="val 8435"/>
            </a:avLst>
          </a:prstGeom>
          <a:solidFill>
            <a:srgbClr val="F36324"/>
          </a:solidFill>
          <a:ln>
            <a:solidFill>
              <a:srgbClr val="F363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Цвет акцентный </a:t>
            </a:r>
            <a:r>
              <a:rPr lang="en-US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# F36324</a:t>
            </a:r>
            <a:endParaRPr lang="ru-RU" sz="2800" dirty="0">
              <a:latin typeface="Lato Medium" panose="020F0502020204030203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38A5D9E-2CCA-4F64-A6DB-7F9AA349238C}"/>
              </a:ext>
            </a:extLst>
          </p:cNvPr>
          <p:cNvSpPr/>
          <p:nvPr/>
        </p:nvSpPr>
        <p:spPr>
          <a:xfrm>
            <a:off x="6672064" y="2177281"/>
            <a:ext cx="4535810" cy="2475682"/>
          </a:xfrm>
          <a:prstGeom prst="roundRect">
            <a:avLst>
              <a:gd name="adj" fmla="val 2814"/>
            </a:avLst>
          </a:prstGeom>
          <a:solidFill>
            <a:srgbClr val="F0F5FE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AF70A73-454B-41E5-BDEF-7B31F17145AF}"/>
              </a:ext>
            </a:extLst>
          </p:cNvPr>
          <p:cNvSpPr/>
          <p:nvPr/>
        </p:nvSpPr>
        <p:spPr>
          <a:xfrm>
            <a:off x="6959749" y="2492896"/>
            <a:ext cx="3960440" cy="936104"/>
          </a:xfrm>
          <a:prstGeom prst="roundRect">
            <a:avLst>
              <a:gd name="adj" fmla="val 8435"/>
            </a:avLst>
          </a:prstGeom>
          <a:solidFill>
            <a:srgbClr val="246AF3"/>
          </a:solidFill>
          <a:ln>
            <a:solidFill>
              <a:srgbClr val="246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Цвет акцентный </a:t>
            </a:r>
            <a:r>
              <a:rPr lang="en-US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#246AF3</a:t>
            </a:r>
            <a:endParaRPr lang="ru-RU" sz="2800" dirty="0">
              <a:latin typeface="Lato Medium" panose="020F0502020204030203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6EAF511-22A4-4ED9-A42C-E49C51CDA9C9}"/>
              </a:ext>
            </a:extLst>
          </p:cNvPr>
          <p:cNvSpPr/>
          <p:nvPr/>
        </p:nvSpPr>
        <p:spPr>
          <a:xfrm>
            <a:off x="1487488" y="3717032"/>
            <a:ext cx="3744416" cy="648072"/>
          </a:xfrm>
          <a:prstGeom prst="roundRect">
            <a:avLst>
              <a:gd name="adj" fmla="val 9318"/>
            </a:avLst>
          </a:prstGeom>
          <a:solidFill>
            <a:srgbClr val="FEEEE7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Цвет плашки </a:t>
            </a:r>
            <a:r>
              <a:rPr lang="en-US" sz="18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#FEEEE7</a:t>
            </a:r>
            <a:endParaRPr lang="ru-RU" sz="1800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3FDA845-C413-4B4A-97E3-1D838D818DBA}"/>
              </a:ext>
            </a:extLst>
          </p:cNvPr>
          <p:cNvSpPr/>
          <p:nvPr/>
        </p:nvSpPr>
        <p:spPr>
          <a:xfrm>
            <a:off x="6960096" y="3797287"/>
            <a:ext cx="3744416" cy="648072"/>
          </a:xfrm>
          <a:prstGeom prst="roundRect">
            <a:avLst>
              <a:gd name="adj" fmla="val 9318"/>
            </a:avLst>
          </a:prstGeom>
          <a:solidFill>
            <a:srgbClr val="F0F5FE"/>
          </a:solidFill>
          <a:ln>
            <a:solidFill>
              <a:srgbClr val="F0F5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Цвет плашки 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#F0F5FE</a:t>
            </a:r>
            <a:endParaRPr lang="ru-RU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9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100556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Формулировка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A2457-4FEB-ECD4-F70D-729B358CAE0B}"/>
              </a:ext>
            </a:extLst>
          </p:cNvPr>
          <p:cNvSpPr txBox="1"/>
          <p:nvPr/>
        </p:nvSpPr>
        <p:spPr>
          <a:xfrm>
            <a:off x="1063852" y="1741519"/>
            <a:ext cx="10072460" cy="1756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ru-RU" sz="2400" dirty="0"/>
              <a:t>Перед боевой группой стоит задача</a:t>
            </a:r>
            <a:r>
              <a:rPr lang="en-US" sz="2400" dirty="0"/>
              <a:t>: c</a:t>
            </a:r>
            <a:r>
              <a:rPr lang="ru-RU" sz="2400" dirty="0"/>
              <a:t> помощью БПЛА поразить несколько целей одновременно, причём сделать это с максимальной скоростью и вероятностью поражения</a:t>
            </a:r>
            <a:r>
              <a:rPr lang="en-US" sz="2400" dirty="0"/>
              <a:t>.</a:t>
            </a:r>
            <a:r>
              <a:rPr lang="ru-RU" sz="2400" dirty="0"/>
              <a:t> Как построить траектории этих дронов так, чтобы они были безопасными</a:t>
            </a:r>
            <a:r>
              <a:rPr lang="en-US" sz="2400" dirty="0"/>
              <a:t>?</a:t>
            </a:r>
          </a:p>
        </p:txBody>
      </p:sp>
      <p:pic>
        <p:nvPicPr>
          <p:cNvPr id="9" name="Picture 6" descr="Фрагмент">
            <a:extLst>
              <a:ext uri="{FF2B5EF4-FFF2-40B4-BE49-F238E27FC236}">
                <a16:creationId xmlns:a16="http://schemas.microsoft.com/office/drawing/2014/main" id="{ADF16622-1C41-1D86-1579-527F8AB6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83" y="3559376"/>
            <a:ext cx="5442780" cy="29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748011"/>
            <a:ext cx="10080625" cy="4852760"/>
          </a:xfrm>
        </p:spPr>
        <p:txBody>
          <a:bodyPr>
            <a:normAutofit/>
          </a:bodyPr>
          <a:lstStyle/>
          <a:p>
            <a:pPr marL="548640" lvl="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/>
              <a:t>Выполнению миссии могут помешать ПВО и радары. ПВО представлены цилиндры. Радары в виде сферы.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У дронов есть ограничения на скорость и максимальным углом подъёма и поворота. 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Длина траектории не должна быть больше некоторого числа.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Цель – минимизировать длину пути, резкость смены высоты, гладкость и угрозы от ПВО и радаров.</a:t>
            </a:r>
          </a:p>
          <a:p>
            <a:pPr marL="9144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4"/>
            <a:ext cx="10080625" cy="573933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Цель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C5081-628C-A892-B00F-6D2A4CC1D261}"/>
              </a:ext>
            </a:extLst>
          </p:cNvPr>
          <p:cNvSpPr txBox="1"/>
          <p:nvPr/>
        </p:nvSpPr>
        <p:spPr>
          <a:xfrm>
            <a:off x="1055689" y="2320794"/>
            <a:ext cx="10080624" cy="1231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4000"/>
              </a:lnSpc>
              <a:spcAft>
                <a:spcPts val="600"/>
              </a:spcAft>
              <a:buNone/>
            </a:pPr>
            <a:r>
              <a:rPr lang="ru-RU" sz="2200" dirty="0"/>
              <a:t>Написать программный модуль, реализующий работу алгоритма, находящего оптимальную траекторию для каждого дрона в кластере БПЛА с учётом наличия радаров и систем ПВО и других БПЛА.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0561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734332"/>
            <a:ext cx="9816193" cy="101212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981EC-CED5-5E85-91FA-55BE88DE2230}"/>
              </a:ext>
            </a:extLst>
          </p:cNvPr>
          <p:cNvSpPr txBox="1"/>
          <p:nvPr/>
        </p:nvSpPr>
        <p:spPr>
          <a:xfrm>
            <a:off x="1069782" y="1746453"/>
            <a:ext cx="10066531" cy="2408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Проанализировать существующие алгоритмы.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Оценить сложность выбранного алгоритма и обосновать его применимость.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Разработать программу, реализующую алгоритм.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Протестировать алгоритм на тестовых и на реальных данных.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080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363FD-6FE4-A032-0C54-EE8EDDB9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33" y="730705"/>
            <a:ext cx="10077680" cy="962025"/>
          </a:xfrm>
        </p:spPr>
        <p:txBody>
          <a:bodyPr>
            <a:normAutofit/>
          </a:bodyPr>
          <a:lstStyle/>
          <a:p>
            <a:r>
              <a:rPr lang="ru-RU" sz="3600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8633" y="1692729"/>
                <a:ext cx="10077680" cy="398961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Под многоугольником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мы понимаем часть плоскости, ограниченной простой, не самопересекающейся замкнутой ломанной.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многоугольника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 и целого минимально возможного числа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требуется определить, существует ли множество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 из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охранников</a:t>
                </a:r>
                <a:br>
                  <a:rPr lang="ru-RU" sz="2400" dirty="0"/>
                </a:br>
                <a:r>
                  <a:rPr lang="ru-RU" sz="2400" dirty="0"/>
                  <a:t>внутри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, такое, что каждая точка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видна хотя бы одному</a:t>
                </a:r>
                <a:br>
                  <a:rPr lang="ru-RU" sz="2400" dirty="0"/>
                </a:br>
                <a:r>
                  <a:rPr lang="ru-RU" sz="2400" dirty="0"/>
                  <a:t>охраннику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Каждый охранник соответствует точке в многоугольнике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,</a:t>
                </a:r>
                <a:br>
                  <a:rPr lang="ru-RU" sz="2400" dirty="0"/>
                </a:br>
                <a:r>
                  <a:rPr lang="ru-RU" sz="2400" dirty="0"/>
                  <a:t>и охранник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видит точку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если отрезок прямой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𝑝𝑔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содержится в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8633" y="1692729"/>
                <a:ext cx="10077680" cy="3989613"/>
              </a:xfrm>
              <a:blipFill>
                <a:blip r:embed="rId2"/>
                <a:stretch>
                  <a:fillRect l="-968" t="-1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101829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Дискретизация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063851" y="1755123"/>
                <a:ext cx="10072461" cy="949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представлять траекторию дрона как последовательность точек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пространстве, которые этот дрон должен посетить.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1755123"/>
                <a:ext cx="10072461" cy="949684"/>
              </a:xfrm>
              <a:prstGeom prst="rect">
                <a:avLst/>
              </a:prstGeom>
              <a:blipFill>
                <a:blip r:embed="rId2"/>
                <a:stretch>
                  <a:fillRect l="-969" r="-1332"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F2C830-229A-107F-1839-EF85EE9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" t="3121" r="699"/>
          <a:stretch>
            <a:fillRect/>
          </a:stretch>
        </p:blipFill>
        <p:spPr>
          <a:xfrm>
            <a:off x="3198845" y="3439071"/>
            <a:ext cx="5386769" cy="3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BA77-D3B0-8116-3D7B-A70BDB8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88644-E40D-3AB9-A1D7-AAA8BBE5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/>
              <p:nvPr/>
            </p:nvSpPr>
            <p:spPr>
              <a:xfrm>
                <a:off x="1055688" y="1784260"/>
                <a:ext cx="10072461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учитывает предельные углы подъёма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2400" dirty="0"/>
                  <a:t> и поворота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8" y="1784260"/>
                <a:ext cx="10072461" cy="508088"/>
              </a:xfrm>
              <a:prstGeom prst="rect">
                <a:avLst/>
              </a:prstGeom>
              <a:blipFill>
                <a:blip r:embed="rId2"/>
                <a:stretch>
                  <a:fillRect l="-908" b="-27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">
            <a:extLst>
              <a:ext uri="{FF2B5EF4-FFF2-40B4-BE49-F238E27FC236}">
                <a16:creationId xmlns:a16="http://schemas.microsoft.com/office/drawing/2014/main" id="{369F8DA6-A40F-CC0D-2478-4C38DA48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91" y="2709495"/>
            <a:ext cx="4360322" cy="3408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683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F0B0-490D-7F71-4C44-3C5DB17C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73B5A-4355-031E-2B61-813D2BBD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101510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07B2-16AF-1659-CFF0-751C60CC465E}"/>
              </a:ext>
            </a:extLst>
          </p:cNvPr>
          <p:cNvSpPr txBox="1"/>
          <p:nvPr/>
        </p:nvSpPr>
        <p:spPr>
          <a:xfrm>
            <a:off x="1063852" y="1751928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dirty="0"/>
              <a:t>Так как для дронов многократные изменения высоты является сложной задачей. Будем минимизировать дисперсию высоты.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9A3746-C139-7B1C-1C4C-A3B2F813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 r="537"/>
          <a:stretch>
            <a:fillRect/>
          </a:stretch>
        </p:blipFill>
        <p:spPr>
          <a:xfrm>
            <a:off x="3366136" y="3452007"/>
            <a:ext cx="5272526" cy="319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3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FE44-C3CB-405E-7196-836100E9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6E44E-237F-485C-5152-3D72C033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D17A7-D376-2926-454A-B9D7A722CABB}"/>
              </a:ext>
            </a:extLst>
          </p:cNvPr>
          <p:cNvSpPr txBox="1"/>
          <p:nvPr/>
        </p:nvSpPr>
        <p:spPr>
          <a:xfrm>
            <a:off x="1063852" y="1751928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ru-RU" sz="2400" dirty="0"/>
              <a:t>Так же для обеспечения гладкости пути будем штрафовать решения, у которых изменение угла отклонения от точки к точке резкое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9F670-2337-5833-FC28-0439A8BE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53" y="3439068"/>
            <a:ext cx="5032148" cy="21342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1F8625-BE57-7CC8-1EA5-54DACCF9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720"/>
          <a:stretch>
            <a:fillRect/>
          </a:stretch>
        </p:blipFill>
        <p:spPr>
          <a:xfrm>
            <a:off x="6104166" y="3439068"/>
            <a:ext cx="5032148" cy="214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77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E8C0-4B83-8ED1-01C5-0F7473A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85C59-D66E-60B6-5587-51316C36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52B5F-6238-76F0-D4F3-FBDEA2ADEAB2}"/>
              </a:ext>
            </a:extLst>
          </p:cNvPr>
          <p:cNvSpPr txBox="1"/>
          <p:nvPr/>
        </p:nvSpPr>
        <p:spPr>
          <a:xfrm>
            <a:off x="1063851" y="1755122"/>
            <a:ext cx="10072461" cy="95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Будем считать коэффициент опасности в зависимости от расстояния до угроз в каждом сегменте пути.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0A894-C6E3-0CEE-4CE7-978B4757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9" r="734"/>
          <a:stretch>
            <a:fillRect/>
          </a:stretch>
        </p:blipFill>
        <p:spPr>
          <a:xfrm>
            <a:off x="3525548" y="3439071"/>
            <a:ext cx="4765965" cy="28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C099-C644-0611-548B-71E1FD5C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2A127-733F-0AE7-8B4E-80A1FE79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989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0174-F0CE-2530-03CA-546F22591ACC}"/>
              </a:ext>
            </a:extLst>
          </p:cNvPr>
          <p:cNvSpPr txBox="1"/>
          <p:nvPr/>
        </p:nvSpPr>
        <p:spPr>
          <a:xfrm>
            <a:off x="1055688" y="1736725"/>
            <a:ext cx="10072461" cy="50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Функция угроз от расстояния выглядит так</a:t>
            </a:r>
            <a:r>
              <a:rPr lang="en-US" sz="2400" dirty="0"/>
              <a:t>: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8CFA5E-D246-AC25-E42E-BF1B94EC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24" y="2400469"/>
            <a:ext cx="8249552" cy="36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9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F58F-87A2-F810-5C0D-DA666AB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B5F5-B459-6A82-F844-4B29CF23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527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Сглаживание траектории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/>
              <p:nvPr/>
            </p:nvSpPr>
            <p:spPr>
              <a:xfrm>
                <a:off x="1063851" y="1755128"/>
                <a:ext cx="10072461" cy="951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После получения последовательность точек, будем применять кубическую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𝑠𝑝𝑙𝑖𝑛𝑒</m:t>
                    </m:r>
                  </m:oMath>
                </a14:m>
                <a:r>
                  <a:rPr lang="ru-RU" sz="2400" dirty="0"/>
                  <a:t> интерполяцию, для сглаживания траектории.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1755128"/>
                <a:ext cx="10072461" cy="951286"/>
              </a:xfrm>
              <a:prstGeom prst="rect">
                <a:avLst/>
              </a:prstGeom>
              <a:blipFill>
                <a:blip r:embed="rId2"/>
                <a:stretch>
                  <a:fillRect l="-969"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048A6B-DC8E-CEDF-C45B-235ED2D0C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3204" r="657" b="783"/>
          <a:stretch>
            <a:fillRect/>
          </a:stretch>
        </p:blipFill>
        <p:spPr>
          <a:xfrm>
            <a:off x="3050286" y="3444182"/>
            <a:ext cx="5429249" cy="32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3F6D-7D49-58CE-C2CF-A9108809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312988"/>
            <a:ext cx="10080625" cy="831396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rgbClr val="246AF3"/>
                </a:solidFill>
              </a:rPr>
              <a:t>Проверка вычислений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55688" y="3429000"/>
                <a:ext cx="10080625" cy="2700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Предположим, что задано множество зон ПВО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 положительное целое число </a:t>
                </a:r>
                <a14:m>
                  <m:oMath xmlns:m="http://schemas.openxmlformats.org/officeDocument/2006/math">
                    <m:r>
                      <a:rPr lang="ru-RU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Можно ли за полиномиальное время определить, существует ли набор из не более чем </a:t>
                </a:r>
                <a14:m>
                  <m:oMath xmlns:m="http://schemas.openxmlformats.org/officeDocument/2006/math">
                    <m:r>
                      <a:rPr lang="ru-RU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путевых точек, при котором маршрут БПЛА обходит все зоны ПВО?  </a:t>
                </a:r>
              </a:p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Задача является NP-полной.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5688" y="3429000"/>
                <a:ext cx="10080625" cy="2700338"/>
              </a:xfrm>
              <a:blipFill>
                <a:blip r:embed="rId2"/>
                <a:stretch>
                  <a:fillRect l="-907" t="-679" r="-363" b="-6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454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6CA-C406-DB7D-47B2-4B1BCAA6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88" y="1736725"/>
            <a:ext cx="10080725" cy="1692275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rgbClr val="246AF3"/>
                </a:solidFill>
              </a:rPr>
              <a:t>Обзор существующих алгоритмов</a:t>
            </a:r>
          </a:p>
        </p:txBody>
      </p:sp>
    </p:spTree>
    <p:extLst>
      <p:ext uri="{BB962C8B-B14F-4D97-AF65-F5344CB8AC3E}">
        <p14:creationId xmlns:p14="http://schemas.microsoft.com/office/powerpoint/2010/main" val="20540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55FF9-92B0-07BD-B7DC-B06196AD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Лучшие алгоритмы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18148034"/>
                  </p:ext>
                </p:extLst>
              </p:nvPr>
            </p:nvGraphicFramePr>
            <p:xfrm>
              <a:off x="2152650" y="3440453"/>
              <a:ext cx="7886700" cy="15135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ru-RU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ru-RU" sz="1800" i="1" kern="12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𝑃𝑆𝑂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</a:t>
                          </a:r>
                          <a:r>
                            <a:rPr lang="ru-RU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𝑇𝑁𝑑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𝐺𝐽𝑂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</a:t>
                          </a:r>
                          <a:r>
                            <a:rPr lang="ru-RU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800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𝑇𝑁𝑑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18148034"/>
                  </p:ext>
                </p:extLst>
              </p:nvPr>
            </p:nvGraphicFramePr>
            <p:xfrm>
              <a:off x="2152650" y="3440453"/>
              <a:ext cx="7886700" cy="15135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4010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2" t="-98485" r="-200696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98485" r="-464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𝑃𝑆𝑂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</a:t>
                          </a:r>
                          <a:r>
                            <a:rPr lang="ru-RU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14754" r="-464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𝐺𝐽𝑂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Эвристический</a:t>
                          </a:r>
                          <a:r>
                            <a:rPr lang="ru-RU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314754" r="-464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927-2A09-2C90-A659-D29D0248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4"/>
            <a:ext cx="8633062" cy="1692275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rgbClr val="246AF3"/>
                </a:solidFill>
              </a:rPr>
              <a:t>Оптимизация золотистых шакалов</a:t>
            </a:r>
          </a:p>
        </p:txBody>
      </p:sp>
    </p:spTree>
    <p:extLst>
      <p:ext uri="{BB962C8B-B14F-4D97-AF65-F5344CB8AC3E}">
        <p14:creationId xmlns:p14="http://schemas.microsoft.com/office/powerpoint/2010/main" val="4181373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3CAA-1D69-DAEF-5EFA-F10E2646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22521-423F-2982-9195-A0C79361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Инициализация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22D27-EDFE-1A4D-8FDB-6FE0F070776A}"/>
              </a:ext>
            </a:extLst>
          </p:cNvPr>
          <p:cNvSpPr txBox="1"/>
          <p:nvPr/>
        </p:nvSpPr>
        <p:spPr>
          <a:xfrm>
            <a:off x="1055687" y="1736725"/>
            <a:ext cx="10080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Будем использовать хаотичное картографирование палаток для улучшение равномерности, хаотичности, эргодичность.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7CD1DA-E0BC-66D4-414F-E3A6FB69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240" y="3044533"/>
            <a:ext cx="4422945" cy="33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9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EEFF-0314-0BFD-4CB9-57BCDEE7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1F015-E40B-C3B2-96D6-ADE24D28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Поиск пути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23BD3-8505-4FAF-A8DC-356478287B9E}"/>
                  </a:ext>
                </a:extLst>
              </p:cNvPr>
              <p:cNvSpPr txBox="1"/>
              <p:nvPr/>
            </p:nvSpPr>
            <p:spPr>
              <a:xfrm>
                <a:off x="1055687" y="1736725"/>
                <a:ext cx="10080624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Найдем две лучшие особи и обозначим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𝑋</m:t>
                        </m:r>
                      </m:e>
                      <m:sub>
                        <m:r>
                          <a:rPr lang="ru-RU" sz="2400"/>
                          <m:t>𝑀</m:t>
                        </m:r>
                      </m:sub>
                    </m:sSub>
                  </m:oMath>
                </a14:m>
                <a:r>
                  <a:rPr lang="ru-RU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𝑋</m:t>
                        </m:r>
                      </m:e>
                      <m:sub>
                        <m:r>
                          <a:rPr lang="ru-RU" sz="2400"/>
                          <m:t>𝐹𝑀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Считаем энергию системы </a:t>
                </a:r>
                <a14:m>
                  <m:oMath xmlns:m="http://schemas.openxmlformats.org/officeDocument/2006/math">
                    <m:r>
                      <a:rPr lang="ru-RU" sz="2400"/>
                      <m:t>𝐸</m:t>
                    </m:r>
                  </m:oMath>
                </a14:m>
                <a:endParaRPr lang="ru-RU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При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/>
                        </m:ctrlPr>
                      </m:dPr>
                      <m:e>
                        <m:r>
                          <a:rPr lang="ru-RU" sz="2400"/>
                          <m:t>𝐸</m:t>
                        </m:r>
                      </m:e>
                    </m:d>
                    <m:r>
                      <a:rPr lang="ru-RU" sz="2400"/>
                      <m:t>≥1</m:t>
                    </m:r>
                  </m:oMath>
                </a14:m>
                <a:r>
                  <a:rPr lang="ru-RU" sz="2400" dirty="0"/>
                  <a:t> особи разлетаются по всему пространству поиска, не концентрируясь вблизи текущего лучшего решения. Это позволяет обнаружить перспективные области, которые далеки от начального положения популяции и избежать преждевременной сходимости к локальному оптимуму.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400" dirty="0"/>
                  <a:t>Иначе особи концентрируются вблизи лучшего найденного решения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𝑋</m:t>
                        </m:r>
                      </m:e>
                      <m:sub>
                        <m:r>
                          <a:rPr lang="ru-RU" sz="2400"/>
                          <m:t>𝑀</m:t>
                        </m:r>
                      </m:sub>
                    </m:sSub>
                    <m:r>
                      <a:rPr lang="ru-RU" sz="2400"/>
                      <m:t>, </m:t>
                    </m:r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𝑋</m:t>
                        </m:r>
                      </m:e>
                      <m:sub>
                        <m:r>
                          <a:rPr lang="ru-RU" sz="2400"/>
                          <m:t>𝐹𝑀</m:t>
                        </m:r>
                      </m:sub>
                    </m:sSub>
                  </m:oMath>
                </a14:m>
                <a:r>
                  <a:rPr lang="ru-RU" sz="2400" dirty="0"/>
                  <a:t> и уточняют его с высокой точностью. Локальное уточнение позволяет найти точное положение оптимума в той области, которую обнаружила стадия исследования.</a:t>
                </a: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23BD3-8505-4FAF-A8DC-356478287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7" y="1736725"/>
                <a:ext cx="10080624" cy="4801314"/>
              </a:xfrm>
              <a:prstGeom prst="rect">
                <a:avLst/>
              </a:prstGeom>
              <a:blipFill>
                <a:blip r:embed="rId2"/>
                <a:stretch>
                  <a:fillRect l="-967" t="-1142" r="-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181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BF5E-E60F-31A4-763F-748BD47B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D666A-A69D-A0DF-2BF5-82B465B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Поиск пути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16CFE6-3FB2-33B5-DA36-FC15AB8D2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2312988"/>
            <a:ext cx="5649113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04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EE310-5579-6288-DAE0-C41D734D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A66C1-7A88-FEB2-5E9C-6E86B91E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/>
          <a:lstStyle/>
          <a:p>
            <a:r>
              <a:rPr lang="ru-RU" sz="3600" b="1" dirty="0">
                <a:solidFill>
                  <a:srgbClr val="246AF3"/>
                </a:solidFill>
              </a:rPr>
              <a:t>Вероятностные полёты Леви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74F11B-84BE-8EDC-7A64-62E21A5B9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607" y="3043230"/>
            <a:ext cx="5088466" cy="38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01224B-C5BC-ADD4-4D22-97276D9D74EF}"/>
              </a:ext>
            </a:extLst>
          </p:cNvPr>
          <p:cNvSpPr txBox="1"/>
          <p:nvPr/>
        </p:nvSpPr>
        <p:spPr>
          <a:xfrm>
            <a:off x="1055687" y="1736725"/>
            <a:ext cx="10080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Благодаря тяжёлым хвостам распределение Леви отлично подходит для симуляции больших прыжков в пространстве с не нулевыми вероятностями, в отличие от нормального распределения.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4124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9FDF-5D61-41E2-54CE-E6BC7A4F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312988"/>
            <a:ext cx="10080625" cy="111601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Теорема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C2E4449-C2CC-C92A-FA19-3FE1536012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55688" y="3429001"/>
                <a:ext cx="10080625" cy="2700338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Пусть целевая функция </a:t>
                </a:r>
                <a14:m>
                  <m:oMath xmlns:m="http://schemas.openxmlformats.org/officeDocument/2006/math">
                    <m:r>
                      <a:rPr lang="ru-RU"/>
                      <m:t>𝑓</m:t>
                    </m:r>
                    <m:r>
                      <a:rPr lang="ru-RU"/>
                      <m:t>: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/>
                          <m:t>𝑑</m:t>
                        </m:r>
                      </m:sup>
                    </m:sSup>
                    <m:r>
                      <a:rPr lang="ru-RU" i="0"/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 имеет конечное число локальных минимумов и быстро возрастает на бесконечности. Тогда алгоритм </a:t>
                </a:r>
                <a:r>
                  <a:rPr lang="en-US" dirty="0"/>
                  <a:t>GJO</a:t>
                </a:r>
                <a:r>
                  <a:rPr lang="ru-RU" dirty="0"/>
                  <a:t> с компонентой полёта Леви сходится к глобальному минимуму с вероятностью 1 при </a:t>
                </a:r>
                <a14:m>
                  <m:oMath xmlns:m="http://schemas.openxmlformats.org/officeDocument/2006/math">
                    <m:r>
                      <a:rPr lang="ru-RU"/>
                      <m:t>𝑇</m:t>
                    </m:r>
                    <m:r>
                      <a:rPr lang="ru-RU"/>
                      <m:t>→∞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C2E4449-C2CC-C92A-FA19-3FE153601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5688" y="3429001"/>
                <a:ext cx="10080625" cy="2700338"/>
              </a:xfrm>
              <a:blipFill>
                <a:blip r:embed="rId2"/>
                <a:stretch>
                  <a:fillRect l="-907" t="-2489" r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548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2797</TotalTime>
  <Words>769</Words>
  <Application>Microsoft Office PowerPoint</Application>
  <PresentationFormat>Широкоэкранный</PresentationFormat>
  <Paragraphs>79</Paragraphs>
  <Slides>23</Slides>
  <Notes>2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Lato</vt:lpstr>
      <vt:lpstr>Lato Medium</vt:lpstr>
      <vt:lpstr>Тема Office</vt:lpstr>
      <vt:lpstr>Презентация PowerPoint</vt:lpstr>
      <vt:lpstr>Презентация PowerPoint</vt:lpstr>
      <vt:lpstr>Формулировка задачи</vt:lpstr>
      <vt:lpstr>Конкретизация вида задачи</vt:lpstr>
      <vt:lpstr>Цель</vt:lpstr>
      <vt:lpstr>Задачи</vt:lpstr>
      <vt:lpstr>Математическая модель</vt:lpstr>
      <vt:lpstr>Дискретизация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Сглаживание траектории</vt:lpstr>
      <vt:lpstr>Проверка вычислений</vt:lpstr>
      <vt:lpstr>Обзор существующих алгоритмов</vt:lpstr>
      <vt:lpstr>Лучшие алгоритмы</vt:lpstr>
      <vt:lpstr>Оптимизация золотистых шакалов</vt:lpstr>
      <vt:lpstr>Инициализация</vt:lpstr>
      <vt:lpstr>Поиск пути</vt:lpstr>
      <vt:lpstr>Поиск пути</vt:lpstr>
      <vt:lpstr>Вероятностные полёты Леви</vt:lpstr>
      <vt:lpstr>Теорема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Расстановка охранников  в художественной галерее</dc:title>
  <dc:creator>Степашка Модняш</dc:creator>
  <cp:lastModifiedBy>Максим Жуковм</cp:lastModifiedBy>
  <cp:revision>32</cp:revision>
  <dcterms:created xsi:type="dcterms:W3CDTF">2025-03-02T06:42:24Z</dcterms:created>
  <dcterms:modified xsi:type="dcterms:W3CDTF">2026-04-19T00:02:13Z</dcterms:modified>
</cp:coreProperties>
</file>